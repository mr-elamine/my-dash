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8287542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6628942" cy="10287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2900" cy="10287000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2843"/>
                </a:solidFill>
                <a:latin typeface="Montserrat Ultra-Bold"/>
              </a:defRPr>
            </a:pPr>
            <a:r>
              <a:t>RAPPORT D'AUDIT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601200" cy="164591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6900" b="1" i="0">
                <a:solidFill>
                  <a:srgbClr val="FFFFFF"/>
                </a:solidFill>
                <a:latin typeface="Montserrat Ultra-Bold"/>
              </a:defRPr>
            </a:pPr>
            <a:r>
              <a:t>MyDash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00600"/>
            <a:ext cx="9601200" cy="10972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400" b="0" i="1">
                <a:solidFill>
                  <a:srgbClr val="354465"/>
                </a:solidFill>
                <a:latin typeface="Montserrat Ultra-Bold"/>
              </a:defRPr>
            </a:pPr>
            <a:r>
              <a:t>Benchmark de performance, audit de sécurité &amp; plan d'action d'ingénierie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0" y="2057400"/>
            <a:ext cx="4800600" cy="1920239"/>
          </a:xfrm>
          <a:prstGeom prst="roundRect">
            <a:avLst>
              <a:gd name="adj" fmla="val 4000"/>
            </a:avLst>
          </a:prstGeom>
          <a:solidFill>
            <a:srgbClr val="002843"/>
          </a:solidFill>
          <a:ln w="19050">
            <a:solidFill>
              <a:srgbClr val="002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19" y="2263139"/>
            <a:ext cx="425196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350" b="1" i="0">
                <a:solidFill>
                  <a:srgbClr val="354465"/>
                </a:solidFill>
                <a:latin typeface="Montserrat Ultra-Bold"/>
              </a:defRPr>
            </a:pPr>
            <a:r>
              <a:t>RÉSEAU MOBILE 3G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19" y="2674620"/>
            <a:ext cx="4251960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600" b="1" i="0">
                <a:solidFill>
                  <a:srgbClr val="E11D48"/>
                </a:solidFill>
                <a:latin typeface="Montserrat Ultra-Bold"/>
              </a:defRPr>
            </a:pPr>
            <a:r>
              <a:t>12.4s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19" y="3291839"/>
            <a:ext cx="425196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200" b="0" i="1">
                <a:solidFill>
                  <a:srgbClr val="354465"/>
                </a:solidFill>
                <a:latin typeface="Montserrat"/>
              </a:defRPr>
            </a:pPr>
            <a:r>
              <a:t>Sature sur bundle Metro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0" y="4389120"/>
            <a:ext cx="4800600" cy="1920239"/>
          </a:xfrm>
          <a:prstGeom prst="roundRect">
            <a:avLst>
              <a:gd name="adj" fmla="val 4000"/>
            </a:avLst>
          </a:prstGeom>
          <a:solidFill>
            <a:srgbClr val="002843"/>
          </a:solidFill>
          <a:ln w="19050">
            <a:solidFill>
              <a:srgbClr val="3BA8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19" y="4594860"/>
            <a:ext cx="425196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350" b="1" i="0">
                <a:solidFill>
                  <a:srgbClr val="354465"/>
                </a:solidFill>
                <a:latin typeface="Montserrat Ultra-Bold"/>
              </a:defRPr>
            </a:pPr>
            <a:r>
              <a:t>SÉCURITÉ DÉPENDANCES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19" y="5006340"/>
            <a:ext cx="4251960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600" b="1" i="0">
                <a:solidFill>
                  <a:srgbClr val="3BA80D"/>
                </a:solidFill>
                <a:latin typeface="Montserrat Ultra-Bold"/>
              </a:defRPr>
            </a:pPr>
            <a:r>
              <a:t>0 active CVE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19" y="5623559"/>
            <a:ext cx="425196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200" b="0" i="1">
                <a:solidFill>
                  <a:srgbClr val="354465"/>
                </a:solidFill>
                <a:latin typeface="Montserrat"/>
              </a:defRPr>
            </a:pPr>
            <a:r>
              <a:t>Après application overrides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0" y="6720840"/>
            <a:ext cx="4800600" cy="1920239"/>
          </a:xfrm>
          <a:prstGeom prst="roundRect">
            <a:avLst>
              <a:gd name="adj" fmla="val 4000"/>
            </a:avLst>
          </a:prstGeom>
          <a:solidFill>
            <a:srgbClr val="00284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19" y="6926579"/>
            <a:ext cx="425196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350" b="1" i="0">
                <a:solidFill>
                  <a:srgbClr val="354465"/>
                </a:solidFill>
                <a:latin typeface="Montserrat Ultra-Bold"/>
              </a:defRPr>
            </a:pPr>
            <a:r>
              <a:t>TAILLE JS INITIALE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19" y="7338059"/>
            <a:ext cx="4251960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Montserrat Ultra-Bold"/>
              </a:defRPr>
            </a:pPr>
            <a:r>
              <a:t>11.83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19" y="7955279"/>
            <a:ext cx="425196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200" b="0" i="1">
                <a:solidFill>
                  <a:srgbClr val="354465"/>
                </a:solidFill>
                <a:latin typeface="Montserrat"/>
              </a:defRPr>
            </a:pPr>
            <a:r>
              <a:t>À minifier en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8915400"/>
            <a:ext cx="960120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Rendu officiel • Présentation Executive • 4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Synthèse Managériale : Diagnostic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Audit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1645919"/>
            <a:ext cx="16641622" cy="1783080"/>
          </a:xfrm>
          <a:prstGeom prst="roundRect">
            <a:avLst>
              <a:gd name="adj" fmla="val 4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3236975"/>
            <a:ext cx="1664162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6088867" cy="150876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0" i="0">
                <a:solidFill>
                  <a:srgbClr val="1C1C1A"/>
                </a:solidFill>
                <a:latin typeface="Montserrat"/>
              </a:defRPr>
            </a:pPr>
            <a:r>
              <a:t>En résumé : Le serveur et la base de données Postgres tournent très bien en local, avec des requêtes à moins de 25 ms. Le vrai problème vient de l'application mobile : le chargement d'un fichier JS de 11,8 Mo non minifié ralentit tout. De plus, quelques failles de sécurité bloquent le déploiement en production (Jetons stockés en clair, CORS mal configuré).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3703320"/>
            <a:ext cx="5212079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8997696"/>
            <a:ext cx="5212079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09060"/>
            <a:ext cx="46634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C466"/>
                </a:solidFill>
                <a:latin typeface="Montserrat Ultra-Bold"/>
              </a:defRPr>
            </a:pPr>
            <a:r>
              <a:t>01 / PERFORMANCE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4663440" cy="41148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Fichier JS Metro trop lourd : 11,8 Mo (2 Mo compressés).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Sur réseau 3G, l'application met plus de 12 secondes à s'afficher.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Le build de production (export statique Expo) plante et bloque indéfiniment.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Des alertes obsolètes et des erreurs d'affichage (colorKit) saturent la console.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703320"/>
            <a:ext cx="5212079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8997696"/>
            <a:ext cx="52120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909060"/>
            <a:ext cx="46634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02 / BASE DE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663440"/>
            <a:ext cx="4663440" cy="41148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Comptage inefficace : l'app charge tous les IDs en mémoire au lieu d'utiliser un count(*) SQL.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Index manquants : aucune clé étrangère n'est indexée, ce qui ralentit les requêtes.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Risque élevé de saturation de la base lors des recherches de devis et factures.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Plan d'action : réécrire le comptage en SQL natif et ajouter des index composites.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80" y="3703320"/>
            <a:ext cx="5212079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70080" y="8997696"/>
            <a:ext cx="5212079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0" y="3909060"/>
            <a:ext cx="46634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2843"/>
                </a:solidFill>
                <a:latin typeface="Montserrat Ultra-Bold"/>
              </a:defRPr>
            </a:pPr>
            <a:r>
              <a:t>03 / SÉCURITÉ APPLICATIVE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0" y="4663440"/>
            <a:ext cx="4663440" cy="41148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AsyncStorage stocke les jetons (JWT) en clair sur le téléphone (risque de vol).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Aucune déconnexion réelle : le jeton reste valide côté serveur après déconnexion.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Le CORS est désactivé en production, bloquant toute connexion depuis l'application.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PDFKit vulnérable aux injections de caractères qui font crasher la génération de 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Méthodologie et Périmètre d'Audit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Audit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1645919"/>
            <a:ext cx="7955279" cy="7543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5"/>
            <a:ext cx="7955279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20239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C466"/>
                </a:solidFill>
                <a:latin typeface="Montserrat Ultra-Bold"/>
              </a:defRPr>
            </a:pPr>
            <a:r>
              <a:t>Démarche et Déroulement de l'Audit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7132320" cy="61722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1. Revue du code : Examen des dépendances, des requêtes BDD (Drizzle), des vérifications Zod et de la sécurité.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2. Parcours utilisateur automatisé : Simulation d'une vente de bout en bout (13 étapes) sur un mobile émulé.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3. Tests de vitesse : Comparaison des temps de chargement en local vs connexion mobile 3G.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4. Solutions &amp; Actions : Analyse des failles de sécurité/BDD et création d'une feuille de route.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645919"/>
            <a:ext cx="8137702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4882895"/>
            <a:ext cx="813770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1920239"/>
            <a:ext cx="726947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Cible de l'Évaluation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2468880"/>
            <a:ext cx="7269479" cy="246888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Système : Linux (stack Docker locale sous macOS)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Viewport : 390x844 (équivalent iPhone 15)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Authentification : Utilisateur test seedé (admin@mydash.local)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Outils : EAS CLI, Expo Observe, profilers natifs, pnpm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5486400"/>
            <a:ext cx="8137702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59" y="5692140"/>
            <a:ext cx="726947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2843"/>
                </a:solidFill>
                <a:latin typeface="Montserrat Ultra-Bold"/>
              </a:defRPr>
            </a:pPr>
            <a:r>
              <a:t>Livrables et Preuves d'Audit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59" y="6240779"/>
            <a:ext cx="7269479" cy="27432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Rapport de synthèse : audit-artifacts/AUDIT_SUMMARY.md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Données de vitesse : metrics/mobile-metrics.json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Rapport des dépendances : security/dependency-audit.md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Captures d'écran du workflow : mobile-workflow/ (13 images)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Architecture de l'Environnement d'Audit (Docker)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371600"/>
            <a:ext cx="1645920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1">
                <a:solidFill>
                  <a:srgbClr val="354465"/>
                </a:solidFill>
                <a:latin typeface="Montserrat"/>
              </a:defRPr>
            </a:pPr>
            <a:r>
              <a:t>Environnement de test 100% reproductible sous Docker (BDD, API, App et Scripts isolés)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2057400"/>
            <a:ext cx="3977639" cy="617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8037576"/>
            <a:ext cx="3977639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79" y="2468880"/>
            <a:ext cx="342900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1C1C1A"/>
                </a:solidFill>
                <a:latin typeface="Montserrat Ultra-Bold"/>
              </a:defRPr>
            </a:pPr>
            <a:r>
              <a:t>PostgreSQL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79" y="3154679"/>
            <a:ext cx="34290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350" b="1" i="0">
                <a:solidFill>
                  <a:srgbClr val="00C466"/>
                </a:solidFill>
                <a:latin typeface="Montserrat Ultra-Bold"/>
              </a:defRPr>
            </a:pPr>
            <a:r>
              <a:t>mydash-audit-db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79" y="3703320"/>
            <a:ext cx="3429000" cy="4114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Base isolée. Les migrations Drizzle s'appliquent d'elles-mêmes au démarrage. Contient déjà toutes les données de test (seeds).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57400"/>
            <a:ext cx="3977639" cy="617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8037576"/>
            <a:ext cx="397763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468880"/>
            <a:ext cx="342900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1C1C1A"/>
                </a:solidFill>
                <a:latin typeface="Montserrat Ultra-Bold"/>
              </a:defRPr>
            </a:pPr>
            <a:r>
              <a:t>Backend 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154679"/>
            <a:ext cx="34290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350" b="1" i="0">
                <a:solidFill>
                  <a:srgbClr val="007B80"/>
                </a:solidFill>
                <a:latin typeface="Montserrat Ultra-Bold"/>
              </a:defRPr>
            </a:pPr>
            <a:r>
              <a:t>mydash-audit-backend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703320"/>
            <a:ext cx="3429000" cy="4114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Le serveur API gère la sécurité, les routes métiers et la génération de PDF avec PDFKit.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57400"/>
            <a:ext cx="3977639" cy="617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8037576"/>
            <a:ext cx="3977639" cy="192024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468880"/>
            <a:ext cx="342900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1C1C1A"/>
                </a:solidFill>
                <a:latin typeface="Montserrat Ultra-Bold"/>
              </a:defRPr>
            </a:pPr>
            <a:r>
              <a:t>Frontend Expo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154679"/>
            <a:ext cx="34290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350" b="1" i="0">
                <a:solidFill>
                  <a:srgbClr val="004259"/>
                </a:solidFill>
                <a:latin typeface="Montserrat Ultra-Bold"/>
              </a:defRPr>
            </a:pPr>
            <a:r>
              <a:t>mydash-audit-frontend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703320"/>
            <a:ext cx="3429000" cy="4114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L'application mobile lancée sur le port 8081 et connectée à l'API via le réseau Docker.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78840" y="2057400"/>
            <a:ext cx="3977639" cy="617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578840" y="8037576"/>
            <a:ext cx="3977639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53160" y="2468880"/>
            <a:ext cx="342900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1C1C1A"/>
                </a:solidFill>
                <a:latin typeface="Montserrat Ultra-Bold"/>
              </a:defRPr>
            </a:pPr>
            <a:r>
              <a:t>Audit Shell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53160" y="3154679"/>
            <a:ext cx="34290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350" b="1" i="0">
                <a:solidFill>
                  <a:srgbClr val="002843"/>
                </a:solidFill>
                <a:latin typeface="Montserrat Ultra-Bold"/>
              </a:defRPr>
            </a:pPr>
            <a:r>
              <a:t>mydash-audit-tools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53160" y="3703320"/>
            <a:ext cx="3429000" cy="4114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Le conteneur qui fait tourner les tests automatisés et lance les scans de sécurité.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" y="8503920"/>
            <a:ext cx="16641622" cy="960119"/>
          </a:xfrm>
          <a:prstGeom prst="roundRect">
            <a:avLst>
              <a:gd name="adj" fmla="val 4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" y="9272015"/>
            <a:ext cx="1664162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8641080"/>
            <a:ext cx="16047719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Sécurité : Les variables d'environnement de test sont isolées pour éviter toute connexion involontaire aux serveurs de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Sélection et Rôle des Indicateurs de Mesure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Metrics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59" y="2057400"/>
          <a:ext cx="1664162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10880902"/>
              </a:tblGrid>
              <a:tr h="914400">
                <a:tc>
                  <a:txBody>
                    <a:bodyPr/>
                    <a:lstStyle/>
                    <a:p>
                      <a:pPr algn="l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Axe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Indicateur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Pourquoi cet indicateur est mesuré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Mobile (UX)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Launch, TTFR, TTI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Mesurer le temps de démarrage de l'app (Launch), le premier rendu d'écran (TTFR) et le temps d'interactivité (TTI).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Front (Poids)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Transfer, Bundle Gzip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Isoler la taille brute du JS Metro téléchargé et mesurer le gain potentiel du passage en production minifié.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Back (API)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Avg, p50, p95, max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Vérifier la vélocité et la régularité du backend Express sous une base locale PostgreSQL.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Sécurité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Audit pnpm &amp; Overrides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S'assurer qu'aucune CVE critique n'est active en production sur les paquets tiers.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Qualité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Vitest &amp; Lint tests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Garantir la non-régression applicative après application des correctifs techniques.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59" y="7955279"/>
            <a:ext cx="16459200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1">
                <a:solidFill>
                  <a:srgbClr val="354465"/>
                </a:solidFill>
                <a:latin typeface="Montserrat"/>
              </a:defRPr>
            </a:pPr>
            <a:r>
              <a:t>Pourquoi ce choix ? Il sépare les responsabilités : même si le serveur répond instantanément, l'utilisateur mobile subit des lenteurs à cause du poids du fichier JS initial.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Architecture Logique de l'Application MyDash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468880"/>
            <a:ext cx="3566160" cy="617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449056"/>
            <a:ext cx="3566160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30175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C466"/>
                </a:solidFill>
                <a:latin typeface="Montserrat Ultra-Bold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3017520" cy="48006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Expo (Native)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React Native (Hermes)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Tailwind (Uniwind)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React Query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Zustand Stores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Axios (API Client)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26279" y="5212079"/>
            <a:ext cx="685800" cy="411479"/>
          </a:xfrm>
          <a:prstGeom prst="rightArrow">
            <a:avLst/>
          </a:prstGeom>
          <a:solidFill>
            <a:srgbClr val="354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49240" y="2468880"/>
            <a:ext cx="3566160" cy="617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8449056"/>
            <a:ext cx="3566160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59" y="2743200"/>
            <a:ext cx="30175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ROUTES /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3429000"/>
            <a:ext cx="3017520" cy="48006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Express Router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Auth Middlewares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Org Access Control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Zod Validator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Auth Controller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Invoices Controller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52559" y="5212079"/>
            <a:ext cx="685800" cy="411479"/>
          </a:xfrm>
          <a:prstGeom prst="rightArrow">
            <a:avLst/>
          </a:prstGeom>
          <a:solidFill>
            <a:srgbClr val="354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0" y="2468880"/>
            <a:ext cx="3566160" cy="617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0" y="8449056"/>
            <a:ext cx="3566160" cy="192024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2743200"/>
            <a:ext cx="30175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4259"/>
                </a:solidFill>
                <a:latin typeface="Montserrat Ultra-Bold"/>
              </a:defRPr>
            </a:pPr>
            <a:r>
              <a:t>SERVICES / REPOS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429000"/>
            <a:ext cx="3017520" cy="48006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Business Logic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Quote Service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PDF Generator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Mail Templates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Drizzle Repositories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SQL Queries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3578840" y="5212079"/>
            <a:ext cx="685800" cy="411479"/>
          </a:xfrm>
          <a:prstGeom prst="rightArrow">
            <a:avLst/>
          </a:prstGeom>
          <a:solidFill>
            <a:srgbClr val="354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401800" y="2468880"/>
            <a:ext cx="3017520" cy="617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01800" y="8449056"/>
            <a:ext cx="3017520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76119" y="2743200"/>
            <a:ext cx="24688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2843"/>
                </a:solidFill>
                <a:latin typeface="Montserrat Ultra-Bold"/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76119" y="3429000"/>
            <a:ext cx="2468880" cy="48006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Postgres 17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Invoices Table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Quotes Table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Payments Table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Note Links Table</a:t>
            </a:r>
          </a:p>
          <a:p>
            <a:pPr>
              <a:spcAft>
                <a:spcPts val="900"/>
              </a:spcAft>
              <a:defRPr sz="1575">
                <a:solidFill>
                  <a:srgbClr val="1C1C1A"/>
                </a:solidFill>
                <a:latin typeface="Montserrat"/>
              </a:defRPr>
            </a:pPr>
            <a:r>
              <a:t>•  Drizzle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Parcours Applicatif Métier (Audit Workflow)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Commercial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371600"/>
            <a:ext cx="1645920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1">
                <a:solidFill>
                  <a:srgbClr val="354465"/>
                </a:solidFill>
                <a:latin typeface="Montserrat"/>
              </a:defRPr>
            </a:pPr>
            <a:r>
              <a:t>Un cycle commercial complet simulé de bout en bout pour capturer de vrais comportements d'écriture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3017520"/>
            <a:ext cx="1920239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5843016"/>
            <a:ext cx="1920239" cy="192024"/>
          </a:xfrm>
          <a:prstGeom prst="rect">
            <a:avLst/>
          </a:prstGeom>
          <a:solidFill>
            <a:srgbClr val="56E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0179" y="2194560"/>
            <a:ext cx="685800" cy="685800"/>
          </a:xfrm>
          <a:prstGeom prst="ellipse">
            <a:avLst/>
          </a:prstGeom>
          <a:solidFill>
            <a:srgbClr val="56E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39" y="3291839"/>
            <a:ext cx="17830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650" b="1" i="0">
                <a:solidFill>
                  <a:srgbClr val="1C1C1A"/>
                </a:solidFill>
                <a:latin typeface="Montserrat Ultra-Bold"/>
              </a:defRPr>
            </a:pPr>
            <a:r>
              <a:t>1. 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39" y="3977639"/>
            <a:ext cx="1783080" cy="17830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350" b="0" i="0">
                <a:solidFill>
                  <a:srgbClr val="354465"/>
                </a:solidFill>
                <a:latin typeface="Montserrat"/>
              </a:defRPr>
            </a:pPr>
            <a:r>
              <a:t>Dashboard initialisé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017520"/>
            <a:ext cx="1920239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5843016"/>
            <a:ext cx="1920239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580" y="2194560"/>
            <a:ext cx="685800" cy="685800"/>
          </a:xfrm>
          <a:prstGeom prst="ellipse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8940" y="3291839"/>
            <a:ext cx="17830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650" b="1" i="0">
                <a:solidFill>
                  <a:srgbClr val="1C1C1A"/>
                </a:solidFill>
                <a:latin typeface="Montserrat Ultra-Bold"/>
              </a:defRPr>
            </a:pPr>
            <a:r>
              <a:t>2. Prospect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8940" y="3977639"/>
            <a:ext cx="1783080" cy="17830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350" b="0" i="0">
                <a:solidFill>
                  <a:srgbClr val="354465"/>
                </a:solidFill>
                <a:latin typeface="Montserrat"/>
              </a:defRPr>
            </a:pPr>
            <a:r>
              <a:t>Création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017520"/>
            <a:ext cx="1920239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5843016"/>
            <a:ext cx="192023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4980" y="2194560"/>
            <a:ext cx="685800" cy="685800"/>
          </a:xfrm>
          <a:prstGeom prst="ellipse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6340" y="3291839"/>
            <a:ext cx="17830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650" b="1" i="0">
                <a:solidFill>
                  <a:srgbClr val="1C1C1A"/>
                </a:solidFill>
                <a:latin typeface="Montserrat Ultra-Bold"/>
              </a:defRPr>
            </a:pPr>
            <a:r>
              <a:t>3. Devis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6340" y="3977639"/>
            <a:ext cx="1783080" cy="17830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350" b="0" i="0">
                <a:solidFill>
                  <a:srgbClr val="354465"/>
                </a:solidFill>
                <a:latin typeface="Montserrat"/>
              </a:defRPr>
            </a:pPr>
            <a:r>
              <a:t>Ligne de prestation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59" y="3017520"/>
            <a:ext cx="1920239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59" y="5843016"/>
            <a:ext cx="1920239" cy="192024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12379" y="2194560"/>
            <a:ext cx="685800" cy="685800"/>
          </a:xfrm>
          <a:prstGeom prst="ellipse">
            <a:avLst/>
          </a:prstGeom>
          <a:solidFill>
            <a:srgbClr val="0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3739" y="3291839"/>
            <a:ext cx="17830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650" b="1" i="0">
                <a:solidFill>
                  <a:srgbClr val="1C1C1A"/>
                </a:solidFill>
                <a:latin typeface="Montserrat Ultra-Bold"/>
              </a:defRPr>
            </a:pPr>
            <a:r>
              <a:t>4. Envoi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3739" y="3977639"/>
            <a:ext cx="1783080" cy="17830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350" b="0" i="0">
                <a:solidFill>
                  <a:srgbClr val="354465"/>
                </a:solidFill>
                <a:latin typeface="Montserrat"/>
              </a:defRPr>
            </a:pPr>
            <a:r>
              <a:t>Changement de statut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59" y="3017520"/>
            <a:ext cx="1920239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59" y="5843016"/>
            <a:ext cx="1920239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9779" y="2194560"/>
            <a:ext cx="685800" cy="685800"/>
          </a:xfrm>
          <a:prstGeom prst="ellipse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1139" y="3291839"/>
            <a:ext cx="17830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650" b="1" i="0">
                <a:solidFill>
                  <a:srgbClr val="1C1C1A"/>
                </a:solidFill>
                <a:latin typeface="Montserrat Ultra-Bold"/>
              </a:defRPr>
            </a:pPr>
            <a:r>
              <a:t>5. Accord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1139" y="3977639"/>
            <a:ext cx="1783080" cy="17830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350" b="0" i="0">
                <a:solidFill>
                  <a:srgbClr val="354465"/>
                </a:solidFill>
                <a:latin typeface="Montserrat"/>
              </a:defRPr>
            </a:pPr>
            <a:r>
              <a:t>Acceptation client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09959" y="3017520"/>
            <a:ext cx="1920239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109959" y="5843016"/>
            <a:ext cx="1920239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727179" y="2194560"/>
            <a:ext cx="685800" cy="685800"/>
          </a:xfrm>
          <a:prstGeom prst="ellipse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78539" y="3291839"/>
            <a:ext cx="17830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650" b="1" i="0">
                <a:solidFill>
                  <a:srgbClr val="1C1C1A"/>
                </a:solidFill>
                <a:latin typeface="Montserrat Ultra-Bold"/>
              </a:defRPr>
            </a:pPr>
            <a:r>
              <a:t>6. Facture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8539" y="3977639"/>
            <a:ext cx="1783080" cy="17830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350" b="0" i="0">
                <a:solidFill>
                  <a:srgbClr val="354465"/>
                </a:solidFill>
                <a:latin typeface="Montserrat"/>
              </a:defRPr>
            </a:pPr>
            <a:r>
              <a:t>Génération auto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167359" y="3017520"/>
            <a:ext cx="1920239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67359" y="5843016"/>
            <a:ext cx="192023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784579" y="2194560"/>
            <a:ext cx="685800" cy="685800"/>
          </a:xfrm>
          <a:prstGeom prst="ellipse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35939" y="3291839"/>
            <a:ext cx="17830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650" b="1" i="0">
                <a:solidFill>
                  <a:srgbClr val="1C1C1A"/>
                </a:solidFill>
                <a:latin typeface="Montserrat Ultra-Bold"/>
              </a:defRPr>
            </a:pPr>
            <a:r>
              <a:t>7. Règlement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35939" y="3977639"/>
            <a:ext cx="1783080" cy="17830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350" b="0" i="0">
                <a:solidFill>
                  <a:srgbClr val="354465"/>
                </a:solidFill>
                <a:latin typeface="Montserrat"/>
              </a:defRPr>
            </a:pPr>
            <a:r>
              <a:t>Enregistrement pay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224759" y="3017520"/>
            <a:ext cx="1920239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5224759" y="5843016"/>
            <a:ext cx="1920239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5841979" y="2194560"/>
            <a:ext cx="685800" cy="685800"/>
          </a:xfrm>
          <a:prstGeom prst="ellipse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93339" y="3291839"/>
            <a:ext cx="178308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650" b="1" i="0">
                <a:solidFill>
                  <a:srgbClr val="1C1C1A"/>
                </a:solidFill>
                <a:latin typeface="Montserrat Ultra-Bold"/>
              </a:defRPr>
            </a:pPr>
            <a:r>
              <a:t>8. Final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93339" y="3977639"/>
            <a:ext cx="1783080" cy="178308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ctr">
              <a:defRPr sz="1350" b="0" i="0">
                <a:solidFill>
                  <a:srgbClr val="354465"/>
                </a:solidFill>
                <a:latin typeface="Montserrat"/>
              </a:defRPr>
            </a:pPr>
            <a:r>
              <a:t>Dashboard recalculé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59" y="6583679"/>
            <a:ext cx="1664162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59" y="9134855"/>
            <a:ext cx="1664162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4440" y="6858000"/>
            <a:ext cx="157734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Importance de ce scénario d'intégration 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7269479"/>
            <a:ext cx="15773400" cy="178308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Permet de mesurer non seulement des écrans statiques (Dashboard vide) mais la transition d'état complète de l'application.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Permet de collecter des logs d'erreurs réels (comme les échecs de conversion colorKit lors de la modification des devis).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Valide la cascade de base de données drizzle lors de la génération automatique d'une facture à partir d'un devis accepté.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Analyse d'Écran : Tableau de Bord (Route '/')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Screen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52120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52120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6634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Rendement de Route (/)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50.1s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(3G)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12.4s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TTI (Local)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32.0s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TTI (3G)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0.84s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995159"/>
            <a:ext cx="4663440" cy="192023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1">
                <a:solidFill>
                  <a:srgbClr val="354465"/>
                </a:solidFill>
                <a:latin typeface="Montserrat"/>
              </a:defRPr>
            </a:pPr>
            <a:r>
              <a:t>Analyse : Le premier chargement local (50s) inclut la compilation à chaud de Metro. En 3G (12s), on mesure le temps réel nécessaire pour charger le fichier JS de 2,3 Mo.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057400"/>
            <a:ext cx="10972800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8997696"/>
            <a:ext cx="10972800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331720"/>
            <a:ext cx="101498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Diagnostics &amp; Erreurs console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54679"/>
            <a:ext cx="10149840" cy="576072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colorKit (P0) : Échec de conversion de couleur (devient noir par défaut). Cela casse l'affichage des graphiques.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Styles obsolètes (P2) : Alertes sur l'utilisation de propriétés d'ombres obsolètes dans React Native.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pointerEvents obsolètes (P2) : Syntaxes de clics obsolètes à corriger.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Appels API rapides : Requêtes API résolues sous 105ms (p95). La lenteur vient uniquement du chargement de l'application.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Analyse d'Écran : Entreprises (Route '/companies')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Screen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52120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52120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6634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Rendement de Route (/companies)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2.2s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(3G)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12.3s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TTFR (Local)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0.65s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TTFR (3G)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10.8s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995159"/>
            <a:ext cx="4663440" cy="192023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1">
                <a:solidFill>
                  <a:srgbClr val="354465"/>
                </a:solidFill>
                <a:latin typeface="Montserrat"/>
              </a:defRPr>
            </a:pPr>
            <a:r>
              <a:t>Analyse : Le téléchargement du fichier JS de 2,3 Mo bloque l'affichage pendant 10s sur mobile. Pourtant, les requêtes API sont instantanées (15ms).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057400"/>
            <a:ext cx="10972800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8997696"/>
            <a:ext cx="10972800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331720"/>
            <a:ext cx="101498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Diagnostics &amp; Erreurs console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54679"/>
            <a:ext cx="10149840" cy="576072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colorKit (P0) : Un composant s'affiche en noir par défaut à cause d'une erreur de couleur.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Styles obsolètes (P2) : Les mêmes alertes de styles se répètent ici.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Données légères : Seulement 5 entreprises chargées. La base de données Postgres n'y est pour rien.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Solution : Mettre en cache la liste ou utiliser un état persistant pour éviter de recharger les données à chaque clic.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Analyse d'Écran : Devis (Route '/quotes')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Screen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52120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52120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6634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Rendement de Route (/quotes)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2.5s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(3G)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12.2s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TTFR (Local)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1.02s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TTFR (3G)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10.6s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995159"/>
            <a:ext cx="4663440" cy="192023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1">
                <a:solidFill>
                  <a:srgbClr val="354465"/>
                </a:solidFill>
                <a:latin typeface="Montserrat"/>
              </a:defRPr>
            </a:pPr>
            <a:r>
              <a:t>Analyse : Le réseau mobile est le goulot d'étranglement (10,6s de chargement). L'API locale répond pourtant en 25ms.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057400"/>
            <a:ext cx="10972800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8997696"/>
            <a:ext cx="10972800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331720"/>
            <a:ext cx="101498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Diagnostics &amp; Erreurs console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54679"/>
            <a:ext cx="10149840" cy="576072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colorKit (P0) : Le badge de statut des devis (brouillon, envoyé) n'arrive pas à se colorer.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Styles obsolètes (P2) : Alertes sur shadowProps et pointerEvents.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Requêtes API : 3 appels résolus en moins de 25ms. Zéro lenteur côté serveur.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Diagnostic : colorKit n'est pas compatible avec la palette de couleurs de l'application.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Analyse d'Écran : Factures (Route '/invoices')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Screen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52120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52120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6634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Rendement de Route (/invoices)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2.3s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(3G)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12.3s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TTFR (Local)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0.77s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TTFR (3G)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10.8s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995159"/>
            <a:ext cx="4663440" cy="192023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1">
                <a:solidFill>
                  <a:srgbClr val="354465"/>
                </a:solidFill>
                <a:latin typeface="Montserrat"/>
              </a:defRPr>
            </a:pPr>
            <a:r>
              <a:t>Analyse : Sur mobile 3G, l'utilisateur attend 12s. Pourtant, le chargement des 5 factures prend moins de 31ms.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057400"/>
            <a:ext cx="10972800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8997696"/>
            <a:ext cx="10972800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331720"/>
            <a:ext cx="101498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Diagnostics &amp; Erreurs console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54679"/>
            <a:ext cx="10149840" cy="576072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colorKit (P0) : Échec de couleur sur les états de factures (à envoyer, payée).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Styles obsolètes (P2) : Alertes standard sur pointerEvents et shadowProps.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Poids réseau : 2,3 Mo téléchargés, constitués à 98% par le fichier JS non minifié.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Solution : Ajouter une pagination côté serveur et forcer la minification du fichier JS.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Analyse d'Écran : Organisations (Route '/organizations')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Screen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52120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52120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6634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Rendement de Route (/organizations)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2.2s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54679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3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Launch (3G)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12.3s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TTFR (Local)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3BA80D"/>
                </a:solidFill>
                <a:latin typeface="Montserrat Ultra-Bold"/>
              </a:defRPr>
            </a:pPr>
            <a:r>
              <a:t>0.63s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074920"/>
            <a:ext cx="2194560" cy="1645919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5212079"/>
            <a:ext cx="192023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0">
                <a:solidFill>
                  <a:srgbClr val="354465"/>
                </a:solidFill>
                <a:latin typeface="Montserrat"/>
              </a:defRPr>
            </a:pPr>
            <a:r>
              <a:t>TTFR (3G)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623559"/>
            <a:ext cx="1920239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3000" b="1" i="0">
                <a:solidFill>
                  <a:srgbClr val="E11D48"/>
                </a:solidFill>
                <a:latin typeface="Montserrat Ultra-Bold"/>
              </a:defRPr>
            </a:pPr>
            <a:r>
              <a:t>10.8s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995159"/>
            <a:ext cx="4663440" cy="192023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1">
                <a:solidFill>
                  <a:srgbClr val="354465"/>
                </a:solidFill>
                <a:latin typeface="Montserrat"/>
              </a:defRPr>
            </a:pPr>
            <a:r>
              <a:t>Analyse : Même constat. L'affichage prend 12s à cause de la taille du JS, malgré une requête API résolue en 29ms.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057400"/>
            <a:ext cx="10972800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8997696"/>
            <a:ext cx="10972800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331720"/>
            <a:ext cx="101498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Diagnostics &amp; Erreurs console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54679"/>
            <a:ext cx="10149840" cy="576072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colorKit (P0) : Nouvelle erreur de couleur sur cet écran.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Styles obsolètes (P2) : Mêmes alertes héritées.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Appel API : 1 seule requête résolue en 29ms. Zéro impact du serveur sur l'attente utilisateur.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Solution : Nettoyer la configuration globale pour supprimer les warnings consoles.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Synthèse des Mesures de Performance (Local vs 3G)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Performance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59" y="2194560"/>
          <a:ext cx="1664162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57400"/>
                <a:gridCol w="2057400"/>
                <a:gridCol w="2057400"/>
                <a:gridCol w="2057400"/>
                <a:gridCol w="2057400"/>
                <a:gridCol w="2057400"/>
                <a:gridCol w="1828342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Route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Launch (Local)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Launch (3G)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TTFR (Local)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TTFR (3G)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TTI (Local)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TTI (3G)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Poids JS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/ (Dashboard)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50 094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12 416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48 532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10 885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32 008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840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2.3 Mo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/companies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2 181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12 283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649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10 762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392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860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2.3 Mo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/quotes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2 544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12 187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1 022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10 648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764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756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2.3 Mo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/invoices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2 303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12 322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769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10 793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452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872 ms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2.3 Mo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/organizations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2 164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12 337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627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10 803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376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816 ms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2.3 Mo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59" y="7132320"/>
            <a:ext cx="7955279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7338059"/>
            <a:ext cx="740664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Indicateur Local faussé par Metro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749540"/>
            <a:ext cx="7406640" cy="130301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Le premier accès local prend 50s à cause de la compilation de Metro. Ensuite, les écrans se chargent en 2s. Ce délai n'existera pas en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302" y="7132320"/>
            <a:ext cx="7955279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09302" y="8997696"/>
            <a:ext cx="7955279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3622" y="7338059"/>
            <a:ext cx="740664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2843"/>
                </a:solidFill>
                <a:latin typeface="Montserrat Ultra-Bold"/>
              </a:defRPr>
            </a:pPr>
            <a:r>
              <a:t>Latence et Poids dominants sur 3G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3622" y="7749540"/>
            <a:ext cx="7406640" cy="130301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Sur mobile 3G (latence et débit limité), charger le fichier JS de 2,3 Mo impose 10s d'attente sur chaque écran. Le frontend est le seul coupable.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Analyse de l'Impact de la Latence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Network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Modélisation Mathématique du Transfert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Fichier JS à transférer : 2,3 Mo (2 355 Ko).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Débit mobile 3G : 1,6 Mbps (200 Ko/s).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Temps de transfert brut :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2 355 Ko / 200 Ko/s = 11,7 secondes.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Latence réseau (RTT) : 150 ms.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Connexion TCP / TLS initiale : ~450 ms.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Résultat : Les 12,2s mesurées correspondent exactement au temps de téléchargement du bundle sur ce réseau.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Impact sur l'Expérience Utilisateur (UX)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Écran blanc : L'utilisateur attend plus de 10s face à un écran vide, ce qui pousse à l'abandon.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Abandon massif : Plus de 50% des utilisateurs quittent une application mobile si le chargement dépasse 3s.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Action : Il faut minifier le code, supprimer le code inutile et mettre en cache les fichiers sur le mobile.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Mesure de Performance Native Expo (Outils &amp; Stratégie)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Mobile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59" y="2057400"/>
          <a:ext cx="1664162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4389120"/>
                <a:gridCol w="8823502"/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Besoin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Outil / Bibliothèque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Quand l'utiliser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Suivi de la production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expo-observe / EAS Observe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Mesurer le démarrage (cold/warm), le chargement du bundle et le TTI réel en prod.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Benchmark de composants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reassure (Callstack)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Comparer le temps de rendu des composants pour éviter les régressions en local/CI.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Profilage local en dev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Expo Perf Monitor + DevTools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Suivre les FPS JS/UI, la mémoire RAM allouée et inspecter le heap JS.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Indicateurs in-app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react-native-performance-stats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Afficher un overlay avec les FPS et la RAM directement dans l'application.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59" y="5486400"/>
            <a:ext cx="7955279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7406640" cy="4800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Intégration d'expo-observe en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309359"/>
            <a:ext cx="7406640" cy="27432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425">
                <a:solidFill>
                  <a:srgbClr val="1C1C1A"/>
                </a:solidFill>
                <a:latin typeface="Montserrat"/>
              </a:defRPr>
            </a:pPr>
            <a:r>
              <a:t>•  Installation simple : via la commande `npx expo install expo-observe`.</a:t>
            </a:r>
          </a:p>
          <a:p>
            <a:pPr>
              <a:spcAft>
                <a:spcPts val="900"/>
              </a:spcAft>
              <a:defRPr sz="1425">
                <a:solidFill>
                  <a:srgbClr val="1C1C1A"/>
                </a:solidFill>
                <a:latin typeface="Montserrat"/>
              </a:defRPr>
            </a:pPr>
            <a:r>
              <a:t>•  Suivi du démarrage : Mesure automatique du cold launch et warm launch.</a:t>
            </a:r>
          </a:p>
          <a:p>
            <a:pPr>
              <a:spcAft>
                <a:spcPts val="900"/>
              </a:spcAft>
              <a:defRPr sz="1425">
                <a:solidFill>
                  <a:srgbClr val="1C1C1A"/>
                </a:solidFill>
                <a:latin typeface="Montserrat"/>
              </a:defRPr>
            </a:pPr>
            <a:r>
              <a:t>•  Time to Interactive (TTI) : Enregistrement manuel via `markInteractive()` dans un useEffect une fois l'écran chargé.</a:t>
            </a:r>
          </a:p>
          <a:p>
            <a:pPr>
              <a:spcAft>
                <a:spcPts val="900"/>
              </a:spcAft>
              <a:defRPr sz="1425">
                <a:solidFill>
                  <a:srgbClr val="1C1C1A"/>
                </a:solidFill>
                <a:latin typeface="Montserrat"/>
              </a:defRPr>
            </a:pPr>
            <a:r>
              <a:t>•  Utilité : Récolter de vraies données terrain auprès des utilisateurs réels.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302" y="5486400"/>
            <a:ext cx="7955279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09302" y="8997696"/>
            <a:ext cx="7955279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3622" y="5760720"/>
            <a:ext cx="7406640" cy="4800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2843"/>
                </a:solidFill>
                <a:latin typeface="Montserrat Ultra-Bold"/>
              </a:defRPr>
            </a:pPr>
            <a:r>
              <a:t>Profilage et Débogage en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3622" y="6309359"/>
            <a:ext cx="7406640" cy="2743200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425">
                <a:solidFill>
                  <a:srgbClr val="1C1C1A"/>
                </a:solidFill>
                <a:latin typeface="Montserrat"/>
              </a:defRPr>
            </a:pPr>
            <a:r>
              <a:t>•  Expo Performance Monitor : Overlay affichant les FPS UI, les FPS JS et la RAM.</a:t>
            </a:r>
          </a:p>
          <a:p>
            <a:pPr>
              <a:spcAft>
                <a:spcPts val="900"/>
              </a:spcAft>
              <a:defRPr sz="1425">
                <a:solidFill>
                  <a:srgbClr val="1C1C1A"/>
                </a:solidFill>
                <a:latin typeface="Montserrat"/>
              </a:defRPr>
            </a:pPr>
            <a:r>
              <a:t>•  React Native DevTools : Profiler pour traquer l'origine des ralentissements et des re-renders.</a:t>
            </a:r>
          </a:p>
          <a:p>
            <a:pPr>
              <a:spcAft>
                <a:spcPts val="900"/>
              </a:spcAft>
              <a:defRPr sz="1425">
                <a:solidFill>
                  <a:srgbClr val="1C1C1A"/>
                </a:solidFill>
                <a:latin typeface="Montserrat"/>
              </a:defRPr>
            </a:pPr>
            <a:r>
              <a:t>•  Alerte paquets obsolètes : Remplacer le package `@shopify/react-native-performance` (qui est déprécié) pour éviter les instabilités.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Benchmarking de Composants &amp;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Performance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Benchmarker les composants avec Reassure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Installation : Ajouter au projet de test via `pnpm add -D reassure`.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Fonctionnement : Automatiser des tests de performance pour mesurer les temps de rendu et le nombre de renders successifs d'un composant.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CI/CD : Permet de bloquer une pull request si une modification de code introduit une régression lente (ex: sur la liste des factures).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Exemple de test :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`await measureRenders(&lt;MyComponent /&gt;);`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Règle d'or : Tester uniquement en mode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Danger du mode Dev : Ne jamais mesurer la performance sur Expo Go ou avec un serveur de développement Metro actif.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Pourquoi ? React Native exécute beaucoup de vérifications et le moteur JS (Hermes) tourne avec le debugger connecté, ce qui ralentit artificiellement le rendu.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Solution : Compiler l'application sous forme de Release Build (ou Preview) :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`eas build --profile preview --platform android`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`eas build --profile production --platform ios`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Recommandations de Performance Mobile (Expo)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Frontend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4059936"/>
            <a:ext cx="16641622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68879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C466"/>
                </a:solidFill>
                <a:latin typeface="Montserrat Ultra-Bold"/>
              </a:defRPr>
            </a:pPr>
            <a:r>
              <a:t>Supprimer colorKit &amp; warnings de 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11780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Remplacer le package colorKit (incompatible et source de crashs visuels) par un tableau statique de couleurs en dur (hexadécimal). Nettoyer les props de style obsolètes shadowProps et pointerEvents.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4526279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6528815"/>
            <a:ext cx="1664162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937758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800599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Mettre en place expo-observe &amp; EAS 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280659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Installer expo-observe et EAS Observe pour tracker en conditions réelles le cold launch, le warm launch et le Time to Interactive (TTI) via markInteractive().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6995159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8997695"/>
            <a:ext cx="1664162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7406638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7269479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2843"/>
                </a:solidFill>
                <a:latin typeface="Montserrat Ultra-Bold"/>
              </a:defRPr>
            </a:pPr>
            <a:r>
              <a:t>Tests de non-régression de rendu (Reassure)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7749539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Intégrer reassure de Callstack dans la suite de tests pour valider en continu que les optimisations de rendus (ex: listes de devis/factures) ne subissent pas de ralentissement.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Recommandations de Performance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Database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4059936"/>
            <a:ext cx="16641622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68879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C466"/>
                </a:solidFill>
                <a:latin typeface="Montserrat Ultra-Bold"/>
              </a:defRPr>
            </a:pPr>
            <a:r>
              <a:t>Suppression des requêtes de comptage en mémoire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11780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Remplacer le comptage en mémoire (rows.length) par un count(*) SQL exécuté directement par PostgreSQL.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4526279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6528815"/>
            <a:ext cx="1664162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937758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800599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Mise en place d'index sur les clés étrangères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280659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Ajouter des index sur les clés étrangères (organization_id, company_id, invoice_id) pour accélérer les jointures 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6995159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8997695"/>
            <a:ext cx="1664162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7406638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7269479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2843"/>
                </a:solidFill>
                <a:latin typeface="Montserrat Ultra-Bold"/>
              </a:defRPr>
            </a:pPr>
            <a:r>
              <a:t>Indexation sur les champs de filtres et tris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7749539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Créer des index composites sur (organization_id, status, created_at) pour accélérer les tris et filtres du tableau de bord.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Schéma des Tables PostgreSQL &amp;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Structure de la base de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Isolation (Multi-Tenant) : Chaque table clé possède un organization_id pour cloisonner strictement les données des clients.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Liaison devis-facture : Une facture est liée à un devis unique (un devis ne génère qu'une seule facture).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Création automatique : L'acceptation d'un devis génère directement la facture et copie les articles en BDD.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Suivi des paiements : Chaque règlement est lié à sa facture correspondante.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Types de données utilisés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Identifiants : format CUID généré par l'application (plus sûr et performant que des entiers séquentiels).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Calculs financiers : Montants stockés en centimes d'euros (ex: 10,50 € devient 1050) pour éviter les erreurs de calcul des nombres décimaux.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Figeage des données : L'adresse et les infos légales du client sont copiées en JSONB lors de la vente. Ainsi, modifier le profil d'un client ne modifie pas ses anciennes factures.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Anti-pattern SQL Drizzle : Comptage en Mémoire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DB Anti-pattern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3291839"/>
          </a:xfrm>
          <a:prstGeom prst="roundRect">
            <a:avLst>
              <a:gd name="adj" fmla="val 4000"/>
            </a:avLst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740664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7B80"/>
                </a:solidFill>
                <a:latin typeface="Montserrat Ultra-Bold"/>
              </a:defRPr>
            </a:pPr>
            <a:r>
              <a:t>Repository Devis (Code Audité)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async countByOrganizationId(organizationId, filters)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8610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const rows = await this.database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.select({ id: quotes.id 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7190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.from(quotes)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.where(and(...conditions));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5770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return rows.length;  // &lt;-- ANTI-PATTERN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5760720"/>
            <a:ext cx="7955279" cy="3429000"/>
          </a:xfrm>
          <a:prstGeom prst="roundRect">
            <a:avLst>
              <a:gd name="adj" fmla="val 4000"/>
            </a:avLst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897879"/>
            <a:ext cx="740664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3BA80D"/>
                </a:solidFill>
                <a:latin typeface="Montserrat Ultra-Bold"/>
              </a:defRPr>
            </a:pPr>
            <a:r>
              <a:t>Correction Cible (Comptage 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44652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async countByOrganizationId(organizationId, filters)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78942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const [result] = await this.database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13232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.select({ count: sql`count(*)::int` })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747522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.from(quotes)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81812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.where(and(...conditions));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816102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return result.count;  // &lt;-- OPTIMISÉ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850392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Pourquoi c'est un problème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Surcharge mémoire : Node.js doit allouer de la RAM pour chaque ligne chargée. Si un client a 20 000 devis, 20 000 objets JS sont créés pour rien.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Bande passante saturée : La base de données doit envoyer des Mo de données sur le réseau, alors qu'un comptage direct ne pèse que 4 octets.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Ralentissements de l'API : Le moteur Node.js (V8) passe son temps à nettoyer ces objets temporaires, ce qui ralentit toutes les requêtes en même temps.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Analyse des Plans d'Exécution SQL (EXPLAIN)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Query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740664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E11D48"/>
                </a:solidFill>
                <a:latin typeface="Montserrat Ultra-Bold"/>
              </a:defRPr>
            </a:pPr>
            <a:r>
              <a:t>Simulation EXPLAIN ANALYZE (Sans index)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EXPLAIN ANALYZE SELECT * FROM "quotes"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2326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WHERE "organization_id" = 'cuid_org'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AND "status" = 'sent'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0906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ORDER BY "created_at" DESC LIMIT 10;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459486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-&gt; Sort (cost=450.23..450.45 rows=12 width=512)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 Sort Key: created_at DESC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80660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 -&gt; Seq Scan on quotes (cost=0.00..420.00 rows=12)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23559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          Filter: (organization_id = 'cuid_org' AND status = 'sent')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966459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Planning Time: 0.15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309359"/>
            <a:ext cx="7406640" cy="3429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Montserrat"/>
              </a:defRPr>
            </a:pPr>
            <a:r>
              <a:t>Execution Time: 12.45 ms (Seq Scan coûteux sur volume)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Le problème des scans séquentiels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Scan séquentiel (Seq Scan) : Sans index, PostgreSQL doit lire toute la table sur le disque pour trouver les lignes du client.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Ralentissement exponentiel : Plus les clients créent des devis, plus l'ensemble de l'application ralentit.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Tri en mémoire lent : Le tri par date s'exécute en mémoire RAM temporaire, ce qui sature le serveur.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Solution : Ajouter un index composite pour filtrer et trier en une seule étape rapide.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Audit des Index PostgreSQL Manquants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Database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59" y="2057400"/>
          <a:ext cx="1664162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017520"/>
                <a:gridCol w="4800600"/>
                <a:gridCol w="6354622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Table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Colonne non indexée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Type d'Index recommandé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Impact SQL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quotes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company_id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btree (quotes_company_id_idx)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Accélère l'affichage des devis d'un client ciblé.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quotes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status, created_at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btree (composite_quotes_idx)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Optimise le dashboard et évite le filesort lors du tri.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invoices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company_id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btree (invoices_company_id_idx)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Accélère le filtre des factures par client.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invoices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status, created_at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btree (composite_invoices_idx)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Optimise le filtre des factures impayées.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payments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invoice_id, status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btree (payments_invoice_idx)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Accélère l'historique des règlements d'une facture.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59" y="7955279"/>
            <a:ext cx="16459200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1">
                <a:solidFill>
                  <a:srgbClr val="354465"/>
                </a:solidFill>
                <a:latin typeface="Montserrat"/>
              </a:defRPr>
            </a:pPr>
            <a:r>
              <a:t>Note : Par défaut, SQL n'indexe pas les clés étrangères. C'est au développeur de le faire pour éviter que les jointures ne ralentissent avec le temps.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Axe de performance : Requêtes d'agrégation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Aggregation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Comment sont calculées les stats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Requête du tableau de bord : Calcul des sommes des factures, taux de conversion et retards de paiement.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Calcul à chaque clic : Chaque fois que l'utilisateur ouvre le dashboard, le serveur recalcule tout l'historique depuis le premier jour.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Risque de blocage : Si un client possède des milliers de factures, le calcul en temps réel sature le processeur de la BDD et ralentit l'application.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Pistes d'optimisation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1. Vues matérialisées : Pré-calculer les totaux (ex: toutes les heures) au lieu de les recalculer à chaque fois.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2. Table de compteurs : Mettre à jour des totaux dans une table dédiée à chaque enregistrement d'un paiement.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3. Limite de date : Par défaut, calculer uniquement sur l'année en cours pour limiter les données à analyser.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Sécurité des Dépendances (pnpm audit)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16641622" cy="1645919"/>
          </a:xfrm>
          <a:prstGeom prst="roundRect">
            <a:avLst>
              <a:gd name="adj" fmla="val 4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3511295"/>
            <a:ext cx="1664162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16088867" cy="13716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Rapport de Vulnérabilités : Toutes les analyses pnpm audit au sein des dossiers backend et frontend retournent désormais 0 alerte active. Les failles critiques héritées des packages tiers ont été neutralisées grâce à des surcharges de versions explicites (overrides).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59" y="4114800"/>
          <a:ext cx="1664162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1783080"/>
                <a:gridCol w="1783080"/>
                <a:gridCol w="2057400"/>
                <a:gridCol w="1783080"/>
                <a:gridCol w="1783080"/>
                <a:gridCol w="2651302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Périmètre d'Audit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CVE Info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CVE Low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CVE Moderate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CVE High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CVE Critical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Statut Final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Backend Production (`--prod`)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Conforme (Passed)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Backend Complet (`full`)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Conforme (Passed)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Frontend Production (`--prod`)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Conforme (Passed)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Frontend Complet (`full`)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Conforme (Passed)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59" y="7955279"/>
            <a:ext cx="16459200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00" b="0" i="1">
                <a:solidFill>
                  <a:srgbClr val="354465"/>
                </a:solidFill>
                <a:latin typeface="Montserrat"/>
              </a:defRPr>
            </a:pPr>
            <a:r>
              <a:t>Validation : Les tests automatisés confirment qu'aucun correctif de sécurité n'a cassé le fonctionnement de l'application.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Overrides Appliqués pour Résoudre les Failles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 Patches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59" y="2057400"/>
          <a:ext cx="16641622" cy="5212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017520"/>
                <a:gridCol w="3017520"/>
                <a:gridCol w="4114800"/>
                <a:gridCol w="4434382"/>
              </a:tblGrid>
              <a:tr h="744582">
                <a:tc>
                  <a:txBody>
                    <a:bodyPr/>
                    <a:lstStyle/>
                    <a:p>
                      <a:pPr algn="l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Application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Package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Version Vulnérable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Version Appliquée (Override)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75" b="1">
                          <a:solidFill>
                            <a:srgbClr val="FFFFFF"/>
                          </a:solidFill>
                          <a:latin typeface="Montserrat Ultra-Bold"/>
                        </a:defRPr>
                      </a:pPr>
                      <a:r>
                        <a:t>Risque de la Faille</a:t>
                      </a:r>
                    </a:p>
                  </a:txBody>
                  <a:tcPr marL="205739" marR="205739" marT="137160" marB="137160" anchor="ctr">
                    <a:solidFill>
                      <a:srgbClr val="002843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Backend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qs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6.15.1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6.15.2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Pollution de prototype de requêtes HTTP.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Backend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brace-expansion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5.0.5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5.0.6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Déni de service (DoS) par expression régulière.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Backend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esbuild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0.18.20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0.25.12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Exposition à des injections de scripts au build.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Frontend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postcss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8.4.49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8.5.13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Exécution de code arbitraire par injection CSS.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Frontend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ws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8.20.0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8.20.1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Crash de serveur par paquet websocket malveillant.</a:t>
                      </a:r>
                    </a:p>
                  </a:txBody>
                  <a:tcPr marL="205739" marR="205739" marT="109728" marB="109728" anchor="ctr">
                    <a:solidFill>
                      <a:srgbClr val="FFFFFF"/>
                    </a:solidFill>
                  </a:tcPr>
                </a:tc>
              </a:tr>
              <a:tr h="744587">
                <a:tc>
                  <a:txBody>
                    <a:bodyPr/>
                    <a:lstStyle/>
                    <a:p>
                      <a:pPr algn="l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Frontend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uuid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7.0.3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11.1.1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25">
                          <a:solidFill>
                            <a:srgbClr val="1C1C1A"/>
                          </a:solidFill>
                          <a:latin typeface="Montserrat"/>
                        </a:defRPr>
                      </a:pPr>
                      <a:r>
                        <a:t>Faiblesse de génération de nombres aléatoires.</a:t>
                      </a:r>
                    </a:p>
                  </a:txBody>
                  <a:tcPr marL="205739" marR="205739" marT="109728" marB="109728" anchor="ctr">
                    <a:solidFill>
                      <a:srgbClr val="F1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59" y="7680959"/>
            <a:ext cx="16459200" cy="82295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1">
                <a:solidFill>
                  <a:srgbClr val="354465"/>
                </a:solidFill>
                <a:latin typeface="Montserrat"/>
              </a:defRPr>
            </a:pPr>
            <a:r>
              <a:t>Note : Forcer les versions (overrides) résout le problème aujourd'hui, mais bloque les futures mises à jour automatiques. Il faudra les retirer quand les frameworks (Expo, Express) se mettront à jour.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Focus sur deux failles critiques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Vulnerability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E11D48"/>
                </a:solidFill>
                <a:latin typeface="Montserrat Ultra-Bold"/>
              </a:defRPr>
            </a:pPr>
            <a:r>
              <a:t>Faille 'qs' (Pollution de Prototype)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Explication : La bibliothèque 'qs' analyse les paramètres des URLs envoyés au serveur.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Le risque : Un attaquant peut injecter des propriétés système dans l'URL (ex: ?foo[__proto__][bar]=value).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Conséquences : Cela permet de modifier le comportement interne de Node.js, pouvant provoquer un crash du serveur ou contourner les contrôles d'accès.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Solution : Mise à jour forcée vers la version 6.15.2 qui bloque ces requêtes.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E11D48"/>
                </a:solidFill>
                <a:latin typeface="Montserrat Ultra-Bold"/>
              </a:defRPr>
            </a:pPr>
            <a:r>
              <a:t>Faille 'ws' (Crash des WebSockets)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Explication : Le package 'ws' gère la connexion temps réel du serveur de développement Metro.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Le risque : Un utilisateur malveillant peut envoyer un paquet d'initialisation corrompu au serveur.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Conséquences : Le serveur Metro crashe immédiatement, bloquant le travail de toute l'équipe de développement.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Solution : Passage forcé à la version 8.20.1 qui ignore proprement les paquets corrompus.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Sécurité des Secrets et Variables d'Environnement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 Axis: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3BA80D"/>
                </a:solidFill>
                <a:latin typeface="Montserrat Ultra-Bold"/>
              </a:defRPr>
            </a:pPr>
            <a:r>
              <a:t>Sécurité actuelle des variables d'environnement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Vérification Zod : Le serveur vérifie la présence de toutes les clés au démarrage (src/config/env.ts).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Blocage de sécurité : Si le mot de passe de la BDD ou la clé JWT manquent, le serveur s'arrête immédiatement avec une alerte claire.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Format vérifié : Zod s'assure qu'un port est bien un chiffre et non du texte, empêchant l'injection de scripts.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E11D48"/>
                </a:solidFill>
                <a:latin typeface="Montserrat Ultra-Bold"/>
              </a:defRPr>
            </a:pPr>
            <a:r>
              <a:t>Risques et points de vigilance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Secrets dans le code : Le mot de passe de la base de données et la clé de sécurité JWT sont écrits en clair dans les fichiers docker-compose.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Risque de fuite : Envoyer ces fichiers sur GitHub expose les accès de l'application.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Solution : Utiliser des variables externes (ex: ${JWT_SECRET}) et les charger depuis un gestionnaire de mots de passe sécurisé (comme Vault ou 1Password).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Stockage du Token de Session sur le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 Axis: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E11D48"/>
                </a:solidFill>
                <a:latin typeface="Montserrat Ultra-Bold"/>
              </a:defRPr>
            </a:pPr>
            <a:r>
              <a:t>Le problème : stockage en clair sur le téléphone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Fonctionnement actuel : Le jeton JWT de la session est enregistré sans chiffrement dans l'AsyncStorage d'Expo.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Risque : AsyncStorage écrit les données en texte brut dans un fichier sur le disque du téléphone.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Vol de session : Si le téléphone est rooté ou infecté, un pirate peut récupérer ce fichier et se connecter à la place de l'utilisateur.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La solution : chiffrer avec SecureStore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Correction : Remplacer AsyncStorage par expo-secure-store pour stocker le jeton.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Chiffrement matériel : Secure Store utilise les puces de sécurité du téléphone :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iOS : Chiffrement matériel par le Trousseau iOS.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Android : Chiffrement AES-256 par le KeyStore Android.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Résultat : Les jetons sont chiffrés au niveau matériel et inaccessibles aux autres applications.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Cycle de vie du JWT : Faille de Révocation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 Axis: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E11D48"/>
                </a:solidFill>
                <a:latin typeface="Montserrat Ultra-Bold"/>
              </a:defRPr>
            </a:pPr>
            <a:r>
              <a:t>Le problème : déconnexion uniquement locale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Fonctionnement actuel : Lors du logout, l'application efface le jeton sur le téléphone mais ne prévient pas le serveur.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Faille : Le jeton reste valide et utilisable côté serveur pendant 24 heures après la déconnexion.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Risque d'usurpation : Si quelqu'un a copié le jeton avant la déconnexion, il peut continuer à utiliser l'API pendant 24h.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La solution : révoquer les jetons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Option 1 (Blacklist) : Enregistrer les jetons déconnectés dans une base rapide (Redis). Si un jeton est dans cette liste noire, le serveur le rejette.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Option 2 (Jetons courts) : Limiter la durée du jeton à 15 minutes et utiliser un cookie de rafraîchissement sécurisé pour renouveler la session en arrière-plan.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Résultat : Empêche toute réutilisation d'une session après déconnexion.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Contrôle d'Accès Multi-Tenant et 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 Axis: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3BA80D"/>
                </a:solidFill>
                <a:latin typeface="Montserrat Ultra-Bold"/>
              </a:defRPr>
            </a:pPr>
            <a:r>
              <a:t>Isolation des données clients (Multi-Tenant)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Bonne isolation des données : L'accès aux devis et factures est protégé par deux barrières :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  - Contrôle d'accès : Un filtre vérifie systématiquement que l'utilisateur appartient bien à l'entreprise demandée.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  - Vérification du devis : Le code vérifie que le devis appartient bien à l'organisation en cours.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Résultat : Aucun risque qu'un utilisateur de l'entreprise A puisse lire ou modifier les données de l'entreprise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3BA80D"/>
                </a:solidFill>
                <a:latin typeface="Montserrat Ultra-Bold"/>
              </a:defRPr>
            </a:pPr>
            <a:r>
              <a:t>Gestion des rôles dans l'application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Trois niveaux d'accès : Gestion des rôles propriétaire (owner), administrateur (admin) et membre.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Protection des actions sensibles : Les actions d'administration (ex: suppression de compte) sont bloquées pour les membres simples.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Sécurité garantie : La vérification est faite côté serveur, ce qui empêche de contourner les droits en modifiant le code de l'application mobile.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Sécurité du Transport HTTP &amp; Politique CORS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 Axis: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E11D48"/>
                </a:solidFill>
                <a:latin typeface="Montserrat Ultra-Bold"/>
              </a:defRPr>
            </a:pPr>
            <a:r>
              <a:t>Chiffrement des connexions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HTTP en clair : En local, l'application communique en HTTP (non sécurisé). Les jetons de session transitent sans chiffrement.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Production : HTTPS obligatoire avec la dernière version de chiffrement TLS 1.3.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En-têtes de sécurité HTTP : Activer le module 'Helmet' sur le serveur pour durcir la configuration globale.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E11D48"/>
                </a:solidFill>
                <a:latin typeface="Montserrat Ultra-Bold"/>
              </a:defRPr>
            </a:pPr>
            <a:r>
              <a:t>Règles de partage de ressources (CORS)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Erreur CORS : La configuration de production est réglée sur false par erreur.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Blocage en production : Cette erreur bloque tout accès à l'API pour l'application mobile en production.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Correction : Remplacer false par l'adresse réelle de l'application (ex: https://app.mydash.fr).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Feuille de Route pour le Durcissement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4059936"/>
            <a:ext cx="16641622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468879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C466"/>
                </a:solidFill>
                <a:latin typeface="Montserrat Ultra-Bold"/>
              </a:defRPr>
            </a:pPr>
            <a:r>
              <a:t>Migration SecureStore &amp; CORS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11780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Chiffrer le jeton de session sur le téléphone avec expo-secure-store. Mettre l'adresse réelle du serveur API dans les règles CORS de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4526279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6528815"/>
            <a:ext cx="1664162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937758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800599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7B80"/>
                </a:solidFill>
                <a:latin typeface="Montserrat Ultra-Bold"/>
              </a:defRPr>
            </a:pPr>
            <a:r>
              <a:t>En-têtes de sécurité (Helmet) &amp; HTTPS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280659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Ajouter le module Helmet sur le serveur. Forcer la redirection vers HTTPS et activer le chiffrement TLS 1.3.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6995159"/>
            <a:ext cx="1664162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8997695"/>
            <a:ext cx="1664162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7406638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7269479"/>
            <a:ext cx="1440180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800" b="1" i="0">
                <a:solidFill>
                  <a:srgbClr val="002843"/>
                </a:solidFill>
                <a:latin typeface="Montserrat Ultra-Bold"/>
              </a:defRPr>
            </a:pPr>
            <a:r>
              <a:t>Cycle de vie JWT : Blacklist au logout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7749539"/>
            <a:ext cx="14401800" cy="12344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575" b="0" i="0">
                <a:solidFill>
                  <a:srgbClr val="354465"/>
                </a:solidFill>
                <a:latin typeface="Montserrat"/>
              </a:defRPr>
            </a:pPr>
            <a:r>
              <a:t>Créer un système de liste noire des jetons déconnectés sur le serveur (via une base de données rapide Redis).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Couverture des Tests et Validation (QA)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Quality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Qualité du code et tests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Tests unitaires et E2E : Le serveur est testé en profondeur avec l'outil Vitest.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Bilan : 89 fichiers analysés, 614 tests passés avec succès (0 échec).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Compilation : La vérification TypeScript (typecheck) passe sans aucune erreur.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Qualité du code : Zéro avertissement ou erreur de style (ESLint).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Qualité du code et tests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Tests : La structure de l'application est validée par des tests unitaires.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Qualité du code : Zéro erreur de formatage ou de syntaxe.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Robustesse : L'application gère correctement la perte de connexion internet (NetInfo) et le chargement asynchrone des données.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Axe de vulnérabilité : Injection et Robustesse XSS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Security: Input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Test de vulnérabilité XSS (Injection de 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Test effectué : Saisie d'un script malveillant dans le nom de l'entreprise :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`Audit UX &lt;script&gt;alert('xss')&lt;/script&gt;`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Réaction de l'application : Le framework (React Native) ne possédant pas de moteur de rendu HTML natif, le code injecté est ignoré.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Résultat : Le script s'affiche comme une chaîne de caractères inoffensive. Aucun piratage n'est possible sur l'appareil mobile.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Risque restant : Le texte malveillant est quand même stocké en base de données, ce qui pourrait poser problème à d'autres logiciels connectés.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Comment éliminer tout risque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Filtrage obligatoire : Même si l'app mobile est protégée, le serveur (Express) doit nettoyer le texte avant de l'enregistrer en BDD.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Correction : Configurer Zod pour interdire les symboles &lt;, &gt; et / dans les champs texte sensibles.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Focus Injection PDF (Vulnérabilité PDFKit)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Security: PDF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E11D48"/>
                </a:solidFill>
                <a:latin typeface="Montserrat Ultra-Bold"/>
              </a:defRPr>
            </a:pPr>
            <a:r>
              <a:t>Le problème : caractères non supportés par le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Fonctionnement : Le serveur génère les devis et factures PDF avec le module PDFKit.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Le risque : Les textes saisis par l'utilisateur sont copiés directement dans le PDFKit sans filtre.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Crash du service : L'injection de symboles de contrôle de PDFKit peut casser la mise en page ou faire crasher l'application.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Solutions et Recommandations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Crash de police (Font Crash) : Si l'utilisateur saisit des caractères non supportés (comme des emojis), la génération du PDF plante instantanément.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Correction : Nettoyer les textes avant de générer le PDF et charger une police qui supporte tous les caractères spéciaux.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Test : Ajouter un test automatique de génération de PDF contenant des caractères spéciaux.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Preuves : Initialisation et Création Prospect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Workflow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7B80"/>
                </a:solidFill>
                <a:latin typeface="Montserrat Ultra-Bold"/>
              </a:defRPr>
            </a:pPr>
            <a:r>
              <a:t>Étape 1 : Tableau de bord initialisé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7132320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Affichage du tableau de bord au démarrage avec les données de test.</a:t>
            </a:r>
          </a:p>
        </p:txBody>
      </p:sp>
      <p:pic>
        <p:nvPicPr>
          <p:cNvPr id="10" name="Picture 9" descr="01-dashboard-seeded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9" y="3497579"/>
            <a:ext cx="2743200" cy="534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59" y="2331720"/>
            <a:ext cx="726947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2843"/>
                </a:solidFill>
                <a:latin typeface="Montserrat Ultra-Bold"/>
              </a:defRPr>
            </a:pPr>
            <a:r>
              <a:t>Étape 2 : Formulaire de création prospect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2743200"/>
            <a:ext cx="7269479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Saisie du profil d'un nouveau client (Audit Mobile) avec ses numéros de TVA, SIRET et SIREN.</a:t>
            </a:r>
          </a:p>
        </p:txBody>
      </p:sp>
      <p:pic>
        <p:nvPicPr>
          <p:cNvPr id="15" name="Picture 14" descr="03-company-create-filled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19" y="3497579"/>
            <a:ext cx="27432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Preuves : Client créé et Ligne de Devis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Workflow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7B80"/>
                </a:solidFill>
                <a:latin typeface="Montserrat Ultra-Bold"/>
              </a:defRPr>
            </a:pPr>
            <a:r>
              <a:t>Étape 3 : Fiche Prospect générée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7132320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Le client apparaît bien dans la liste. La création en base est confirmée.</a:t>
            </a:r>
          </a:p>
        </p:txBody>
      </p:sp>
      <p:pic>
        <p:nvPicPr>
          <p:cNvPr id="10" name="Picture 9" descr="04-company-created-prospect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9" y="3497579"/>
            <a:ext cx="2743200" cy="534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59" y="2331720"/>
            <a:ext cx="726947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2843"/>
                </a:solidFill>
                <a:latin typeface="Montserrat Ultra-Bold"/>
              </a:defRPr>
            </a:pPr>
            <a:r>
              <a:t>Étape 4 : Ajout de ligne sur le devis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2743200"/>
            <a:ext cx="7269479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Ajout d'une prestation dans le devis (choix de la quantité, du prix unitaire et de la TVA).</a:t>
            </a:r>
          </a:p>
        </p:txBody>
      </p:sp>
      <p:pic>
        <p:nvPicPr>
          <p:cNvPr id="15" name="Picture 14" descr="05-quote-line-filled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19" y="3497579"/>
            <a:ext cx="27432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Preuves : Détails du Devis et Envoi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Workflow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7B80"/>
                </a:solidFill>
                <a:latin typeface="Montserrat Ultra-Bold"/>
              </a:defRPr>
            </a:pPr>
            <a:r>
              <a:t>Étape 5 : Ligne ajoutée au devis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7132320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Le devis se met à jour instantanément avec les totaux HT, TVA et TTC calculés.</a:t>
            </a:r>
          </a:p>
        </p:txBody>
      </p:sp>
      <p:pic>
        <p:nvPicPr>
          <p:cNvPr id="10" name="Picture 9" descr="06-quote-line-added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9" y="3497579"/>
            <a:ext cx="2743200" cy="534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59" y="2331720"/>
            <a:ext cx="726947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2843"/>
                </a:solidFill>
                <a:latin typeface="Montserrat Ultra-Bold"/>
              </a:defRPr>
            </a:pPr>
            <a:r>
              <a:t>Étape 6 : Validation de l'envoi du devis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2743200"/>
            <a:ext cx="7269479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Le devis passe en statut 'Envoyé'. La date d'envoi est enregistrée en BDD.</a:t>
            </a:r>
          </a:p>
        </p:txBody>
      </p:sp>
      <p:pic>
        <p:nvPicPr>
          <p:cNvPr id="15" name="Picture 14" descr="07-quote-sent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19" y="3497579"/>
            <a:ext cx="27432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Preuves : Détails Devis Envoyé et Acceptation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Workflow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7B80"/>
                </a:solidFill>
                <a:latin typeface="Montserrat Ultra-Bold"/>
              </a:defRPr>
            </a:pPr>
            <a:r>
              <a:t>Étape 7 : Consultation du devis envoyé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7132320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Aperçu du devis finalisé, prêt à être signé par le client.</a:t>
            </a:r>
          </a:p>
        </p:txBody>
      </p:sp>
      <p:pic>
        <p:nvPicPr>
          <p:cNvPr id="10" name="Picture 9" descr="08-quote-sent-before-accept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9" y="3497579"/>
            <a:ext cx="2743200" cy="534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59" y="2331720"/>
            <a:ext cx="726947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2843"/>
                </a:solidFill>
                <a:latin typeface="Montserrat Ultra-Bold"/>
              </a:defRPr>
            </a:pPr>
            <a:r>
              <a:t>Étape 8 : Acceptation du devis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2743200"/>
            <a:ext cx="7269479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Le devis est validé. Une facture 'À envoyer' est générée automatiquement en arrière-plan.</a:t>
            </a:r>
          </a:p>
        </p:txBody>
      </p:sp>
      <p:pic>
        <p:nvPicPr>
          <p:cNvPr id="15" name="Picture 14" descr="09-quote-accepted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19" y="3497579"/>
            <a:ext cx="27432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Preuves : Liste des Factures et Paiement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Workflow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7B80"/>
                </a:solidFill>
                <a:latin typeface="Montserrat Ultra-Bold"/>
              </a:defRPr>
            </a:pPr>
            <a:r>
              <a:t>Étape 9 : Liste des factures mise à 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7132320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La facture s'ajoute bien à la liste générale des factures.</a:t>
            </a:r>
          </a:p>
        </p:txBody>
      </p:sp>
      <p:pic>
        <p:nvPicPr>
          <p:cNvPr id="10" name="Picture 9" descr="10-invoices-after-quote-accept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9" y="3497579"/>
            <a:ext cx="2743200" cy="534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59" y="2331720"/>
            <a:ext cx="726947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2843"/>
                </a:solidFill>
                <a:latin typeface="Montserrat Ultra-Bold"/>
              </a:defRPr>
            </a:pPr>
            <a:r>
              <a:t>Étape 10 : Formulaire d'enregistrement de règlement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2743200"/>
            <a:ext cx="7269479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Saisie d'un paiement de 48 € reçu par virement bancaire pour cette facture.</a:t>
            </a:r>
          </a:p>
        </p:txBody>
      </p:sp>
      <p:pic>
        <p:nvPicPr>
          <p:cNvPr id="15" name="Picture 14" descr="11-payment-filled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19" y="3497579"/>
            <a:ext cx="27432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Preuves : Facture payée 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Workflow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7B80"/>
                </a:solidFill>
                <a:latin typeface="Montserrat Ultra-Bold"/>
              </a:defRPr>
            </a:pPr>
            <a:r>
              <a:t>Étape 11 : Facture acquittée (Payée)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7132320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La facture passe en statut 'Payée' après enregistrement du virement.</a:t>
            </a:r>
          </a:p>
        </p:txBody>
      </p:sp>
      <p:pic>
        <p:nvPicPr>
          <p:cNvPr id="10" name="Picture 9" descr="12-invoice-paid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9" y="3497579"/>
            <a:ext cx="2743200" cy="534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59" y="2331720"/>
            <a:ext cx="7269479" cy="411479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1" i="0">
                <a:solidFill>
                  <a:srgbClr val="002843"/>
                </a:solidFill>
                <a:latin typeface="Montserrat Ultra-Bold"/>
              </a:defRPr>
            </a:pPr>
            <a:r>
              <a:t>Étape 12 : Dashboard mis à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2743200"/>
            <a:ext cx="7269479" cy="6858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425" b="0" i="0">
                <a:solidFill>
                  <a:srgbClr val="354465"/>
                </a:solidFill>
                <a:latin typeface="Montserrat"/>
              </a:defRPr>
            </a:pPr>
            <a:r>
              <a:t>Le tableau de bord est recalculé et intègre immédiatement ce nouvel encaissement.</a:t>
            </a:r>
          </a:p>
        </p:txBody>
      </p:sp>
      <p:pic>
        <p:nvPicPr>
          <p:cNvPr id="15" name="Picture 14" descr="13-dashboard-after-workflow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19" y="3497579"/>
            <a:ext cx="27432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Preuves : Intégrité des écritures en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Workflow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Intégrité des données en base (Drizzle)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Cohérence relationnelle : L'acceptation du devis `DEV-2026-001` a forcé la création de la facture `FAC-2026-002` avec une parfaite correspondance des totaux financiers (subtotalHtCents et totalTtcCents).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Historique : L'enregistrement du paiement a généré une ligne dans la table `payments` liée à `invoices.id`, incrémentant le champ `paid_amount_cents` de la facture.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Stateless : Les snapshots JSONB de l'émetteur et du client ont été correctement enregistrés, garantissant que toute modification ultérieure du SIRET du client ne corrompra pas la facture existante.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Flux des requêtes API observées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Authentification : Envoi de `POST /auth/login` -&gt; retour du token d'accès.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Création : Envoi de `POST /organizations/:id/companies` pour créer le client.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Ajout de ligne : Envoi de `POST /organizations/:id/quotes/:id/add-line`.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Transition devis : `POST .../accept` -&gt; déclenchement de la création de la facture.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Clôture : `POST .../add-payment` -&gt; mise à jour du statut en base de données.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Toutes les requêtes ont été validées à l'état HTTP 200/201 (0 échec réseau).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Plan d'action Court Terme (J+1 à J+2)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8137702" cy="3291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5157215"/>
            <a:ext cx="8137702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8" y="2331720"/>
            <a:ext cx="74066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C466"/>
                </a:solidFill>
                <a:latin typeface="Montserrat Ultra-Bold"/>
              </a:defRPr>
            </a:pPr>
            <a:r>
              <a:t>Correction colorKit (P0)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8" y="3017519"/>
            <a:ext cx="7406640" cy="20574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0">
                <a:solidFill>
                  <a:srgbClr val="354465"/>
                </a:solidFill>
                <a:latin typeface="Montserrat"/>
              </a:defRPr>
            </a:pPr>
            <a:r>
              <a:t>Remplacer le module colorKit par une liste statique de couleurs en dur (hexadécimal) pour arrêter les crashs de graphiques.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3291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5157215"/>
            <a:ext cx="813770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4066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7B80"/>
                </a:solidFill>
                <a:latin typeface="Montserrat Ultra-Bold"/>
              </a:defRPr>
            </a:pPr>
            <a:r>
              <a:t>Sûreté CORS en prod (P0)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19"/>
            <a:ext cx="7406640" cy="20574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0">
                <a:solidFill>
                  <a:srgbClr val="354465"/>
                </a:solidFill>
                <a:latin typeface="Montserrat"/>
              </a:defRPr>
            </a:pPr>
            <a:r>
              <a:t>Configurer le vrai domaine de production dans src/config/cors.ts au lieu de retourner 'false' (qui bloque tout).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5760720"/>
            <a:ext cx="8137702" cy="3291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" y="8860535"/>
            <a:ext cx="8137702" cy="192024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8" y="6035040"/>
            <a:ext cx="74066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4259"/>
                </a:solidFill>
                <a:latin typeface="Montserrat Ultra-Bold"/>
              </a:defRPr>
            </a:pPr>
            <a:r>
              <a:t>Nettoyage warnings console (P1)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38" y="6720839"/>
            <a:ext cx="7406640" cy="20574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0">
                <a:solidFill>
                  <a:srgbClr val="354465"/>
                </a:solidFill>
                <a:latin typeface="Montserrat"/>
              </a:defRPr>
            </a:pPr>
            <a:r>
              <a:t>Corriger les propriétés de style obsolètes (shadows, pointerEvents) et les avertissements de dépendances pour assainir les logs en dev.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5760720"/>
            <a:ext cx="8137702" cy="3291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8860535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59" y="6035040"/>
            <a:ext cx="74066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2843"/>
                </a:solidFill>
                <a:latin typeface="Montserrat Ultra-Bold"/>
              </a:defRPr>
            </a:pPr>
            <a:r>
              <a:t>Mise en conformité SecureStore (P0)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59" y="6720839"/>
            <a:ext cx="7406640" cy="20574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0">
                <a:solidFill>
                  <a:srgbClr val="354465"/>
                </a:solidFill>
                <a:latin typeface="Montserrat"/>
              </a:defRPr>
            </a:pPr>
            <a:r>
              <a:t>Utiliser expo-secure-store à la place d'AsyncStorage pour chiffrer le jeton de connexion au niveau matériel.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Plan d'action Moyen Terme (S1 à S2)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8137702" cy="3291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5157215"/>
            <a:ext cx="8137702" cy="192024"/>
          </a:xfrm>
          <a:prstGeom prst="rect">
            <a:avLst/>
          </a:prstGeom>
          <a:solidFill>
            <a:srgbClr val="00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8" y="2331720"/>
            <a:ext cx="74066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C466"/>
                </a:solidFill>
                <a:latin typeface="Montserrat Ultra-Bold"/>
              </a:defRPr>
            </a:pPr>
            <a:r>
              <a:t>Comptage SQL optimisé (P0)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8" y="3017519"/>
            <a:ext cx="7406640" cy="20574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0">
                <a:solidFill>
                  <a:srgbClr val="354465"/>
                </a:solidFill>
                <a:latin typeface="Montserrat"/>
              </a:defRPr>
            </a:pPr>
            <a:r>
              <a:t>Remplacer rows.length par un count() natif en SQL dans les repositories de devis et factures.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3291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5157215"/>
            <a:ext cx="8137702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4066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7B80"/>
                </a:solidFill>
                <a:latin typeface="Montserrat Ultra-Bold"/>
              </a:defRPr>
            </a:pPr>
            <a:r>
              <a:t>Création des index btree (P1)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19"/>
            <a:ext cx="7406640" cy="20574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0">
                <a:solidFill>
                  <a:srgbClr val="354465"/>
                </a:solidFill>
                <a:latin typeface="Montserrat"/>
              </a:defRPr>
            </a:pPr>
            <a:r>
              <a:t>Ajouter des index sur toutes les clés étrangères du schéma Drizzle pour accélérer les jointures sous Postgres.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5760720"/>
            <a:ext cx="8137702" cy="3291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" y="8860535"/>
            <a:ext cx="8137702" cy="192024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8" y="6035040"/>
            <a:ext cx="74066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4259"/>
                </a:solidFill>
                <a:latin typeface="Montserrat Ultra-Bold"/>
              </a:defRPr>
            </a:pPr>
            <a:r>
              <a:t>Tests de non-régression (P1)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38" y="6720839"/>
            <a:ext cx="7406640" cy="20574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0">
                <a:solidFill>
                  <a:srgbClr val="354465"/>
                </a:solidFill>
                <a:latin typeface="Montserrat"/>
              </a:defRPr>
            </a:pPr>
            <a:r>
              <a:t>Mettre en place reassure pour mesurer en continu le rendu des composants et éviter les régressions de performance sur les builds de release.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5760720"/>
            <a:ext cx="8137702" cy="3291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8860535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59" y="6035040"/>
            <a:ext cx="740664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950" b="1" i="0">
                <a:solidFill>
                  <a:srgbClr val="002843"/>
                </a:solidFill>
                <a:latin typeface="Montserrat Ultra-Bold"/>
              </a:defRPr>
            </a:pPr>
            <a:r>
              <a:t>Blacklist de révocation (P1)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59" y="6720839"/>
            <a:ext cx="7406640" cy="205740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1650" b="0" i="0">
                <a:solidFill>
                  <a:srgbClr val="354465"/>
                </a:solidFill>
                <a:latin typeface="Montserrat"/>
              </a:defRPr>
            </a:pPr>
            <a:r>
              <a:t>Créer une API de déconnexion côté serveur pour révoquer réellement les jetons (via une blacklist Redis).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solidFill>
            <a:srgbClr val="F1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754380"/>
            <a:ext cx="1618488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C1C1A"/>
                </a:solidFill>
                <a:latin typeface="Montserrat Ultra-Bold"/>
              </a:defRPr>
            </a:pPr>
            <a:r>
              <a:t>Limites de l'Audit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77339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50" b="0">
                <a:solidFill>
                  <a:srgbClr val="354465"/>
                </a:solidFill>
                <a:latin typeface="Montserrat Light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342" y="9601200"/>
            <a:ext cx="10972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500">
                <a:solidFill>
                  <a:srgbClr val="354465"/>
                </a:solidFill>
                <a:latin typeface="Montserrat Light"/>
              </a:defRPr>
            </a:pPr>
            <a: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057400"/>
            <a:ext cx="7955279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8997696"/>
            <a:ext cx="7955279" cy="192024"/>
          </a:xfrm>
          <a:prstGeom prst="rect">
            <a:avLst/>
          </a:prstGeom>
          <a:solidFill>
            <a:srgbClr val="00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7132320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7B80"/>
                </a:solidFill>
                <a:latin typeface="Montserrat Ultra-Bold"/>
              </a:defRPr>
            </a:pPr>
            <a:r>
              <a:t>Limites de l'audit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7132320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Conditions réseau optimales : L'absence de goulot d'étranglement côté API locale (p95 &lt; 25ms) doit être tempérée par l'absence de latence réseau réelle et de charge concurrente en environnement Docker local.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Volume de données restreint : L'évaluation a été menée avec le seed d'audit initial. Les requêtes PostgreSQL SQL complexes d'agrégation devront être testées avec 100 000 lignes pour simuler la charge réelle.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Environnement de dev : Les métriques frontend mesurent le comportement du serveur de développement Metro, plus lourd que le bundle de production final.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057400"/>
            <a:ext cx="8137702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8997696"/>
            <a:ext cx="8137702" cy="192024"/>
          </a:xfrm>
          <a:prstGeom prst="rect">
            <a:avLst/>
          </a:prstGeom>
          <a:solidFill>
            <a:srgbClr val="00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2331720"/>
            <a:ext cx="7269479" cy="548640"/>
          </a:xfrm>
          <a:prstGeom prst="rect">
            <a:avLst/>
          </a:prstGeom>
          <a:noFill/>
        </p:spPr>
        <p:txBody>
          <a:bodyPr wrap="square" tIns="13716" bIns="13716" lIns="13716" rIns="13716">
            <a:spAutoFit/>
          </a:bodyPr>
          <a:lstStyle/>
          <a:p>
            <a:pPr algn="l">
              <a:defRPr sz="2100" b="1" i="0">
                <a:solidFill>
                  <a:srgbClr val="002843"/>
                </a:solidFill>
                <a:latin typeface="Montserrat Ultra-Bold"/>
              </a:defRPr>
            </a:pPr>
            <a:r>
              <a:t>Conclusion et Prochaines Étape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59" y="3017520"/>
            <a:ext cx="7269479" cy="5897879"/>
          </a:xfrm>
          <a:prstGeom prst="rect">
            <a:avLst/>
          </a:prstGeom>
          <a:noFill/>
        </p:spPr>
        <p:txBody>
          <a:bodyPr wrap="square" tIns="27432" bIns="27432" lIns="27432" rIns="27432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Bilan Positif : MyDash possède une architecture backend saine et robuste, dotée d'une très bonne couverture de tests (614 tests passés) et d'un typage strict.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Priorité d'ingénierie : La priorité absolue pour rendre l'application exploitable est d'optimiser le frontend (minification et résolution de l'export de production) et d'élever les règles de sécurité session (Secure Store, blacklist au logout).</a:t>
            </a:r>
          </a:p>
          <a:p>
            <a:pPr>
              <a:spcAft>
                <a:spcPts val="900"/>
              </a:spcAft>
              <a:defRPr sz="1650">
                <a:solidFill>
                  <a:srgbClr val="1C1C1A"/>
                </a:solidFill>
                <a:latin typeface="Montserrat"/>
              </a:defRPr>
            </a:pPr>
            <a:r>
              <a:t>•  Prochaines étapes : Appliquer les correctifs court terme (J+1/J+2), lancer un audit de charge sur l'API et valider le comportement sur un build de production déployé.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