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T Hoves Bold" charset="1" panose="02000003020000060003"/>
      <p:regular r:id="rId18"/>
    </p:embeddedFont>
    <p:embeddedFont>
      <p:font typeface="TT Hoves" charset="1" panose="02000003020000060003"/>
      <p:regular r:id="rId19"/>
    </p:embeddedFont>
    <p:embeddedFont>
      <p:font typeface="Montserrat Ultra-Bold" charset="1" panose="00000900000000000000"/>
      <p:regular r:id="rId20"/>
    </p:embeddedFont>
    <p:embeddedFont>
      <p:font typeface="Montserrat" charset="1" panose="00000500000000000000"/>
      <p:regular r:id="rId21"/>
    </p:embeddedFont>
    <p:embeddedFont>
      <p:font typeface="Montserrat Bold" charset="1" panose="00000800000000000000"/>
      <p:regular r:id="rId22"/>
    </p:embeddedFont>
    <p:embeddedFont>
      <p:font typeface="Montserrat Light" charset="1" panose="000004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media/image49.png" Type="http://schemas.openxmlformats.org/officeDocument/2006/relationships/image"/><Relationship Id="rId13" Target="../media/image5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51.png" Type="http://schemas.openxmlformats.org/officeDocument/2006/relationships/image"/><Relationship Id="rId17" Target="../media/image52.svg" Type="http://schemas.openxmlformats.org/officeDocument/2006/relationships/image"/><Relationship Id="rId18" Target="../media/image53.png" Type="http://schemas.openxmlformats.org/officeDocument/2006/relationships/image"/><Relationship Id="rId19" Target="../media/image54.svg" Type="http://schemas.openxmlformats.org/officeDocument/2006/relationships/image"/><Relationship Id="rId2" Target="../media/image39.png" Type="http://schemas.openxmlformats.org/officeDocument/2006/relationships/image"/><Relationship Id="rId20" Target="../media/image55.png" Type="http://schemas.openxmlformats.org/officeDocument/2006/relationships/image"/><Relationship Id="rId21" Target="../media/image56.svg" Type="http://schemas.openxmlformats.org/officeDocument/2006/relationships/image"/><Relationship Id="rId22" Target="../media/image57.png" Type="http://schemas.openxmlformats.org/officeDocument/2006/relationships/image"/><Relationship Id="rId23" Target="../media/image58.sv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7.png" Type="http://schemas.openxmlformats.org/officeDocument/2006/relationships/image"/><Relationship Id="rId11" Target="../media/image68.svg" Type="http://schemas.openxmlformats.org/officeDocument/2006/relationships/image"/><Relationship Id="rId12" Target="../media/image69.png" Type="http://schemas.openxmlformats.org/officeDocument/2006/relationships/image"/><Relationship Id="rId13" Target="../media/image70.svg" Type="http://schemas.openxmlformats.org/officeDocument/2006/relationships/image"/><Relationship Id="rId14" Target="../media/image71.png" Type="http://schemas.openxmlformats.org/officeDocument/2006/relationships/image"/><Relationship Id="rId15" Target="../media/image72.svg" Type="http://schemas.openxmlformats.org/officeDocument/2006/relationships/image"/><Relationship Id="rId2" Target="../media/image59.png" Type="http://schemas.openxmlformats.org/officeDocument/2006/relationships/image"/><Relationship Id="rId3" Target="../media/image60.sv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 Id="rId6" Target="../media/image63.png" Type="http://schemas.openxmlformats.org/officeDocument/2006/relationships/image"/><Relationship Id="rId7" Target="../media/image64.svg" Type="http://schemas.openxmlformats.org/officeDocument/2006/relationships/image"/><Relationship Id="rId8" Target="../media/image65.png" Type="http://schemas.openxmlformats.org/officeDocument/2006/relationships/image"/><Relationship Id="rId9" Target="../media/image6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1.png" Type="http://schemas.openxmlformats.org/officeDocument/2006/relationships/image"/><Relationship Id="rId11" Target="../media/image82.svg" Type="http://schemas.openxmlformats.org/officeDocument/2006/relationships/image"/><Relationship Id="rId12" Target="../media/image83.png" Type="http://schemas.openxmlformats.org/officeDocument/2006/relationships/image"/><Relationship Id="rId13" Target="../media/image84.svg" Type="http://schemas.openxmlformats.org/officeDocument/2006/relationships/image"/><Relationship Id="rId14" Target="../media/image85.png" Type="http://schemas.openxmlformats.org/officeDocument/2006/relationships/image"/><Relationship Id="rId15" Target="../media/image86.svg" Type="http://schemas.openxmlformats.org/officeDocument/2006/relationships/image"/><Relationship Id="rId16" Target="../media/image87.png" Type="http://schemas.openxmlformats.org/officeDocument/2006/relationships/image"/><Relationship Id="rId17" Target="../media/image88.svg" Type="http://schemas.openxmlformats.org/officeDocument/2006/relationships/image"/><Relationship Id="rId18" Target="../media/image89.png" Type="http://schemas.openxmlformats.org/officeDocument/2006/relationships/image"/><Relationship Id="rId19" Target="../media/image90.svg" Type="http://schemas.openxmlformats.org/officeDocument/2006/relationships/image"/><Relationship Id="rId2" Target="../media/image73.png" Type="http://schemas.openxmlformats.org/officeDocument/2006/relationships/image"/><Relationship Id="rId20" Target="../media/image91.png" Type="http://schemas.openxmlformats.org/officeDocument/2006/relationships/image"/><Relationship Id="rId21" Target="../media/image92.svg" Type="http://schemas.openxmlformats.org/officeDocument/2006/relationships/image"/><Relationship Id="rId3" Target="../media/image74.svg" Type="http://schemas.openxmlformats.org/officeDocument/2006/relationships/image"/><Relationship Id="rId4" Target="../media/image75.png" Type="http://schemas.openxmlformats.org/officeDocument/2006/relationships/image"/><Relationship Id="rId5" Target="../media/image76.svg" Type="http://schemas.openxmlformats.org/officeDocument/2006/relationships/image"/><Relationship Id="rId6" Target="../media/image77.png" Type="http://schemas.openxmlformats.org/officeDocument/2006/relationships/image"/><Relationship Id="rId7" Target="../media/image78.svg" Type="http://schemas.openxmlformats.org/officeDocument/2006/relationships/image"/><Relationship Id="rId8" Target="../media/image79.png" Type="http://schemas.openxmlformats.org/officeDocument/2006/relationships/image"/><Relationship Id="rId9" Target="../media/image8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51.png" Type="http://schemas.openxmlformats.org/officeDocument/2006/relationships/image"/><Relationship Id="rId15" Target="../media/image52.svg" Type="http://schemas.openxmlformats.org/officeDocument/2006/relationships/image"/><Relationship Id="rId2" Target="../media/image93.png" Type="http://schemas.openxmlformats.org/officeDocument/2006/relationships/image"/><Relationship Id="rId3" Target="../media/image94.svg" Type="http://schemas.openxmlformats.org/officeDocument/2006/relationships/image"/><Relationship Id="rId4" Target="../media/image95.png" Type="http://schemas.openxmlformats.org/officeDocument/2006/relationships/image"/><Relationship Id="rId5" Target="../media/image96.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97.png" Type="http://schemas.openxmlformats.org/officeDocument/2006/relationships/image"/><Relationship Id="rId9" Target="../media/image9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9.png" Type="http://schemas.openxmlformats.org/officeDocument/2006/relationships/image"/><Relationship Id="rId3" Target="../media/image100.svg" Type="http://schemas.openxmlformats.org/officeDocument/2006/relationships/image"/><Relationship Id="rId4" Target="../media/image101.png" Type="http://schemas.openxmlformats.org/officeDocument/2006/relationships/image"/><Relationship Id="rId5" Target="../media/image10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sp>
        <p:nvSpPr>
          <p:cNvPr name="Freeform 2" id="2"/>
          <p:cNvSpPr/>
          <p:nvPr/>
        </p:nvSpPr>
        <p:spPr>
          <a:xfrm flipH="false" flipV="false" rot="0">
            <a:off x="1291383" y="2509684"/>
            <a:ext cx="15880357" cy="4430441"/>
          </a:xfrm>
          <a:custGeom>
            <a:avLst/>
            <a:gdLst/>
            <a:ahLst/>
            <a:cxnLst/>
            <a:rect r="r" b="b" t="t" l="l"/>
            <a:pathLst>
              <a:path h="4430441" w="15880357">
                <a:moveTo>
                  <a:pt x="0" y="0"/>
                </a:moveTo>
                <a:lnTo>
                  <a:pt x="15880356" y="0"/>
                </a:lnTo>
                <a:lnTo>
                  <a:pt x="15880356" y="4430442"/>
                </a:lnTo>
                <a:lnTo>
                  <a:pt x="0" y="4430442"/>
                </a:lnTo>
                <a:lnTo>
                  <a:pt x="0" y="0"/>
                </a:lnTo>
                <a:close/>
              </a:path>
            </a:pathLst>
          </a:custGeom>
          <a:blipFill>
            <a:blip r:embed="rId2">
              <a:extLst>
                <a:ext uri="{96DAC541-7B7A-43D3-8B79-37D633B846F1}">
                  <asvg:svgBlip xmlns:asvg="http://schemas.microsoft.com/office/drawing/2016/SVG/main" r:embed="rId3"/>
                </a:ext>
              </a:extLst>
            </a:blip>
            <a:stretch>
              <a:fillRect l="-5948" t="0" r="0" b="-1002"/>
            </a:stretch>
          </a:blipFill>
        </p:spPr>
      </p:sp>
      <p:sp>
        <p:nvSpPr>
          <p:cNvPr name="Freeform 3" id="3"/>
          <p:cNvSpPr/>
          <p:nvPr/>
        </p:nvSpPr>
        <p:spPr>
          <a:xfrm flipH="false" flipV="false" rot="0">
            <a:off x="1896494" y="5857172"/>
            <a:ext cx="962406" cy="673684"/>
          </a:xfrm>
          <a:custGeom>
            <a:avLst/>
            <a:gdLst/>
            <a:ahLst/>
            <a:cxnLst/>
            <a:rect r="r" b="b" t="t" l="l"/>
            <a:pathLst>
              <a:path h="673684" w="962406">
                <a:moveTo>
                  <a:pt x="0" y="0"/>
                </a:moveTo>
                <a:lnTo>
                  <a:pt x="962406" y="0"/>
                </a:lnTo>
                <a:lnTo>
                  <a:pt x="962406" y="673684"/>
                </a:lnTo>
                <a:lnTo>
                  <a:pt x="0" y="6736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893349" y="5857172"/>
            <a:ext cx="873883" cy="673684"/>
          </a:xfrm>
          <a:custGeom>
            <a:avLst/>
            <a:gdLst/>
            <a:ahLst/>
            <a:cxnLst/>
            <a:rect r="r" b="b" t="t" l="l"/>
            <a:pathLst>
              <a:path h="673684" w="873883">
                <a:moveTo>
                  <a:pt x="0" y="0"/>
                </a:moveTo>
                <a:lnTo>
                  <a:pt x="873883" y="0"/>
                </a:lnTo>
                <a:lnTo>
                  <a:pt x="873883" y="673684"/>
                </a:lnTo>
                <a:lnTo>
                  <a:pt x="0" y="6736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324443" y="885825"/>
            <a:ext cx="11639114" cy="613429"/>
          </a:xfrm>
          <a:prstGeom prst="rect">
            <a:avLst/>
          </a:prstGeom>
        </p:spPr>
        <p:txBody>
          <a:bodyPr anchor="t" rtlCol="false" tIns="0" lIns="0" bIns="0" rIns="0">
            <a:spAutoFit/>
          </a:bodyPr>
          <a:lstStyle/>
          <a:p>
            <a:pPr algn="ctr">
              <a:lnSpc>
                <a:spcPts val="5040"/>
              </a:lnSpc>
            </a:pPr>
            <a:r>
              <a:rPr lang="en-US" b="true" sz="3600">
                <a:solidFill>
                  <a:srgbClr val="000000"/>
                </a:solidFill>
                <a:latin typeface="TT Hoves Bold"/>
                <a:ea typeface="TT Hoves Bold"/>
                <a:cs typeface="TT Hoves Bold"/>
                <a:sym typeface="TT Hoves Bold"/>
              </a:rPr>
              <a:t>Continuous Flow Steps</a:t>
            </a:r>
          </a:p>
        </p:txBody>
      </p:sp>
      <p:sp>
        <p:nvSpPr>
          <p:cNvPr name="TextBox 6" id="6"/>
          <p:cNvSpPr txBox="true"/>
          <p:nvPr/>
        </p:nvSpPr>
        <p:spPr>
          <a:xfrm rot="0">
            <a:off x="3324443" y="1706418"/>
            <a:ext cx="11639114" cy="323215"/>
          </a:xfrm>
          <a:prstGeom prst="rect">
            <a:avLst/>
          </a:prstGeom>
        </p:spPr>
        <p:txBody>
          <a:bodyPr anchor="t" rtlCol="false" tIns="0" lIns="0" bIns="0" rIns="0">
            <a:spAutoFit/>
          </a:bodyPr>
          <a:lstStyle/>
          <a:p>
            <a:pPr algn="ctr">
              <a:lnSpc>
                <a:spcPts val="2660"/>
              </a:lnSpc>
            </a:pPr>
            <a:r>
              <a:rPr lang="en-US" sz="1900">
                <a:solidFill>
                  <a:srgbClr val="000000"/>
                </a:solidFill>
                <a:latin typeface="TT Hoves"/>
                <a:ea typeface="TT Hoves"/>
                <a:cs typeface="TT Hoves"/>
                <a:sym typeface="TT Hoves"/>
              </a:rPr>
              <a:t>Five actions keep projects moving effectively</a:t>
            </a:r>
          </a:p>
        </p:txBody>
      </p:sp>
      <p:grpSp>
        <p:nvGrpSpPr>
          <p:cNvPr name="Group 7" id="7"/>
          <p:cNvGrpSpPr/>
          <p:nvPr/>
        </p:nvGrpSpPr>
        <p:grpSpPr>
          <a:xfrm rot="0">
            <a:off x="1614225" y="9364964"/>
            <a:ext cx="952500" cy="156938"/>
            <a:chOff x="0" y="0"/>
            <a:chExt cx="250864" cy="41334"/>
          </a:xfrm>
        </p:grpSpPr>
        <p:sp>
          <p:nvSpPr>
            <p:cNvPr name="Freeform 8" id="8"/>
            <p:cNvSpPr/>
            <p:nvPr/>
          </p:nvSpPr>
          <p:spPr>
            <a:xfrm flipH="false" flipV="false" rot="0">
              <a:off x="0" y="0"/>
              <a:ext cx="250864" cy="41334"/>
            </a:xfrm>
            <a:custGeom>
              <a:avLst/>
              <a:gdLst/>
              <a:ahLst/>
              <a:cxnLst/>
              <a:rect r="r" b="b" t="t" l="l"/>
              <a:pathLst>
                <a:path h="41334" w="250864">
                  <a:moveTo>
                    <a:pt x="20667" y="0"/>
                  </a:moveTo>
                  <a:lnTo>
                    <a:pt x="230197" y="0"/>
                  </a:lnTo>
                  <a:cubicBezTo>
                    <a:pt x="241611" y="0"/>
                    <a:pt x="250864" y="9253"/>
                    <a:pt x="250864" y="20667"/>
                  </a:cubicBezTo>
                  <a:lnTo>
                    <a:pt x="250864" y="20667"/>
                  </a:lnTo>
                  <a:cubicBezTo>
                    <a:pt x="250864" y="26148"/>
                    <a:pt x="248687" y="31405"/>
                    <a:pt x="244811" y="35280"/>
                  </a:cubicBezTo>
                  <a:cubicBezTo>
                    <a:pt x="240935" y="39156"/>
                    <a:pt x="235679" y="41334"/>
                    <a:pt x="230197" y="41334"/>
                  </a:cubicBezTo>
                  <a:lnTo>
                    <a:pt x="20667" y="41334"/>
                  </a:lnTo>
                  <a:cubicBezTo>
                    <a:pt x="9253" y="41334"/>
                    <a:pt x="0" y="32081"/>
                    <a:pt x="0" y="20667"/>
                  </a:cubicBezTo>
                  <a:lnTo>
                    <a:pt x="0" y="20667"/>
                  </a:lnTo>
                  <a:cubicBezTo>
                    <a:pt x="0" y="9253"/>
                    <a:pt x="9253" y="0"/>
                    <a:pt x="20667" y="0"/>
                  </a:cubicBezTo>
                  <a:close/>
                </a:path>
              </a:pathLst>
            </a:custGeom>
            <a:solidFill>
              <a:srgbClr val="56E11B"/>
            </a:solidFill>
          </p:spPr>
        </p:sp>
        <p:sp>
          <p:nvSpPr>
            <p:cNvPr name="TextBox 9" id="9"/>
            <p:cNvSpPr txBox="true"/>
            <p:nvPr/>
          </p:nvSpPr>
          <p:spPr>
            <a:xfrm>
              <a:off x="0" y="-38100"/>
              <a:ext cx="250864" cy="79434"/>
            </a:xfrm>
            <a:prstGeom prst="rect">
              <a:avLst/>
            </a:prstGeom>
          </p:spPr>
          <p:txBody>
            <a:bodyPr anchor="ctr" rtlCol="false" tIns="50800" lIns="50800" bIns="50800" rIns="50800"/>
            <a:lstStyle/>
            <a:p>
              <a:pPr algn="l" marL="0" indent="0" lvl="0">
                <a:lnSpc>
                  <a:spcPts val="2799"/>
                </a:lnSpc>
                <a:spcBef>
                  <a:spcPct val="0"/>
                </a:spcBef>
              </a:pPr>
            </a:p>
          </p:txBody>
        </p:sp>
      </p:grpSp>
      <p:sp>
        <p:nvSpPr>
          <p:cNvPr name="TextBox 10" id="10"/>
          <p:cNvSpPr txBox="true"/>
          <p:nvPr/>
        </p:nvSpPr>
        <p:spPr>
          <a:xfrm rot="0">
            <a:off x="1614225" y="7709790"/>
            <a:ext cx="2238375" cy="108337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Gather detailed requirements and stakeholder expectations early on.</a:t>
            </a:r>
          </a:p>
        </p:txBody>
      </p:sp>
      <p:sp>
        <p:nvSpPr>
          <p:cNvPr name="TextBox 11" id="11"/>
          <p:cNvSpPr txBox="true"/>
          <p:nvPr/>
        </p:nvSpPr>
        <p:spPr>
          <a:xfrm rot="0">
            <a:off x="1614225" y="7260229"/>
            <a:ext cx="2238375" cy="316263"/>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Collect Input</a:t>
            </a:r>
          </a:p>
        </p:txBody>
      </p:sp>
      <p:grpSp>
        <p:nvGrpSpPr>
          <p:cNvPr name="Group 12" id="12"/>
          <p:cNvGrpSpPr/>
          <p:nvPr/>
        </p:nvGrpSpPr>
        <p:grpSpPr>
          <a:xfrm rot="0">
            <a:off x="4498558" y="9364964"/>
            <a:ext cx="952500" cy="156938"/>
            <a:chOff x="0" y="0"/>
            <a:chExt cx="250864" cy="41334"/>
          </a:xfrm>
        </p:grpSpPr>
        <p:sp>
          <p:nvSpPr>
            <p:cNvPr name="Freeform 13" id="13"/>
            <p:cNvSpPr/>
            <p:nvPr/>
          </p:nvSpPr>
          <p:spPr>
            <a:xfrm flipH="false" flipV="false" rot="0">
              <a:off x="0" y="0"/>
              <a:ext cx="250864" cy="41334"/>
            </a:xfrm>
            <a:custGeom>
              <a:avLst/>
              <a:gdLst/>
              <a:ahLst/>
              <a:cxnLst/>
              <a:rect r="r" b="b" t="t" l="l"/>
              <a:pathLst>
                <a:path h="41334" w="250864">
                  <a:moveTo>
                    <a:pt x="20667" y="0"/>
                  </a:moveTo>
                  <a:lnTo>
                    <a:pt x="230197" y="0"/>
                  </a:lnTo>
                  <a:cubicBezTo>
                    <a:pt x="241611" y="0"/>
                    <a:pt x="250864" y="9253"/>
                    <a:pt x="250864" y="20667"/>
                  </a:cubicBezTo>
                  <a:lnTo>
                    <a:pt x="250864" y="20667"/>
                  </a:lnTo>
                  <a:cubicBezTo>
                    <a:pt x="250864" y="26148"/>
                    <a:pt x="248687" y="31405"/>
                    <a:pt x="244811" y="35280"/>
                  </a:cubicBezTo>
                  <a:cubicBezTo>
                    <a:pt x="240935" y="39156"/>
                    <a:pt x="235679" y="41334"/>
                    <a:pt x="230197" y="41334"/>
                  </a:cubicBezTo>
                  <a:lnTo>
                    <a:pt x="20667" y="41334"/>
                  </a:lnTo>
                  <a:cubicBezTo>
                    <a:pt x="9253" y="41334"/>
                    <a:pt x="0" y="32081"/>
                    <a:pt x="0" y="20667"/>
                  </a:cubicBezTo>
                  <a:lnTo>
                    <a:pt x="0" y="20667"/>
                  </a:lnTo>
                  <a:cubicBezTo>
                    <a:pt x="0" y="9253"/>
                    <a:pt x="9253" y="0"/>
                    <a:pt x="20667" y="0"/>
                  </a:cubicBezTo>
                  <a:close/>
                </a:path>
              </a:pathLst>
            </a:custGeom>
            <a:solidFill>
              <a:srgbClr val="00C267"/>
            </a:solidFill>
          </p:spPr>
        </p:sp>
        <p:sp>
          <p:nvSpPr>
            <p:cNvPr name="TextBox 14" id="14"/>
            <p:cNvSpPr txBox="true"/>
            <p:nvPr/>
          </p:nvSpPr>
          <p:spPr>
            <a:xfrm>
              <a:off x="0" y="-38100"/>
              <a:ext cx="250864" cy="79434"/>
            </a:xfrm>
            <a:prstGeom prst="rect">
              <a:avLst/>
            </a:prstGeom>
          </p:spPr>
          <p:txBody>
            <a:bodyPr anchor="ctr" rtlCol="false" tIns="50800" lIns="50800" bIns="50800" rIns="50800"/>
            <a:lstStyle/>
            <a:p>
              <a:pPr algn="l" marL="0" indent="0" lvl="0">
                <a:lnSpc>
                  <a:spcPts val="2799"/>
                </a:lnSpc>
                <a:spcBef>
                  <a:spcPct val="0"/>
                </a:spcBef>
              </a:pPr>
            </a:p>
          </p:txBody>
        </p:sp>
      </p:grpSp>
      <p:sp>
        <p:nvSpPr>
          <p:cNvPr name="TextBox 15" id="15"/>
          <p:cNvSpPr txBox="true"/>
          <p:nvPr/>
        </p:nvSpPr>
        <p:spPr>
          <a:xfrm rot="0">
            <a:off x="4498558" y="7709790"/>
            <a:ext cx="2238375" cy="108337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Structure tasks clearly and efficiently within the organized project backlog.</a:t>
            </a:r>
          </a:p>
        </p:txBody>
      </p:sp>
      <p:sp>
        <p:nvSpPr>
          <p:cNvPr name="TextBox 16" id="16"/>
          <p:cNvSpPr txBox="true"/>
          <p:nvPr/>
        </p:nvSpPr>
        <p:spPr>
          <a:xfrm rot="0">
            <a:off x="4498558" y="7260229"/>
            <a:ext cx="2238375" cy="316263"/>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Organize Work</a:t>
            </a:r>
          </a:p>
        </p:txBody>
      </p:sp>
      <p:grpSp>
        <p:nvGrpSpPr>
          <p:cNvPr name="Group 17" id="17"/>
          <p:cNvGrpSpPr/>
          <p:nvPr/>
        </p:nvGrpSpPr>
        <p:grpSpPr>
          <a:xfrm rot="0">
            <a:off x="7382891" y="9364964"/>
            <a:ext cx="952500" cy="156938"/>
            <a:chOff x="0" y="0"/>
            <a:chExt cx="250864" cy="41334"/>
          </a:xfrm>
        </p:grpSpPr>
        <p:sp>
          <p:nvSpPr>
            <p:cNvPr name="Freeform 18" id="18"/>
            <p:cNvSpPr/>
            <p:nvPr/>
          </p:nvSpPr>
          <p:spPr>
            <a:xfrm flipH="false" flipV="false" rot="0">
              <a:off x="0" y="0"/>
              <a:ext cx="250864" cy="41334"/>
            </a:xfrm>
            <a:custGeom>
              <a:avLst/>
              <a:gdLst/>
              <a:ahLst/>
              <a:cxnLst/>
              <a:rect r="r" b="b" t="t" l="l"/>
              <a:pathLst>
                <a:path h="41334" w="250864">
                  <a:moveTo>
                    <a:pt x="20667" y="0"/>
                  </a:moveTo>
                  <a:lnTo>
                    <a:pt x="230197" y="0"/>
                  </a:lnTo>
                  <a:cubicBezTo>
                    <a:pt x="241611" y="0"/>
                    <a:pt x="250864" y="9253"/>
                    <a:pt x="250864" y="20667"/>
                  </a:cubicBezTo>
                  <a:lnTo>
                    <a:pt x="250864" y="20667"/>
                  </a:lnTo>
                  <a:cubicBezTo>
                    <a:pt x="250864" y="26148"/>
                    <a:pt x="248687" y="31405"/>
                    <a:pt x="244811" y="35280"/>
                  </a:cubicBezTo>
                  <a:cubicBezTo>
                    <a:pt x="240935" y="39156"/>
                    <a:pt x="235679" y="41334"/>
                    <a:pt x="230197" y="41334"/>
                  </a:cubicBezTo>
                  <a:lnTo>
                    <a:pt x="20667" y="41334"/>
                  </a:lnTo>
                  <a:cubicBezTo>
                    <a:pt x="9253" y="41334"/>
                    <a:pt x="0" y="32081"/>
                    <a:pt x="0" y="20667"/>
                  </a:cubicBezTo>
                  <a:lnTo>
                    <a:pt x="0" y="20667"/>
                  </a:lnTo>
                  <a:cubicBezTo>
                    <a:pt x="0" y="9253"/>
                    <a:pt x="9253" y="0"/>
                    <a:pt x="20667" y="0"/>
                  </a:cubicBezTo>
                  <a:close/>
                </a:path>
              </a:pathLst>
            </a:custGeom>
            <a:solidFill>
              <a:srgbClr val="007B80"/>
            </a:solidFill>
          </p:spPr>
        </p:sp>
        <p:sp>
          <p:nvSpPr>
            <p:cNvPr name="TextBox 19" id="19"/>
            <p:cNvSpPr txBox="true"/>
            <p:nvPr/>
          </p:nvSpPr>
          <p:spPr>
            <a:xfrm>
              <a:off x="0" y="-38100"/>
              <a:ext cx="250864" cy="79434"/>
            </a:xfrm>
            <a:prstGeom prst="rect">
              <a:avLst/>
            </a:prstGeom>
          </p:spPr>
          <p:txBody>
            <a:bodyPr anchor="ctr" rtlCol="false" tIns="50800" lIns="50800" bIns="50800" rIns="50800"/>
            <a:lstStyle/>
            <a:p>
              <a:pPr algn="l" marL="0" indent="0" lvl="0">
                <a:lnSpc>
                  <a:spcPts val="2799"/>
                </a:lnSpc>
                <a:spcBef>
                  <a:spcPct val="0"/>
                </a:spcBef>
              </a:pPr>
            </a:p>
          </p:txBody>
        </p:sp>
      </p:grpSp>
      <p:sp>
        <p:nvSpPr>
          <p:cNvPr name="TextBox 20" id="20"/>
          <p:cNvSpPr txBox="true"/>
          <p:nvPr/>
        </p:nvSpPr>
        <p:spPr>
          <a:xfrm rot="0">
            <a:off x="7382891" y="7709790"/>
            <a:ext cx="2238375" cy="1083376"/>
          </a:xfrm>
          <a:prstGeom prst="rect">
            <a:avLst/>
          </a:prstGeom>
        </p:spPr>
        <p:txBody>
          <a:bodyPr anchor="t" rtlCol="false" tIns="0" lIns="0" bIns="0" rIns="0">
            <a:spAutoFit/>
          </a:bodyPr>
          <a:lstStyle/>
          <a:p>
            <a:pPr algn="l" marL="0" indent="0" lvl="0">
              <a:lnSpc>
                <a:spcPts val="2240"/>
              </a:lnSpc>
              <a:spcBef>
                <a:spcPct val="0"/>
              </a:spcBef>
            </a:pPr>
            <a:r>
              <a:rPr lang="en-US" sz="1600">
                <a:solidFill>
                  <a:srgbClr val="000000"/>
                </a:solidFill>
                <a:latin typeface="TT Hoves"/>
                <a:ea typeface="TT Hoves"/>
                <a:cs typeface="TT Hoves"/>
                <a:sym typeface="TT Hoves"/>
              </a:rPr>
              <a:t>Carry out essential</a:t>
            </a:r>
          </a:p>
          <a:p>
            <a:pPr algn="l">
              <a:lnSpc>
                <a:spcPts val="2240"/>
              </a:lnSpc>
              <a:spcBef>
                <a:spcPct val="0"/>
              </a:spcBef>
            </a:pPr>
            <a:r>
              <a:rPr lang="en-US" sz="1600">
                <a:solidFill>
                  <a:srgbClr val="000000"/>
                </a:solidFill>
                <a:latin typeface="TT Hoves"/>
                <a:ea typeface="TT Hoves"/>
                <a:cs typeface="TT Hoves"/>
                <a:sym typeface="TT Hoves"/>
              </a:rPr>
              <a:t>tasks during sprint cycles consistently and efficiently.</a:t>
            </a:r>
          </a:p>
        </p:txBody>
      </p:sp>
      <p:sp>
        <p:nvSpPr>
          <p:cNvPr name="TextBox 21" id="21"/>
          <p:cNvSpPr txBox="true"/>
          <p:nvPr/>
        </p:nvSpPr>
        <p:spPr>
          <a:xfrm rot="0">
            <a:off x="7382891" y="7260229"/>
            <a:ext cx="2238375" cy="316263"/>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Execute Plan</a:t>
            </a:r>
          </a:p>
        </p:txBody>
      </p:sp>
      <p:grpSp>
        <p:nvGrpSpPr>
          <p:cNvPr name="Group 22" id="22"/>
          <p:cNvGrpSpPr/>
          <p:nvPr/>
        </p:nvGrpSpPr>
        <p:grpSpPr>
          <a:xfrm rot="0">
            <a:off x="10267224" y="9364964"/>
            <a:ext cx="952500" cy="156938"/>
            <a:chOff x="0" y="0"/>
            <a:chExt cx="250864" cy="41334"/>
          </a:xfrm>
        </p:grpSpPr>
        <p:sp>
          <p:nvSpPr>
            <p:cNvPr name="Freeform 23" id="23"/>
            <p:cNvSpPr/>
            <p:nvPr/>
          </p:nvSpPr>
          <p:spPr>
            <a:xfrm flipH="false" flipV="false" rot="0">
              <a:off x="0" y="0"/>
              <a:ext cx="250864" cy="41334"/>
            </a:xfrm>
            <a:custGeom>
              <a:avLst/>
              <a:gdLst/>
              <a:ahLst/>
              <a:cxnLst/>
              <a:rect r="r" b="b" t="t" l="l"/>
              <a:pathLst>
                <a:path h="41334" w="250864">
                  <a:moveTo>
                    <a:pt x="20667" y="0"/>
                  </a:moveTo>
                  <a:lnTo>
                    <a:pt x="230197" y="0"/>
                  </a:lnTo>
                  <a:cubicBezTo>
                    <a:pt x="241611" y="0"/>
                    <a:pt x="250864" y="9253"/>
                    <a:pt x="250864" y="20667"/>
                  </a:cubicBezTo>
                  <a:lnTo>
                    <a:pt x="250864" y="20667"/>
                  </a:lnTo>
                  <a:cubicBezTo>
                    <a:pt x="250864" y="26148"/>
                    <a:pt x="248687" y="31405"/>
                    <a:pt x="244811" y="35280"/>
                  </a:cubicBezTo>
                  <a:cubicBezTo>
                    <a:pt x="240935" y="39156"/>
                    <a:pt x="235679" y="41334"/>
                    <a:pt x="230197" y="41334"/>
                  </a:cubicBezTo>
                  <a:lnTo>
                    <a:pt x="20667" y="41334"/>
                  </a:lnTo>
                  <a:cubicBezTo>
                    <a:pt x="9253" y="41334"/>
                    <a:pt x="0" y="32081"/>
                    <a:pt x="0" y="20667"/>
                  </a:cubicBezTo>
                  <a:lnTo>
                    <a:pt x="0" y="20667"/>
                  </a:lnTo>
                  <a:cubicBezTo>
                    <a:pt x="0" y="9253"/>
                    <a:pt x="9253" y="0"/>
                    <a:pt x="20667" y="0"/>
                  </a:cubicBezTo>
                  <a:close/>
                </a:path>
              </a:pathLst>
            </a:custGeom>
            <a:solidFill>
              <a:srgbClr val="004259"/>
            </a:solidFill>
          </p:spPr>
        </p:sp>
        <p:sp>
          <p:nvSpPr>
            <p:cNvPr name="TextBox 24" id="24"/>
            <p:cNvSpPr txBox="true"/>
            <p:nvPr/>
          </p:nvSpPr>
          <p:spPr>
            <a:xfrm>
              <a:off x="0" y="-38100"/>
              <a:ext cx="250864" cy="79434"/>
            </a:xfrm>
            <a:prstGeom prst="rect">
              <a:avLst/>
            </a:prstGeom>
          </p:spPr>
          <p:txBody>
            <a:bodyPr anchor="ctr" rtlCol="false" tIns="50800" lIns="50800" bIns="50800" rIns="50800"/>
            <a:lstStyle/>
            <a:p>
              <a:pPr algn="l" marL="0" indent="0" lvl="0">
                <a:lnSpc>
                  <a:spcPts val="2799"/>
                </a:lnSpc>
                <a:spcBef>
                  <a:spcPct val="0"/>
                </a:spcBef>
              </a:pPr>
            </a:p>
          </p:txBody>
        </p:sp>
      </p:grpSp>
      <p:sp>
        <p:nvSpPr>
          <p:cNvPr name="TextBox 25" id="25"/>
          <p:cNvSpPr txBox="true"/>
          <p:nvPr/>
        </p:nvSpPr>
        <p:spPr>
          <a:xfrm rot="0">
            <a:off x="10267224" y="7709790"/>
            <a:ext cx="2238375" cy="1359618"/>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Measure significant progress against clearly defined goals and established quality standards.</a:t>
            </a:r>
          </a:p>
        </p:txBody>
      </p:sp>
      <p:sp>
        <p:nvSpPr>
          <p:cNvPr name="TextBox 26" id="26"/>
          <p:cNvSpPr txBox="true"/>
          <p:nvPr/>
        </p:nvSpPr>
        <p:spPr>
          <a:xfrm rot="0">
            <a:off x="10267224" y="7260229"/>
            <a:ext cx="2238375" cy="316263"/>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Check Results</a:t>
            </a:r>
          </a:p>
        </p:txBody>
      </p:sp>
      <p:grpSp>
        <p:nvGrpSpPr>
          <p:cNvPr name="Group 27" id="27"/>
          <p:cNvGrpSpPr/>
          <p:nvPr/>
        </p:nvGrpSpPr>
        <p:grpSpPr>
          <a:xfrm rot="0">
            <a:off x="13151557" y="9364964"/>
            <a:ext cx="952500" cy="156938"/>
            <a:chOff x="0" y="0"/>
            <a:chExt cx="250864" cy="41334"/>
          </a:xfrm>
        </p:grpSpPr>
        <p:sp>
          <p:nvSpPr>
            <p:cNvPr name="Freeform 28" id="28"/>
            <p:cNvSpPr/>
            <p:nvPr/>
          </p:nvSpPr>
          <p:spPr>
            <a:xfrm flipH="false" flipV="false" rot="0">
              <a:off x="0" y="0"/>
              <a:ext cx="250864" cy="41334"/>
            </a:xfrm>
            <a:custGeom>
              <a:avLst/>
              <a:gdLst/>
              <a:ahLst/>
              <a:cxnLst/>
              <a:rect r="r" b="b" t="t" l="l"/>
              <a:pathLst>
                <a:path h="41334" w="250864">
                  <a:moveTo>
                    <a:pt x="20667" y="0"/>
                  </a:moveTo>
                  <a:lnTo>
                    <a:pt x="230197" y="0"/>
                  </a:lnTo>
                  <a:cubicBezTo>
                    <a:pt x="241611" y="0"/>
                    <a:pt x="250864" y="9253"/>
                    <a:pt x="250864" y="20667"/>
                  </a:cubicBezTo>
                  <a:lnTo>
                    <a:pt x="250864" y="20667"/>
                  </a:lnTo>
                  <a:cubicBezTo>
                    <a:pt x="250864" y="26148"/>
                    <a:pt x="248687" y="31405"/>
                    <a:pt x="244811" y="35280"/>
                  </a:cubicBezTo>
                  <a:cubicBezTo>
                    <a:pt x="240935" y="39156"/>
                    <a:pt x="235679" y="41334"/>
                    <a:pt x="230197" y="41334"/>
                  </a:cubicBezTo>
                  <a:lnTo>
                    <a:pt x="20667" y="41334"/>
                  </a:lnTo>
                  <a:cubicBezTo>
                    <a:pt x="9253" y="41334"/>
                    <a:pt x="0" y="32081"/>
                    <a:pt x="0" y="20667"/>
                  </a:cubicBezTo>
                  <a:lnTo>
                    <a:pt x="0" y="20667"/>
                  </a:lnTo>
                  <a:cubicBezTo>
                    <a:pt x="0" y="9253"/>
                    <a:pt x="9253" y="0"/>
                    <a:pt x="20667" y="0"/>
                  </a:cubicBezTo>
                  <a:close/>
                </a:path>
              </a:pathLst>
            </a:custGeom>
            <a:solidFill>
              <a:srgbClr val="000038"/>
            </a:solidFill>
          </p:spPr>
        </p:sp>
        <p:sp>
          <p:nvSpPr>
            <p:cNvPr name="TextBox 29" id="29"/>
            <p:cNvSpPr txBox="true"/>
            <p:nvPr/>
          </p:nvSpPr>
          <p:spPr>
            <a:xfrm>
              <a:off x="0" y="-38100"/>
              <a:ext cx="250864" cy="79434"/>
            </a:xfrm>
            <a:prstGeom prst="rect">
              <a:avLst/>
            </a:prstGeom>
          </p:spPr>
          <p:txBody>
            <a:bodyPr anchor="ctr" rtlCol="false" tIns="50800" lIns="50800" bIns="50800" rIns="50800"/>
            <a:lstStyle/>
            <a:p>
              <a:pPr algn="l" marL="0" indent="0" lvl="0">
                <a:lnSpc>
                  <a:spcPts val="2799"/>
                </a:lnSpc>
                <a:spcBef>
                  <a:spcPct val="0"/>
                </a:spcBef>
              </a:pPr>
            </a:p>
          </p:txBody>
        </p:sp>
      </p:grpSp>
      <p:sp>
        <p:nvSpPr>
          <p:cNvPr name="TextBox 30" id="30"/>
          <p:cNvSpPr txBox="true"/>
          <p:nvPr/>
        </p:nvSpPr>
        <p:spPr>
          <a:xfrm rot="0">
            <a:off x="13151557" y="7709790"/>
            <a:ext cx="2238375" cy="108337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Apply valuable learnings to significantly enhance team efficiency continuously.</a:t>
            </a:r>
          </a:p>
        </p:txBody>
      </p:sp>
      <p:sp>
        <p:nvSpPr>
          <p:cNvPr name="TextBox 31" id="31"/>
          <p:cNvSpPr txBox="true"/>
          <p:nvPr/>
        </p:nvSpPr>
        <p:spPr>
          <a:xfrm rot="0">
            <a:off x="13151557" y="7260229"/>
            <a:ext cx="2238375" cy="316263"/>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Improve Process</a:t>
            </a:r>
          </a:p>
        </p:txBody>
      </p:sp>
      <p:sp>
        <p:nvSpPr>
          <p:cNvPr name="TextBox 32" id="32"/>
          <p:cNvSpPr txBox="true"/>
          <p:nvPr/>
        </p:nvSpPr>
        <p:spPr>
          <a:xfrm rot="0">
            <a:off x="1614225" y="2597038"/>
            <a:ext cx="1244675" cy="613429"/>
          </a:xfrm>
          <a:prstGeom prst="rect">
            <a:avLst/>
          </a:prstGeom>
        </p:spPr>
        <p:txBody>
          <a:bodyPr anchor="t" rtlCol="false" tIns="0" lIns="0" bIns="0" rIns="0">
            <a:spAutoFit/>
          </a:bodyPr>
          <a:lstStyle/>
          <a:p>
            <a:pPr algn="l">
              <a:lnSpc>
                <a:spcPts val="5040"/>
              </a:lnSpc>
            </a:pPr>
            <a:r>
              <a:rPr lang="en-US" b="true" sz="3600">
                <a:solidFill>
                  <a:srgbClr val="FFFFFF"/>
                </a:solidFill>
                <a:latin typeface="TT Hoves Bold"/>
                <a:ea typeface="TT Hoves Bold"/>
                <a:cs typeface="TT Hoves Bold"/>
                <a:sym typeface="TT Hoves Bold"/>
              </a:rPr>
              <a:t>01</a:t>
            </a:r>
          </a:p>
        </p:txBody>
      </p:sp>
      <p:sp>
        <p:nvSpPr>
          <p:cNvPr name="TextBox 33" id="33"/>
          <p:cNvSpPr txBox="true"/>
          <p:nvPr/>
        </p:nvSpPr>
        <p:spPr>
          <a:xfrm rot="0">
            <a:off x="4271012" y="2597038"/>
            <a:ext cx="1244675" cy="613429"/>
          </a:xfrm>
          <a:prstGeom prst="rect">
            <a:avLst/>
          </a:prstGeom>
        </p:spPr>
        <p:txBody>
          <a:bodyPr anchor="t" rtlCol="false" tIns="0" lIns="0" bIns="0" rIns="0">
            <a:spAutoFit/>
          </a:bodyPr>
          <a:lstStyle/>
          <a:p>
            <a:pPr algn="l">
              <a:lnSpc>
                <a:spcPts val="5040"/>
              </a:lnSpc>
            </a:pPr>
            <a:r>
              <a:rPr lang="en-US" b="true" sz="3600">
                <a:solidFill>
                  <a:srgbClr val="FFFFFF"/>
                </a:solidFill>
                <a:latin typeface="TT Hoves Bold"/>
                <a:ea typeface="TT Hoves Bold"/>
                <a:cs typeface="TT Hoves Bold"/>
                <a:sym typeface="TT Hoves Bold"/>
              </a:rPr>
              <a:t>02</a:t>
            </a:r>
          </a:p>
        </p:txBody>
      </p:sp>
      <p:sp>
        <p:nvSpPr>
          <p:cNvPr name="TextBox 34" id="34"/>
          <p:cNvSpPr txBox="true"/>
          <p:nvPr/>
        </p:nvSpPr>
        <p:spPr>
          <a:xfrm rot="0">
            <a:off x="7377760" y="2597038"/>
            <a:ext cx="1244675" cy="613429"/>
          </a:xfrm>
          <a:prstGeom prst="rect">
            <a:avLst/>
          </a:prstGeom>
        </p:spPr>
        <p:txBody>
          <a:bodyPr anchor="t" rtlCol="false" tIns="0" lIns="0" bIns="0" rIns="0">
            <a:spAutoFit/>
          </a:bodyPr>
          <a:lstStyle/>
          <a:p>
            <a:pPr algn="l">
              <a:lnSpc>
                <a:spcPts val="5040"/>
              </a:lnSpc>
            </a:pPr>
            <a:r>
              <a:rPr lang="en-US" b="true" sz="3600">
                <a:solidFill>
                  <a:srgbClr val="FFFFFF"/>
                </a:solidFill>
                <a:latin typeface="TT Hoves Bold"/>
                <a:ea typeface="TT Hoves Bold"/>
                <a:cs typeface="TT Hoves Bold"/>
                <a:sym typeface="TT Hoves Bold"/>
              </a:rPr>
              <a:t>03</a:t>
            </a:r>
          </a:p>
        </p:txBody>
      </p:sp>
      <p:sp>
        <p:nvSpPr>
          <p:cNvPr name="TextBox 35" id="35"/>
          <p:cNvSpPr txBox="true"/>
          <p:nvPr/>
        </p:nvSpPr>
        <p:spPr>
          <a:xfrm rot="0">
            <a:off x="10432220" y="2597038"/>
            <a:ext cx="1244675" cy="613429"/>
          </a:xfrm>
          <a:prstGeom prst="rect">
            <a:avLst/>
          </a:prstGeom>
        </p:spPr>
        <p:txBody>
          <a:bodyPr anchor="t" rtlCol="false" tIns="0" lIns="0" bIns="0" rIns="0">
            <a:spAutoFit/>
          </a:bodyPr>
          <a:lstStyle/>
          <a:p>
            <a:pPr algn="l">
              <a:lnSpc>
                <a:spcPts val="5040"/>
              </a:lnSpc>
            </a:pPr>
            <a:r>
              <a:rPr lang="en-US" b="true" sz="3600">
                <a:solidFill>
                  <a:srgbClr val="FFFFFF"/>
                </a:solidFill>
                <a:latin typeface="TT Hoves Bold"/>
                <a:ea typeface="TT Hoves Bold"/>
                <a:cs typeface="TT Hoves Bold"/>
                <a:sym typeface="TT Hoves Bold"/>
              </a:rPr>
              <a:t>04</a:t>
            </a:r>
          </a:p>
        </p:txBody>
      </p:sp>
      <p:sp>
        <p:nvSpPr>
          <p:cNvPr name="TextBox 36" id="36"/>
          <p:cNvSpPr txBox="true"/>
          <p:nvPr/>
        </p:nvSpPr>
        <p:spPr>
          <a:xfrm rot="0">
            <a:off x="13648407" y="2597038"/>
            <a:ext cx="1244675" cy="613429"/>
          </a:xfrm>
          <a:prstGeom prst="rect">
            <a:avLst/>
          </a:prstGeom>
        </p:spPr>
        <p:txBody>
          <a:bodyPr anchor="t" rtlCol="false" tIns="0" lIns="0" bIns="0" rIns="0">
            <a:spAutoFit/>
          </a:bodyPr>
          <a:lstStyle/>
          <a:p>
            <a:pPr algn="l">
              <a:lnSpc>
                <a:spcPts val="5040"/>
              </a:lnSpc>
            </a:pPr>
            <a:r>
              <a:rPr lang="en-US" b="true" sz="3600">
                <a:solidFill>
                  <a:srgbClr val="FFFFFF"/>
                </a:solidFill>
                <a:latin typeface="TT Hoves Bold"/>
                <a:ea typeface="TT Hoves Bold"/>
                <a:cs typeface="TT Hoves Bold"/>
                <a:sym typeface="TT Hoves Bold"/>
              </a:rPr>
              <a:t>05</a:t>
            </a:r>
          </a:p>
        </p:txBody>
      </p:sp>
      <p:sp>
        <p:nvSpPr>
          <p:cNvPr name="Freeform 37" id="37"/>
          <p:cNvSpPr/>
          <p:nvPr/>
        </p:nvSpPr>
        <p:spPr>
          <a:xfrm flipH="false" flipV="false" rot="0">
            <a:off x="8071907" y="5857172"/>
            <a:ext cx="673684" cy="673684"/>
          </a:xfrm>
          <a:custGeom>
            <a:avLst/>
            <a:gdLst/>
            <a:ahLst/>
            <a:cxnLst/>
            <a:rect r="r" b="b" t="t" l="l"/>
            <a:pathLst>
              <a:path h="673684" w="673684">
                <a:moveTo>
                  <a:pt x="0" y="0"/>
                </a:moveTo>
                <a:lnTo>
                  <a:pt x="673684" y="0"/>
                </a:lnTo>
                <a:lnTo>
                  <a:pt x="673684" y="673684"/>
                </a:lnTo>
                <a:lnTo>
                  <a:pt x="0" y="6736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8" id="38"/>
          <p:cNvSpPr/>
          <p:nvPr/>
        </p:nvSpPr>
        <p:spPr>
          <a:xfrm flipH="false" flipV="false" rot="0">
            <a:off x="11283148" y="5857172"/>
            <a:ext cx="613665" cy="673684"/>
          </a:xfrm>
          <a:custGeom>
            <a:avLst/>
            <a:gdLst/>
            <a:ahLst/>
            <a:cxnLst/>
            <a:rect r="r" b="b" t="t" l="l"/>
            <a:pathLst>
              <a:path h="673684" w="613665">
                <a:moveTo>
                  <a:pt x="0" y="0"/>
                </a:moveTo>
                <a:lnTo>
                  <a:pt x="613665" y="0"/>
                </a:lnTo>
                <a:lnTo>
                  <a:pt x="613665" y="673684"/>
                </a:lnTo>
                <a:lnTo>
                  <a:pt x="0" y="6736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9" id="39"/>
          <p:cNvSpPr/>
          <p:nvPr/>
        </p:nvSpPr>
        <p:spPr>
          <a:xfrm flipH="false" flipV="false" rot="0">
            <a:off x="14588467" y="5780676"/>
            <a:ext cx="750181" cy="750181"/>
          </a:xfrm>
          <a:custGeom>
            <a:avLst/>
            <a:gdLst/>
            <a:ahLst/>
            <a:cxnLst/>
            <a:rect r="r" b="b" t="t" l="l"/>
            <a:pathLst>
              <a:path h="750181" w="750181">
                <a:moveTo>
                  <a:pt x="0" y="0"/>
                </a:moveTo>
                <a:lnTo>
                  <a:pt x="750181" y="0"/>
                </a:lnTo>
                <a:lnTo>
                  <a:pt x="750181" y="750180"/>
                </a:lnTo>
                <a:lnTo>
                  <a:pt x="0" y="75018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sp>
        <p:nvSpPr>
          <p:cNvPr name="Freeform 2" id="2"/>
          <p:cNvSpPr/>
          <p:nvPr/>
        </p:nvSpPr>
        <p:spPr>
          <a:xfrm flipH="false" flipV="false" rot="0">
            <a:off x="4287086" y="3739398"/>
            <a:ext cx="22493561" cy="6851414"/>
          </a:xfrm>
          <a:custGeom>
            <a:avLst/>
            <a:gdLst/>
            <a:ahLst/>
            <a:cxnLst/>
            <a:rect r="r" b="b" t="t" l="l"/>
            <a:pathLst>
              <a:path h="6851414" w="22493561">
                <a:moveTo>
                  <a:pt x="0" y="0"/>
                </a:moveTo>
                <a:lnTo>
                  <a:pt x="22493561" y="0"/>
                </a:lnTo>
                <a:lnTo>
                  <a:pt x="22493561" y="6851413"/>
                </a:lnTo>
                <a:lnTo>
                  <a:pt x="0" y="68514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590994" y="3561767"/>
            <a:ext cx="1033409" cy="355261"/>
            <a:chOff x="0" y="0"/>
            <a:chExt cx="1793680" cy="616624"/>
          </a:xfrm>
        </p:grpSpPr>
        <p:sp>
          <p:nvSpPr>
            <p:cNvPr name="Freeform 4" id="4"/>
            <p:cNvSpPr/>
            <p:nvPr/>
          </p:nvSpPr>
          <p:spPr>
            <a:xfrm flipH="false" flipV="false" rot="0">
              <a:off x="0" y="0"/>
              <a:ext cx="1793680" cy="616624"/>
            </a:xfrm>
            <a:custGeom>
              <a:avLst/>
              <a:gdLst/>
              <a:ahLst/>
              <a:cxnLst/>
              <a:rect r="r" b="b" t="t" l="l"/>
              <a:pathLst>
                <a:path h="616624" w="1793680">
                  <a:moveTo>
                    <a:pt x="896840" y="0"/>
                  </a:moveTo>
                  <a:cubicBezTo>
                    <a:pt x="401529" y="0"/>
                    <a:pt x="0" y="138036"/>
                    <a:pt x="0" y="308312"/>
                  </a:cubicBezTo>
                  <a:cubicBezTo>
                    <a:pt x="0" y="478588"/>
                    <a:pt x="401529" y="616624"/>
                    <a:pt x="896840" y="616624"/>
                  </a:cubicBezTo>
                  <a:cubicBezTo>
                    <a:pt x="1392151" y="616624"/>
                    <a:pt x="1793680" y="478588"/>
                    <a:pt x="1793680" y="308312"/>
                  </a:cubicBezTo>
                  <a:cubicBezTo>
                    <a:pt x="1793680" y="138036"/>
                    <a:pt x="1392151" y="0"/>
                    <a:pt x="896840" y="0"/>
                  </a:cubicBezTo>
                  <a:close/>
                </a:path>
              </a:pathLst>
            </a:custGeom>
            <a:solidFill>
              <a:srgbClr val="81FF4C"/>
            </a:solidFill>
          </p:spPr>
        </p:sp>
        <p:sp>
          <p:nvSpPr>
            <p:cNvPr name="TextBox 5" id="5"/>
            <p:cNvSpPr txBox="true"/>
            <p:nvPr/>
          </p:nvSpPr>
          <p:spPr>
            <a:xfrm>
              <a:off x="168157" y="10184"/>
              <a:ext cx="1457365" cy="548632"/>
            </a:xfrm>
            <a:prstGeom prst="rect">
              <a:avLst/>
            </a:prstGeom>
          </p:spPr>
          <p:txBody>
            <a:bodyPr anchor="ctr" rtlCol="false" tIns="57104" lIns="57104" bIns="57104" rIns="57104"/>
            <a:lstStyle/>
            <a:p>
              <a:pPr algn="ctr">
                <a:lnSpc>
                  <a:spcPts val="2800"/>
                </a:lnSpc>
              </a:pPr>
            </a:p>
          </p:txBody>
        </p:sp>
      </p:grpSp>
      <p:sp>
        <p:nvSpPr>
          <p:cNvPr name="Freeform 6" id="6"/>
          <p:cNvSpPr/>
          <p:nvPr/>
        </p:nvSpPr>
        <p:spPr>
          <a:xfrm flipH="false" flipV="false" rot="5400000">
            <a:off x="16038594" y="1800755"/>
            <a:ext cx="2138209" cy="1739077"/>
          </a:xfrm>
          <a:custGeom>
            <a:avLst/>
            <a:gdLst/>
            <a:ahLst/>
            <a:cxnLst/>
            <a:rect r="r" b="b" t="t" l="l"/>
            <a:pathLst>
              <a:path h="1739077" w="2138209">
                <a:moveTo>
                  <a:pt x="0" y="0"/>
                </a:moveTo>
                <a:lnTo>
                  <a:pt x="2138209" y="0"/>
                </a:lnTo>
                <a:lnTo>
                  <a:pt x="2138209" y="1739077"/>
                </a:lnTo>
                <a:lnTo>
                  <a:pt x="0" y="17390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3531098" y="4064847"/>
            <a:ext cx="1033409" cy="355261"/>
            <a:chOff x="0" y="0"/>
            <a:chExt cx="1793680" cy="616624"/>
          </a:xfrm>
        </p:grpSpPr>
        <p:sp>
          <p:nvSpPr>
            <p:cNvPr name="Freeform 8" id="8"/>
            <p:cNvSpPr/>
            <p:nvPr/>
          </p:nvSpPr>
          <p:spPr>
            <a:xfrm flipH="false" flipV="false" rot="0">
              <a:off x="0" y="0"/>
              <a:ext cx="1793680" cy="616624"/>
            </a:xfrm>
            <a:custGeom>
              <a:avLst/>
              <a:gdLst/>
              <a:ahLst/>
              <a:cxnLst/>
              <a:rect r="r" b="b" t="t" l="l"/>
              <a:pathLst>
                <a:path h="616624" w="1793680">
                  <a:moveTo>
                    <a:pt x="896840" y="0"/>
                  </a:moveTo>
                  <a:cubicBezTo>
                    <a:pt x="401529" y="0"/>
                    <a:pt x="0" y="138036"/>
                    <a:pt x="0" y="308312"/>
                  </a:cubicBezTo>
                  <a:cubicBezTo>
                    <a:pt x="0" y="478588"/>
                    <a:pt x="401529" y="616624"/>
                    <a:pt x="896840" y="616624"/>
                  </a:cubicBezTo>
                  <a:cubicBezTo>
                    <a:pt x="1392151" y="616624"/>
                    <a:pt x="1793680" y="478588"/>
                    <a:pt x="1793680" y="308312"/>
                  </a:cubicBezTo>
                  <a:cubicBezTo>
                    <a:pt x="1793680" y="138036"/>
                    <a:pt x="1392151" y="0"/>
                    <a:pt x="896840" y="0"/>
                  </a:cubicBezTo>
                  <a:close/>
                </a:path>
              </a:pathLst>
            </a:custGeom>
            <a:solidFill>
              <a:srgbClr val="15DC80"/>
            </a:solidFill>
          </p:spPr>
        </p:sp>
        <p:sp>
          <p:nvSpPr>
            <p:cNvPr name="TextBox 9" id="9"/>
            <p:cNvSpPr txBox="true"/>
            <p:nvPr/>
          </p:nvSpPr>
          <p:spPr>
            <a:xfrm>
              <a:off x="168157" y="10184"/>
              <a:ext cx="1457365" cy="548632"/>
            </a:xfrm>
            <a:prstGeom prst="rect">
              <a:avLst/>
            </a:prstGeom>
          </p:spPr>
          <p:txBody>
            <a:bodyPr anchor="ctr" rtlCol="false" tIns="57104" lIns="57104" bIns="57104" rIns="57104"/>
            <a:lstStyle/>
            <a:p>
              <a:pPr algn="ctr">
                <a:lnSpc>
                  <a:spcPts val="2800"/>
                </a:lnSpc>
              </a:pPr>
            </a:p>
          </p:txBody>
        </p:sp>
      </p:grpSp>
      <p:sp>
        <p:nvSpPr>
          <p:cNvPr name="Freeform 10" id="10"/>
          <p:cNvSpPr/>
          <p:nvPr/>
        </p:nvSpPr>
        <p:spPr>
          <a:xfrm flipH="false" flipV="false" rot="5400000">
            <a:off x="12978698" y="2303835"/>
            <a:ext cx="2138209" cy="1739077"/>
          </a:xfrm>
          <a:custGeom>
            <a:avLst/>
            <a:gdLst/>
            <a:ahLst/>
            <a:cxnLst/>
            <a:rect r="r" b="b" t="t" l="l"/>
            <a:pathLst>
              <a:path h="1739077" w="2138209">
                <a:moveTo>
                  <a:pt x="0" y="0"/>
                </a:moveTo>
                <a:lnTo>
                  <a:pt x="2138209" y="0"/>
                </a:lnTo>
                <a:lnTo>
                  <a:pt x="2138209" y="1739076"/>
                </a:lnTo>
                <a:lnTo>
                  <a:pt x="0" y="17390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11779486" y="6325405"/>
            <a:ext cx="1033409" cy="355261"/>
            <a:chOff x="0" y="0"/>
            <a:chExt cx="1793680" cy="616624"/>
          </a:xfrm>
        </p:grpSpPr>
        <p:sp>
          <p:nvSpPr>
            <p:cNvPr name="Freeform 12" id="12"/>
            <p:cNvSpPr/>
            <p:nvPr/>
          </p:nvSpPr>
          <p:spPr>
            <a:xfrm flipH="false" flipV="false" rot="0">
              <a:off x="0" y="0"/>
              <a:ext cx="1793680" cy="616624"/>
            </a:xfrm>
            <a:custGeom>
              <a:avLst/>
              <a:gdLst/>
              <a:ahLst/>
              <a:cxnLst/>
              <a:rect r="r" b="b" t="t" l="l"/>
              <a:pathLst>
                <a:path h="616624" w="1793680">
                  <a:moveTo>
                    <a:pt x="896840" y="0"/>
                  </a:moveTo>
                  <a:cubicBezTo>
                    <a:pt x="401529" y="0"/>
                    <a:pt x="0" y="138036"/>
                    <a:pt x="0" y="308312"/>
                  </a:cubicBezTo>
                  <a:cubicBezTo>
                    <a:pt x="0" y="478588"/>
                    <a:pt x="401529" y="616624"/>
                    <a:pt x="896840" y="616624"/>
                  </a:cubicBezTo>
                  <a:cubicBezTo>
                    <a:pt x="1392151" y="616624"/>
                    <a:pt x="1793680" y="478588"/>
                    <a:pt x="1793680" y="308312"/>
                  </a:cubicBezTo>
                  <a:cubicBezTo>
                    <a:pt x="1793680" y="138036"/>
                    <a:pt x="1392151" y="0"/>
                    <a:pt x="896840" y="0"/>
                  </a:cubicBezTo>
                  <a:close/>
                </a:path>
              </a:pathLst>
            </a:custGeom>
            <a:solidFill>
              <a:srgbClr val="189EA3"/>
            </a:solidFill>
          </p:spPr>
        </p:sp>
        <p:sp>
          <p:nvSpPr>
            <p:cNvPr name="TextBox 13" id="13"/>
            <p:cNvSpPr txBox="true"/>
            <p:nvPr/>
          </p:nvSpPr>
          <p:spPr>
            <a:xfrm>
              <a:off x="168157" y="10184"/>
              <a:ext cx="1457365" cy="548632"/>
            </a:xfrm>
            <a:prstGeom prst="rect">
              <a:avLst/>
            </a:prstGeom>
          </p:spPr>
          <p:txBody>
            <a:bodyPr anchor="ctr" rtlCol="false" tIns="57104" lIns="57104" bIns="57104" rIns="57104"/>
            <a:lstStyle/>
            <a:p>
              <a:pPr algn="ctr">
                <a:lnSpc>
                  <a:spcPts val="2800"/>
                </a:lnSpc>
              </a:pPr>
            </a:p>
          </p:txBody>
        </p:sp>
      </p:grpSp>
      <p:sp>
        <p:nvSpPr>
          <p:cNvPr name="Freeform 14" id="14"/>
          <p:cNvSpPr/>
          <p:nvPr/>
        </p:nvSpPr>
        <p:spPr>
          <a:xfrm flipH="false" flipV="false" rot="5400000">
            <a:off x="11227086" y="4564393"/>
            <a:ext cx="2138209" cy="1739077"/>
          </a:xfrm>
          <a:custGeom>
            <a:avLst/>
            <a:gdLst/>
            <a:ahLst/>
            <a:cxnLst/>
            <a:rect r="r" b="b" t="t" l="l"/>
            <a:pathLst>
              <a:path h="1739077" w="2138209">
                <a:moveTo>
                  <a:pt x="0" y="0"/>
                </a:moveTo>
                <a:lnTo>
                  <a:pt x="2138209" y="0"/>
                </a:lnTo>
                <a:lnTo>
                  <a:pt x="2138209" y="1739076"/>
                </a:lnTo>
                <a:lnTo>
                  <a:pt x="0" y="17390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9161565" y="7433444"/>
            <a:ext cx="1033409" cy="355261"/>
            <a:chOff x="0" y="0"/>
            <a:chExt cx="1793680" cy="616624"/>
          </a:xfrm>
        </p:grpSpPr>
        <p:sp>
          <p:nvSpPr>
            <p:cNvPr name="Freeform 16" id="16"/>
            <p:cNvSpPr/>
            <p:nvPr/>
          </p:nvSpPr>
          <p:spPr>
            <a:xfrm flipH="false" flipV="false" rot="0">
              <a:off x="0" y="0"/>
              <a:ext cx="1793680" cy="616624"/>
            </a:xfrm>
            <a:custGeom>
              <a:avLst/>
              <a:gdLst/>
              <a:ahLst/>
              <a:cxnLst/>
              <a:rect r="r" b="b" t="t" l="l"/>
              <a:pathLst>
                <a:path h="616624" w="1793680">
                  <a:moveTo>
                    <a:pt x="896840" y="0"/>
                  </a:moveTo>
                  <a:cubicBezTo>
                    <a:pt x="401529" y="0"/>
                    <a:pt x="0" y="138036"/>
                    <a:pt x="0" y="308312"/>
                  </a:cubicBezTo>
                  <a:cubicBezTo>
                    <a:pt x="0" y="478588"/>
                    <a:pt x="401529" y="616624"/>
                    <a:pt x="896840" y="616624"/>
                  </a:cubicBezTo>
                  <a:cubicBezTo>
                    <a:pt x="1392151" y="616624"/>
                    <a:pt x="1793680" y="478588"/>
                    <a:pt x="1793680" y="308312"/>
                  </a:cubicBezTo>
                  <a:cubicBezTo>
                    <a:pt x="1793680" y="138036"/>
                    <a:pt x="1392151" y="0"/>
                    <a:pt x="896840" y="0"/>
                  </a:cubicBezTo>
                  <a:close/>
                </a:path>
              </a:pathLst>
            </a:custGeom>
            <a:solidFill>
              <a:srgbClr val="0A7398"/>
            </a:solidFill>
          </p:spPr>
        </p:sp>
        <p:sp>
          <p:nvSpPr>
            <p:cNvPr name="TextBox 17" id="17"/>
            <p:cNvSpPr txBox="true"/>
            <p:nvPr/>
          </p:nvSpPr>
          <p:spPr>
            <a:xfrm>
              <a:off x="168157" y="10184"/>
              <a:ext cx="1457365" cy="548632"/>
            </a:xfrm>
            <a:prstGeom prst="rect">
              <a:avLst/>
            </a:prstGeom>
          </p:spPr>
          <p:txBody>
            <a:bodyPr anchor="ctr" rtlCol="false" tIns="57104" lIns="57104" bIns="57104" rIns="57104"/>
            <a:lstStyle/>
            <a:p>
              <a:pPr algn="ctr">
                <a:lnSpc>
                  <a:spcPts val="2800"/>
                </a:lnSpc>
              </a:pPr>
            </a:p>
          </p:txBody>
        </p:sp>
      </p:grpSp>
      <p:sp>
        <p:nvSpPr>
          <p:cNvPr name="Freeform 18" id="18"/>
          <p:cNvSpPr/>
          <p:nvPr/>
        </p:nvSpPr>
        <p:spPr>
          <a:xfrm flipH="false" flipV="false" rot="5400000">
            <a:off x="8609165" y="5672432"/>
            <a:ext cx="2138209" cy="1739077"/>
          </a:xfrm>
          <a:custGeom>
            <a:avLst/>
            <a:gdLst/>
            <a:ahLst/>
            <a:cxnLst/>
            <a:rect r="r" b="b" t="t" l="l"/>
            <a:pathLst>
              <a:path h="1739077" w="2138209">
                <a:moveTo>
                  <a:pt x="0" y="0"/>
                </a:moveTo>
                <a:lnTo>
                  <a:pt x="2138209" y="0"/>
                </a:lnTo>
                <a:lnTo>
                  <a:pt x="2138209" y="1739077"/>
                </a:lnTo>
                <a:lnTo>
                  <a:pt x="0" y="17390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9" id="19"/>
          <p:cNvGrpSpPr/>
          <p:nvPr/>
        </p:nvGrpSpPr>
        <p:grpSpPr>
          <a:xfrm rot="0">
            <a:off x="13299670" y="8763348"/>
            <a:ext cx="1033409" cy="355261"/>
            <a:chOff x="0" y="0"/>
            <a:chExt cx="1793680" cy="616624"/>
          </a:xfrm>
        </p:grpSpPr>
        <p:sp>
          <p:nvSpPr>
            <p:cNvPr name="Freeform 20" id="20"/>
            <p:cNvSpPr/>
            <p:nvPr/>
          </p:nvSpPr>
          <p:spPr>
            <a:xfrm flipH="false" flipV="false" rot="0">
              <a:off x="0" y="0"/>
              <a:ext cx="1793680" cy="616624"/>
            </a:xfrm>
            <a:custGeom>
              <a:avLst/>
              <a:gdLst/>
              <a:ahLst/>
              <a:cxnLst/>
              <a:rect r="r" b="b" t="t" l="l"/>
              <a:pathLst>
                <a:path h="616624" w="1793680">
                  <a:moveTo>
                    <a:pt x="896840" y="0"/>
                  </a:moveTo>
                  <a:cubicBezTo>
                    <a:pt x="401529" y="0"/>
                    <a:pt x="0" y="138036"/>
                    <a:pt x="0" y="308312"/>
                  </a:cubicBezTo>
                  <a:cubicBezTo>
                    <a:pt x="0" y="478588"/>
                    <a:pt x="401529" y="616624"/>
                    <a:pt x="896840" y="616624"/>
                  </a:cubicBezTo>
                  <a:cubicBezTo>
                    <a:pt x="1392151" y="616624"/>
                    <a:pt x="1793680" y="478588"/>
                    <a:pt x="1793680" y="308312"/>
                  </a:cubicBezTo>
                  <a:cubicBezTo>
                    <a:pt x="1793680" y="138036"/>
                    <a:pt x="1392151" y="0"/>
                    <a:pt x="896840" y="0"/>
                  </a:cubicBezTo>
                  <a:close/>
                </a:path>
              </a:pathLst>
            </a:custGeom>
            <a:solidFill>
              <a:srgbClr val="3E3E95"/>
            </a:solidFill>
          </p:spPr>
        </p:sp>
        <p:sp>
          <p:nvSpPr>
            <p:cNvPr name="TextBox 21" id="21"/>
            <p:cNvSpPr txBox="true"/>
            <p:nvPr/>
          </p:nvSpPr>
          <p:spPr>
            <a:xfrm>
              <a:off x="168157" y="10184"/>
              <a:ext cx="1457365" cy="548632"/>
            </a:xfrm>
            <a:prstGeom prst="rect">
              <a:avLst/>
            </a:prstGeom>
          </p:spPr>
          <p:txBody>
            <a:bodyPr anchor="ctr" rtlCol="false" tIns="57104" lIns="57104" bIns="57104" rIns="57104"/>
            <a:lstStyle/>
            <a:p>
              <a:pPr algn="ctr">
                <a:lnSpc>
                  <a:spcPts val="2800"/>
                </a:lnSpc>
              </a:pPr>
            </a:p>
          </p:txBody>
        </p:sp>
      </p:grpSp>
      <p:sp>
        <p:nvSpPr>
          <p:cNvPr name="Freeform 22" id="22"/>
          <p:cNvSpPr/>
          <p:nvPr/>
        </p:nvSpPr>
        <p:spPr>
          <a:xfrm flipH="false" flipV="false" rot="5400000">
            <a:off x="12747270" y="7002335"/>
            <a:ext cx="2138209" cy="1739077"/>
          </a:xfrm>
          <a:custGeom>
            <a:avLst/>
            <a:gdLst/>
            <a:ahLst/>
            <a:cxnLst/>
            <a:rect r="r" b="b" t="t" l="l"/>
            <a:pathLst>
              <a:path h="1739077" w="2138209">
                <a:moveTo>
                  <a:pt x="0" y="0"/>
                </a:moveTo>
                <a:lnTo>
                  <a:pt x="2138209" y="0"/>
                </a:lnTo>
                <a:lnTo>
                  <a:pt x="2138209" y="1739077"/>
                </a:lnTo>
                <a:lnTo>
                  <a:pt x="0" y="17390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23" id="23"/>
          <p:cNvGrpSpPr/>
          <p:nvPr/>
        </p:nvGrpSpPr>
        <p:grpSpPr>
          <a:xfrm rot="-5400000">
            <a:off x="1007590" y="3102706"/>
            <a:ext cx="337757" cy="295537"/>
            <a:chOff x="0" y="0"/>
            <a:chExt cx="812800" cy="711200"/>
          </a:xfrm>
        </p:grpSpPr>
        <p:sp>
          <p:nvSpPr>
            <p:cNvPr name="Freeform 24" id="24"/>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56E11B"/>
            </a:solidFill>
          </p:spPr>
        </p:sp>
        <p:sp>
          <p:nvSpPr>
            <p:cNvPr name="TextBox 25" id="25"/>
            <p:cNvSpPr txBox="true"/>
            <p:nvPr/>
          </p:nvSpPr>
          <p:spPr>
            <a:xfrm>
              <a:off x="127000" y="12700"/>
              <a:ext cx="558800" cy="368300"/>
            </a:xfrm>
            <a:prstGeom prst="rect">
              <a:avLst/>
            </a:prstGeom>
          </p:spPr>
          <p:txBody>
            <a:bodyPr anchor="ctr" rtlCol="false" tIns="50800" lIns="50800" bIns="50800" rIns="50800"/>
            <a:lstStyle/>
            <a:p>
              <a:pPr algn="ctr">
                <a:lnSpc>
                  <a:spcPts val="2799"/>
                </a:lnSpc>
              </a:pPr>
            </a:p>
          </p:txBody>
        </p:sp>
      </p:grpSp>
      <p:grpSp>
        <p:nvGrpSpPr>
          <p:cNvPr name="Group 26" id="26"/>
          <p:cNvGrpSpPr/>
          <p:nvPr/>
        </p:nvGrpSpPr>
        <p:grpSpPr>
          <a:xfrm rot="-5400000">
            <a:off x="1007590" y="4445639"/>
            <a:ext cx="337757" cy="295537"/>
            <a:chOff x="0" y="0"/>
            <a:chExt cx="812800" cy="711200"/>
          </a:xfrm>
        </p:grpSpPr>
        <p:sp>
          <p:nvSpPr>
            <p:cNvPr name="Freeform 27" id="27"/>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0C268"/>
            </a:solidFill>
          </p:spPr>
        </p:sp>
        <p:sp>
          <p:nvSpPr>
            <p:cNvPr name="TextBox 28" id="28"/>
            <p:cNvSpPr txBox="true"/>
            <p:nvPr/>
          </p:nvSpPr>
          <p:spPr>
            <a:xfrm>
              <a:off x="127000" y="12700"/>
              <a:ext cx="558800" cy="368300"/>
            </a:xfrm>
            <a:prstGeom prst="rect">
              <a:avLst/>
            </a:prstGeom>
          </p:spPr>
          <p:txBody>
            <a:bodyPr anchor="ctr" rtlCol="false" tIns="50800" lIns="50800" bIns="50800" rIns="50800"/>
            <a:lstStyle/>
            <a:p>
              <a:pPr algn="ctr">
                <a:lnSpc>
                  <a:spcPts val="2799"/>
                </a:lnSpc>
              </a:pPr>
            </a:p>
          </p:txBody>
        </p:sp>
      </p:grpSp>
      <p:grpSp>
        <p:nvGrpSpPr>
          <p:cNvPr name="Group 29" id="29"/>
          <p:cNvGrpSpPr/>
          <p:nvPr/>
        </p:nvGrpSpPr>
        <p:grpSpPr>
          <a:xfrm rot="0">
            <a:off x="1343287" y="3035743"/>
            <a:ext cx="2142863" cy="429463"/>
            <a:chOff x="0" y="0"/>
            <a:chExt cx="564375" cy="113110"/>
          </a:xfrm>
        </p:grpSpPr>
        <p:sp>
          <p:nvSpPr>
            <p:cNvPr name="Freeform 30" id="30"/>
            <p:cNvSpPr/>
            <p:nvPr/>
          </p:nvSpPr>
          <p:spPr>
            <a:xfrm flipH="false" flipV="false" rot="0">
              <a:off x="0" y="0"/>
              <a:ext cx="564375" cy="113110"/>
            </a:xfrm>
            <a:custGeom>
              <a:avLst/>
              <a:gdLst/>
              <a:ahLst/>
              <a:cxnLst/>
              <a:rect r="r" b="b" t="t" l="l"/>
              <a:pathLst>
                <a:path h="113110" w="564375">
                  <a:moveTo>
                    <a:pt x="56555" y="0"/>
                  </a:moveTo>
                  <a:lnTo>
                    <a:pt x="507821" y="0"/>
                  </a:lnTo>
                  <a:cubicBezTo>
                    <a:pt x="522820" y="0"/>
                    <a:pt x="537205" y="5958"/>
                    <a:pt x="547811" y="16565"/>
                  </a:cubicBezTo>
                  <a:cubicBezTo>
                    <a:pt x="558417" y="27171"/>
                    <a:pt x="564375" y="41556"/>
                    <a:pt x="564375" y="56555"/>
                  </a:cubicBezTo>
                  <a:lnTo>
                    <a:pt x="564375" y="56555"/>
                  </a:lnTo>
                  <a:cubicBezTo>
                    <a:pt x="564375" y="87789"/>
                    <a:pt x="539055" y="113110"/>
                    <a:pt x="507821" y="113110"/>
                  </a:cubicBezTo>
                  <a:lnTo>
                    <a:pt x="56555" y="113110"/>
                  </a:lnTo>
                  <a:cubicBezTo>
                    <a:pt x="41556" y="113110"/>
                    <a:pt x="27171" y="107151"/>
                    <a:pt x="16565" y="96545"/>
                  </a:cubicBezTo>
                  <a:cubicBezTo>
                    <a:pt x="5958" y="85939"/>
                    <a:pt x="0" y="71554"/>
                    <a:pt x="0" y="56555"/>
                  </a:cubicBezTo>
                  <a:lnTo>
                    <a:pt x="0" y="56555"/>
                  </a:lnTo>
                  <a:cubicBezTo>
                    <a:pt x="0" y="41556"/>
                    <a:pt x="5958" y="27171"/>
                    <a:pt x="16565" y="16565"/>
                  </a:cubicBezTo>
                  <a:cubicBezTo>
                    <a:pt x="27171" y="5958"/>
                    <a:pt x="41556" y="0"/>
                    <a:pt x="56555" y="0"/>
                  </a:cubicBezTo>
                  <a:close/>
                </a:path>
              </a:pathLst>
            </a:custGeom>
            <a:solidFill>
              <a:srgbClr val="56E11B"/>
            </a:solidFill>
          </p:spPr>
        </p:sp>
        <p:sp>
          <p:nvSpPr>
            <p:cNvPr name="TextBox 31" id="31"/>
            <p:cNvSpPr txBox="true"/>
            <p:nvPr/>
          </p:nvSpPr>
          <p:spPr>
            <a:xfrm>
              <a:off x="0" y="-19050"/>
              <a:ext cx="564375" cy="132160"/>
            </a:xfrm>
            <a:prstGeom prst="rect">
              <a:avLst/>
            </a:prstGeom>
          </p:spPr>
          <p:txBody>
            <a:bodyPr anchor="ctr" rtlCol="false" tIns="50800" lIns="50800" bIns="50800" rIns="50800"/>
            <a:lstStyle/>
            <a:p>
              <a:pPr algn="ctr">
                <a:lnSpc>
                  <a:spcPts val="2240"/>
                </a:lnSpc>
              </a:pPr>
              <a:r>
                <a:rPr lang="en-US" b="true" sz="1600">
                  <a:solidFill>
                    <a:srgbClr val="FFFFFF"/>
                  </a:solidFill>
                  <a:latin typeface="TT Hoves Bold"/>
                  <a:ea typeface="TT Hoves Bold"/>
                  <a:cs typeface="TT Hoves Bold"/>
                  <a:sym typeface="TT Hoves Bold"/>
                </a:rPr>
                <a:t>Sta</a:t>
              </a:r>
              <a:r>
                <a:rPr lang="en-US" b="true" sz="1600">
                  <a:solidFill>
                    <a:srgbClr val="FFFFFF"/>
                  </a:solidFill>
                  <a:latin typeface="TT Hoves Bold"/>
                  <a:ea typeface="TT Hoves Bold"/>
                  <a:cs typeface="TT Hoves Bold"/>
                  <a:sym typeface="TT Hoves Bold"/>
                </a:rPr>
                <a:t>rt Project</a:t>
              </a:r>
            </a:p>
          </p:txBody>
        </p:sp>
      </p:grpSp>
      <p:grpSp>
        <p:nvGrpSpPr>
          <p:cNvPr name="Group 32" id="32"/>
          <p:cNvGrpSpPr/>
          <p:nvPr/>
        </p:nvGrpSpPr>
        <p:grpSpPr>
          <a:xfrm rot="0">
            <a:off x="1343287" y="4378676"/>
            <a:ext cx="2142863" cy="429463"/>
            <a:chOff x="0" y="0"/>
            <a:chExt cx="564375" cy="113110"/>
          </a:xfrm>
        </p:grpSpPr>
        <p:sp>
          <p:nvSpPr>
            <p:cNvPr name="Freeform 33" id="33"/>
            <p:cNvSpPr/>
            <p:nvPr/>
          </p:nvSpPr>
          <p:spPr>
            <a:xfrm flipH="false" flipV="false" rot="0">
              <a:off x="0" y="0"/>
              <a:ext cx="564375" cy="113110"/>
            </a:xfrm>
            <a:custGeom>
              <a:avLst/>
              <a:gdLst/>
              <a:ahLst/>
              <a:cxnLst/>
              <a:rect r="r" b="b" t="t" l="l"/>
              <a:pathLst>
                <a:path h="113110" w="564375">
                  <a:moveTo>
                    <a:pt x="56555" y="0"/>
                  </a:moveTo>
                  <a:lnTo>
                    <a:pt x="507821" y="0"/>
                  </a:lnTo>
                  <a:cubicBezTo>
                    <a:pt x="522820" y="0"/>
                    <a:pt x="537205" y="5958"/>
                    <a:pt x="547811" y="16565"/>
                  </a:cubicBezTo>
                  <a:cubicBezTo>
                    <a:pt x="558417" y="27171"/>
                    <a:pt x="564375" y="41556"/>
                    <a:pt x="564375" y="56555"/>
                  </a:cubicBezTo>
                  <a:lnTo>
                    <a:pt x="564375" y="56555"/>
                  </a:lnTo>
                  <a:cubicBezTo>
                    <a:pt x="564375" y="87789"/>
                    <a:pt x="539055" y="113110"/>
                    <a:pt x="507821" y="113110"/>
                  </a:cubicBezTo>
                  <a:lnTo>
                    <a:pt x="56555" y="113110"/>
                  </a:lnTo>
                  <a:cubicBezTo>
                    <a:pt x="41556" y="113110"/>
                    <a:pt x="27171" y="107151"/>
                    <a:pt x="16565" y="96545"/>
                  </a:cubicBezTo>
                  <a:cubicBezTo>
                    <a:pt x="5958" y="85939"/>
                    <a:pt x="0" y="71554"/>
                    <a:pt x="0" y="56555"/>
                  </a:cubicBezTo>
                  <a:lnTo>
                    <a:pt x="0" y="56555"/>
                  </a:lnTo>
                  <a:cubicBezTo>
                    <a:pt x="0" y="41556"/>
                    <a:pt x="5958" y="27171"/>
                    <a:pt x="16565" y="16565"/>
                  </a:cubicBezTo>
                  <a:cubicBezTo>
                    <a:pt x="27171" y="5958"/>
                    <a:pt x="41556" y="0"/>
                    <a:pt x="56555" y="0"/>
                  </a:cubicBezTo>
                  <a:close/>
                </a:path>
              </a:pathLst>
            </a:custGeom>
            <a:solidFill>
              <a:srgbClr val="00C268"/>
            </a:solidFill>
          </p:spPr>
        </p:sp>
        <p:sp>
          <p:nvSpPr>
            <p:cNvPr name="TextBox 34" id="34"/>
            <p:cNvSpPr txBox="true"/>
            <p:nvPr/>
          </p:nvSpPr>
          <p:spPr>
            <a:xfrm>
              <a:off x="0" y="-19050"/>
              <a:ext cx="564375" cy="132160"/>
            </a:xfrm>
            <a:prstGeom prst="rect">
              <a:avLst/>
            </a:prstGeom>
          </p:spPr>
          <p:txBody>
            <a:bodyPr anchor="ctr" rtlCol="false" tIns="50800" lIns="50800" bIns="50800" rIns="50800"/>
            <a:lstStyle/>
            <a:p>
              <a:pPr algn="ctr">
                <a:lnSpc>
                  <a:spcPts val="2240"/>
                </a:lnSpc>
              </a:pPr>
              <a:r>
                <a:rPr lang="en-US" b="true" sz="1600">
                  <a:solidFill>
                    <a:srgbClr val="FFFFFF"/>
                  </a:solidFill>
                  <a:latin typeface="TT Hoves Bold"/>
                  <a:ea typeface="TT Hoves Bold"/>
                  <a:cs typeface="TT Hoves Bold"/>
                  <a:sym typeface="TT Hoves Bold"/>
                </a:rPr>
                <a:t>Fi</a:t>
              </a:r>
              <a:r>
                <a:rPr lang="en-US" b="true" sz="1600">
                  <a:solidFill>
                    <a:srgbClr val="FFFFFF"/>
                  </a:solidFill>
                  <a:latin typeface="TT Hoves Bold"/>
                  <a:ea typeface="TT Hoves Bold"/>
                  <a:cs typeface="TT Hoves Bold"/>
                  <a:sym typeface="TT Hoves Bold"/>
                </a:rPr>
                <a:t>rst Sprint</a:t>
              </a:r>
            </a:p>
          </p:txBody>
        </p:sp>
      </p:grpSp>
      <p:sp>
        <p:nvSpPr>
          <p:cNvPr name="TextBox 35" id="35"/>
          <p:cNvSpPr txBox="true"/>
          <p:nvPr/>
        </p:nvSpPr>
        <p:spPr>
          <a:xfrm rot="0">
            <a:off x="1028700" y="885825"/>
            <a:ext cx="7432535" cy="613429"/>
          </a:xfrm>
          <a:prstGeom prst="rect">
            <a:avLst/>
          </a:prstGeom>
        </p:spPr>
        <p:txBody>
          <a:bodyPr anchor="t" rtlCol="false" tIns="0" lIns="0" bIns="0" rIns="0">
            <a:spAutoFit/>
          </a:bodyPr>
          <a:lstStyle/>
          <a:p>
            <a:pPr algn="l">
              <a:lnSpc>
                <a:spcPts val="5040"/>
              </a:lnSpc>
            </a:pPr>
            <a:r>
              <a:rPr lang="en-US" b="true" sz="3600">
                <a:solidFill>
                  <a:srgbClr val="000000"/>
                </a:solidFill>
                <a:latin typeface="TT Hoves Bold"/>
                <a:ea typeface="TT Hoves Bold"/>
                <a:cs typeface="TT Hoves Bold"/>
                <a:sym typeface="TT Hoves Bold"/>
              </a:rPr>
              <a:t>Delivery Roadmap Plan</a:t>
            </a:r>
          </a:p>
        </p:txBody>
      </p:sp>
      <p:sp>
        <p:nvSpPr>
          <p:cNvPr name="TextBox 36" id="36"/>
          <p:cNvSpPr txBox="true"/>
          <p:nvPr/>
        </p:nvSpPr>
        <p:spPr>
          <a:xfrm rot="0">
            <a:off x="1028700" y="1706418"/>
            <a:ext cx="7432535" cy="323215"/>
          </a:xfrm>
          <a:prstGeom prst="rect">
            <a:avLst/>
          </a:prstGeom>
        </p:spPr>
        <p:txBody>
          <a:bodyPr anchor="t" rtlCol="false" tIns="0" lIns="0" bIns="0" rIns="0">
            <a:spAutoFit/>
          </a:bodyPr>
          <a:lstStyle/>
          <a:p>
            <a:pPr algn="l">
              <a:lnSpc>
                <a:spcPts val="2660"/>
              </a:lnSpc>
            </a:pPr>
            <a:r>
              <a:rPr lang="en-US" sz="1900">
                <a:solidFill>
                  <a:srgbClr val="000000"/>
                </a:solidFill>
                <a:latin typeface="TT Hoves"/>
                <a:ea typeface="TT Hoves"/>
                <a:cs typeface="TT Hoves"/>
                <a:sym typeface="TT Hoves"/>
              </a:rPr>
              <a:t>Five phases guide progress toward final release</a:t>
            </a:r>
          </a:p>
        </p:txBody>
      </p:sp>
      <p:sp>
        <p:nvSpPr>
          <p:cNvPr name="TextBox 37" id="37"/>
          <p:cNvSpPr txBox="true"/>
          <p:nvPr/>
        </p:nvSpPr>
        <p:spPr>
          <a:xfrm rot="0">
            <a:off x="16663177" y="1839170"/>
            <a:ext cx="889043" cy="523837"/>
          </a:xfrm>
          <a:prstGeom prst="rect">
            <a:avLst/>
          </a:prstGeom>
        </p:spPr>
        <p:txBody>
          <a:bodyPr anchor="t" rtlCol="false" tIns="0" lIns="0" bIns="0" rIns="0">
            <a:spAutoFit/>
          </a:bodyPr>
          <a:lstStyle/>
          <a:p>
            <a:pPr algn="ctr">
              <a:lnSpc>
                <a:spcPts val="4200"/>
              </a:lnSpc>
            </a:pPr>
            <a:r>
              <a:rPr lang="en-US" b="true" sz="3000">
                <a:solidFill>
                  <a:srgbClr val="000000"/>
                </a:solidFill>
                <a:latin typeface="TT Hoves Bold"/>
                <a:ea typeface="TT Hoves Bold"/>
                <a:cs typeface="TT Hoves Bold"/>
                <a:sym typeface="TT Hoves Bold"/>
              </a:rPr>
              <a:t>01</a:t>
            </a:r>
          </a:p>
        </p:txBody>
      </p:sp>
      <p:sp>
        <p:nvSpPr>
          <p:cNvPr name="TextBox 38" id="38"/>
          <p:cNvSpPr txBox="true"/>
          <p:nvPr/>
        </p:nvSpPr>
        <p:spPr>
          <a:xfrm rot="0">
            <a:off x="13603280" y="2332564"/>
            <a:ext cx="889043" cy="523837"/>
          </a:xfrm>
          <a:prstGeom prst="rect">
            <a:avLst/>
          </a:prstGeom>
        </p:spPr>
        <p:txBody>
          <a:bodyPr anchor="t" rtlCol="false" tIns="0" lIns="0" bIns="0" rIns="0">
            <a:spAutoFit/>
          </a:bodyPr>
          <a:lstStyle/>
          <a:p>
            <a:pPr algn="ctr">
              <a:lnSpc>
                <a:spcPts val="4200"/>
              </a:lnSpc>
            </a:pPr>
            <a:r>
              <a:rPr lang="en-US" b="true" sz="3000">
                <a:solidFill>
                  <a:srgbClr val="000000"/>
                </a:solidFill>
                <a:latin typeface="TT Hoves Bold"/>
                <a:ea typeface="TT Hoves Bold"/>
                <a:cs typeface="TT Hoves Bold"/>
                <a:sym typeface="TT Hoves Bold"/>
              </a:rPr>
              <a:t>02</a:t>
            </a:r>
          </a:p>
        </p:txBody>
      </p:sp>
      <p:sp>
        <p:nvSpPr>
          <p:cNvPr name="TextBox 39" id="39"/>
          <p:cNvSpPr txBox="true"/>
          <p:nvPr/>
        </p:nvSpPr>
        <p:spPr>
          <a:xfrm rot="0">
            <a:off x="11851669" y="4586105"/>
            <a:ext cx="889043" cy="523837"/>
          </a:xfrm>
          <a:prstGeom prst="rect">
            <a:avLst/>
          </a:prstGeom>
        </p:spPr>
        <p:txBody>
          <a:bodyPr anchor="t" rtlCol="false" tIns="0" lIns="0" bIns="0" rIns="0">
            <a:spAutoFit/>
          </a:bodyPr>
          <a:lstStyle/>
          <a:p>
            <a:pPr algn="ctr">
              <a:lnSpc>
                <a:spcPts val="4200"/>
              </a:lnSpc>
            </a:pPr>
            <a:r>
              <a:rPr lang="en-US" b="true" sz="3000">
                <a:solidFill>
                  <a:srgbClr val="000000"/>
                </a:solidFill>
                <a:latin typeface="TT Hoves Bold"/>
                <a:ea typeface="TT Hoves Bold"/>
                <a:cs typeface="TT Hoves Bold"/>
                <a:sym typeface="TT Hoves Bold"/>
              </a:rPr>
              <a:t>03</a:t>
            </a:r>
          </a:p>
        </p:txBody>
      </p:sp>
      <p:sp>
        <p:nvSpPr>
          <p:cNvPr name="TextBox 40" id="40"/>
          <p:cNvSpPr txBox="true"/>
          <p:nvPr/>
        </p:nvSpPr>
        <p:spPr>
          <a:xfrm rot="0">
            <a:off x="9233748" y="5610244"/>
            <a:ext cx="889043" cy="523837"/>
          </a:xfrm>
          <a:prstGeom prst="rect">
            <a:avLst/>
          </a:prstGeom>
        </p:spPr>
        <p:txBody>
          <a:bodyPr anchor="t" rtlCol="false" tIns="0" lIns="0" bIns="0" rIns="0">
            <a:spAutoFit/>
          </a:bodyPr>
          <a:lstStyle/>
          <a:p>
            <a:pPr algn="ctr">
              <a:lnSpc>
                <a:spcPts val="4200"/>
              </a:lnSpc>
            </a:pPr>
            <a:r>
              <a:rPr lang="en-US" b="true" sz="3000">
                <a:solidFill>
                  <a:srgbClr val="000000"/>
                </a:solidFill>
                <a:latin typeface="TT Hoves Bold"/>
                <a:ea typeface="TT Hoves Bold"/>
                <a:cs typeface="TT Hoves Bold"/>
                <a:sym typeface="TT Hoves Bold"/>
              </a:rPr>
              <a:t>04</a:t>
            </a:r>
          </a:p>
        </p:txBody>
      </p:sp>
      <p:sp>
        <p:nvSpPr>
          <p:cNvPr name="TextBox 41" id="41"/>
          <p:cNvSpPr txBox="true"/>
          <p:nvPr/>
        </p:nvSpPr>
        <p:spPr>
          <a:xfrm rot="0">
            <a:off x="13371853" y="7068187"/>
            <a:ext cx="889043" cy="523837"/>
          </a:xfrm>
          <a:prstGeom prst="rect">
            <a:avLst/>
          </a:prstGeom>
        </p:spPr>
        <p:txBody>
          <a:bodyPr anchor="t" rtlCol="false" tIns="0" lIns="0" bIns="0" rIns="0">
            <a:spAutoFit/>
          </a:bodyPr>
          <a:lstStyle/>
          <a:p>
            <a:pPr algn="ctr">
              <a:lnSpc>
                <a:spcPts val="4200"/>
              </a:lnSpc>
            </a:pPr>
            <a:r>
              <a:rPr lang="en-US" b="true" sz="3000">
                <a:solidFill>
                  <a:srgbClr val="000000"/>
                </a:solidFill>
                <a:latin typeface="TT Hoves Bold"/>
                <a:ea typeface="TT Hoves Bold"/>
                <a:cs typeface="TT Hoves Bold"/>
                <a:sym typeface="TT Hoves Bold"/>
              </a:rPr>
              <a:t>05</a:t>
            </a:r>
          </a:p>
        </p:txBody>
      </p:sp>
      <p:sp>
        <p:nvSpPr>
          <p:cNvPr name="TextBox 42" id="42"/>
          <p:cNvSpPr txBox="true"/>
          <p:nvPr/>
        </p:nvSpPr>
        <p:spPr>
          <a:xfrm rot="0">
            <a:off x="3714750" y="2837352"/>
            <a:ext cx="2868261"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Kick-off</a:t>
            </a:r>
            <a:r>
              <a:rPr lang="en-US" sz="1600">
                <a:solidFill>
                  <a:srgbClr val="000000"/>
                </a:solidFill>
                <a:latin typeface="TT Hoves"/>
                <a:ea typeface="TT Hoves"/>
                <a:cs typeface="TT Hoves"/>
                <a:sym typeface="TT Hoves"/>
              </a:rPr>
              <a:t> meetings align all stakeholders, teams, and project objectives</a:t>
            </a:r>
          </a:p>
        </p:txBody>
      </p:sp>
      <p:sp>
        <p:nvSpPr>
          <p:cNvPr name="TextBox 43" id="43"/>
          <p:cNvSpPr txBox="true"/>
          <p:nvPr/>
        </p:nvSpPr>
        <p:spPr>
          <a:xfrm rot="0">
            <a:off x="3714750" y="4180284"/>
            <a:ext cx="2868261"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Initial develop</a:t>
            </a:r>
            <a:r>
              <a:rPr lang="en-US" sz="1600">
                <a:solidFill>
                  <a:srgbClr val="000000"/>
                </a:solidFill>
                <a:latin typeface="TT Hoves"/>
                <a:ea typeface="TT Hoves"/>
                <a:cs typeface="TT Hoves"/>
                <a:sym typeface="TT Hoves"/>
              </a:rPr>
              <a:t>ment cycle delivers early, usable, and testable results</a:t>
            </a:r>
          </a:p>
        </p:txBody>
      </p:sp>
      <p:grpSp>
        <p:nvGrpSpPr>
          <p:cNvPr name="Group 44" id="44"/>
          <p:cNvGrpSpPr/>
          <p:nvPr/>
        </p:nvGrpSpPr>
        <p:grpSpPr>
          <a:xfrm rot="-5400000">
            <a:off x="1007590" y="5788572"/>
            <a:ext cx="337757" cy="295537"/>
            <a:chOff x="0" y="0"/>
            <a:chExt cx="812800" cy="711200"/>
          </a:xfrm>
        </p:grpSpPr>
        <p:sp>
          <p:nvSpPr>
            <p:cNvPr name="Freeform 45" id="45"/>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07B80"/>
            </a:solidFill>
          </p:spPr>
        </p:sp>
        <p:sp>
          <p:nvSpPr>
            <p:cNvPr name="TextBox 46" id="46"/>
            <p:cNvSpPr txBox="true"/>
            <p:nvPr/>
          </p:nvSpPr>
          <p:spPr>
            <a:xfrm>
              <a:off x="127000" y="12700"/>
              <a:ext cx="558800" cy="368300"/>
            </a:xfrm>
            <a:prstGeom prst="rect">
              <a:avLst/>
            </a:prstGeom>
          </p:spPr>
          <p:txBody>
            <a:bodyPr anchor="ctr" rtlCol="false" tIns="50800" lIns="50800" bIns="50800" rIns="50800"/>
            <a:lstStyle/>
            <a:p>
              <a:pPr algn="ctr">
                <a:lnSpc>
                  <a:spcPts val="2799"/>
                </a:lnSpc>
              </a:pPr>
            </a:p>
          </p:txBody>
        </p:sp>
      </p:grpSp>
      <p:grpSp>
        <p:nvGrpSpPr>
          <p:cNvPr name="Group 47" id="47"/>
          <p:cNvGrpSpPr/>
          <p:nvPr/>
        </p:nvGrpSpPr>
        <p:grpSpPr>
          <a:xfrm rot="0">
            <a:off x="1343287" y="5721609"/>
            <a:ext cx="2142863" cy="429463"/>
            <a:chOff x="0" y="0"/>
            <a:chExt cx="564375" cy="113110"/>
          </a:xfrm>
        </p:grpSpPr>
        <p:sp>
          <p:nvSpPr>
            <p:cNvPr name="Freeform 48" id="48"/>
            <p:cNvSpPr/>
            <p:nvPr/>
          </p:nvSpPr>
          <p:spPr>
            <a:xfrm flipH="false" flipV="false" rot="0">
              <a:off x="0" y="0"/>
              <a:ext cx="564375" cy="113110"/>
            </a:xfrm>
            <a:custGeom>
              <a:avLst/>
              <a:gdLst/>
              <a:ahLst/>
              <a:cxnLst/>
              <a:rect r="r" b="b" t="t" l="l"/>
              <a:pathLst>
                <a:path h="113110" w="564375">
                  <a:moveTo>
                    <a:pt x="56555" y="0"/>
                  </a:moveTo>
                  <a:lnTo>
                    <a:pt x="507821" y="0"/>
                  </a:lnTo>
                  <a:cubicBezTo>
                    <a:pt x="522820" y="0"/>
                    <a:pt x="537205" y="5958"/>
                    <a:pt x="547811" y="16565"/>
                  </a:cubicBezTo>
                  <a:cubicBezTo>
                    <a:pt x="558417" y="27171"/>
                    <a:pt x="564375" y="41556"/>
                    <a:pt x="564375" y="56555"/>
                  </a:cubicBezTo>
                  <a:lnTo>
                    <a:pt x="564375" y="56555"/>
                  </a:lnTo>
                  <a:cubicBezTo>
                    <a:pt x="564375" y="87789"/>
                    <a:pt x="539055" y="113110"/>
                    <a:pt x="507821" y="113110"/>
                  </a:cubicBezTo>
                  <a:lnTo>
                    <a:pt x="56555" y="113110"/>
                  </a:lnTo>
                  <a:cubicBezTo>
                    <a:pt x="41556" y="113110"/>
                    <a:pt x="27171" y="107151"/>
                    <a:pt x="16565" y="96545"/>
                  </a:cubicBezTo>
                  <a:cubicBezTo>
                    <a:pt x="5958" y="85939"/>
                    <a:pt x="0" y="71554"/>
                    <a:pt x="0" y="56555"/>
                  </a:cubicBezTo>
                  <a:lnTo>
                    <a:pt x="0" y="56555"/>
                  </a:lnTo>
                  <a:cubicBezTo>
                    <a:pt x="0" y="41556"/>
                    <a:pt x="5958" y="27171"/>
                    <a:pt x="16565" y="16565"/>
                  </a:cubicBezTo>
                  <a:cubicBezTo>
                    <a:pt x="27171" y="5958"/>
                    <a:pt x="41556" y="0"/>
                    <a:pt x="56555" y="0"/>
                  </a:cubicBezTo>
                  <a:close/>
                </a:path>
              </a:pathLst>
            </a:custGeom>
            <a:solidFill>
              <a:srgbClr val="007B80"/>
            </a:solidFill>
          </p:spPr>
        </p:sp>
        <p:sp>
          <p:nvSpPr>
            <p:cNvPr name="TextBox 49" id="49"/>
            <p:cNvSpPr txBox="true"/>
            <p:nvPr/>
          </p:nvSpPr>
          <p:spPr>
            <a:xfrm>
              <a:off x="0" y="-19050"/>
              <a:ext cx="564375" cy="132160"/>
            </a:xfrm>
            <a:prstGeom prst="rect">
              <a:avLst/>
            </a:prstGeom>
          </p:spPr>
          <p:txBody>
            <a:bodyPr anchor="ctr" rtlCol="false" tIns="50800" lIns="50800" bIns="50800" rIns="50800"/>
            <a:lstStyle/>
            <a:p>
              <a:pPr algn="ctr">
                <a:lnSpc>
                  <a:spcPts val="2240"/>
                </a:lnSpc>
              </a:pPr>
              <a:r>
                <a:rPr lang="en-US" b="true" sz="1600">
                  <a:solidFill>
                    <a:srgbClr val="FFFFFF"/>
                  </a:solidFill>
                  <a:latin typeface="TT Hoves Bold"/>
                  <a:ea typeface="TT Hoves Bold"/>
                  <a:cs typeface="TT Hoves Bold"/>
                  <a:sym typeface="TT Hoves Bold"/>
                </a:rPr>
                <a:t>Mid Revi</a:t>
              </a:r>
              <a:r>
                <a:rPr lang="en-US" b="true" sz="1600">
                  <a:solidFill>
                    <a:srgbClr val="FFFFFF"/>
                  </a:solidFill>
                  <a:latin typeface="TT Hoves Bold"/>
                  <a:ea typeface="TT Hoves Bold"/>
                  <a:cs typeface="TT Hoves Bold"/>
                  <a:sym typeface="TT Hoves Bold"/>
                </a:rPr>
                <a:t>ew</a:t>
              </a:r>
            </a:p>
          </p:txBody>
        </p:sp>
      </p:grpSp>
      <p:sp>
        <p:nvSpPr>
          <p:cNvPr name="TextBox 50" id="50"/>
          <p:cNvSpPr txBox="true"/>
          <p:nvPr/>
        </p:nvSpPr>
        <p:spPr>
          <a:xfrm rot="0">
            <a:off x="3714750" y="5523217"/>
            <a:ext cx="2461601"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Evaluate progre</a:t>
            </a:r>
            <a:r>
              <a:rPr lang="en-US" sz="1600">
                <a:solidFill>
                  <a:srgbClr val="000000"/>
                </a:solidFill>
                <a:latin typeface="TT Hoves"/>
                <a:ea typeface="TT Hoves"/>
                <a:cs typeface="TT Hoves"/>
                <a:sym typeface="TT Hoves"/>
              </a:rPr>
              <a:t>ss carefully and adjust project plans if required</a:t>
            </a:r>
          </a:p>
        </p:txBody>
      </p:sp>
      <p:grpSp>
        <p:nvGrpSpPr>
          <p:cNvPr name="Group 51" id="51"/>
          <p:cNvGrpSpPr/>
          <p:nvPr/>
        </p:nvGrpSpPr>
        <p:grpSpPr>
          <a:xfrm rot="-5400000">
            <a:off x="1007590" y="7131504"/>
            <a:ext cx="337757" cy="295537"/>
            <a:chOff x="0" y="0"/>
            <a:chExt cx="812800" cy="711200"/>
          </a:xfrm>
        </p:grpSpPr>
        <p:sp>
          <p:nvSpPr>
            <p:cNvPr name="Freeform 52" id="52"/>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04259"/>
            </a:solidFill>
          </p:spPr>
        </p:sp>
        <p:sp>
          <p:nvSpPr>
            <p:cNvPr name="TextBox 53" id="53"/>
            <p:cNvSpPr txBox="true"/>
            <p:nvPr/>
          </p:nvSpPr>
          <p:spPr>
            <a:xfrm>
              <a:off x="127000" y="12700"/>
              <a:ext cx="558800" cy="368300"/>
            </a:xfrm>
            <a:prstGeom prst="rect">
              <a:avLst/>
            </a:prstGeom>
          </p:spPr>
          <p:txBody>
            <a:bodyPr anchor="ctr" rtlCol="false" tIns="50800" lIns="50800" bIns="50800" rIns="50800"/>
            <a:lstStyle/>
            <a:p>
              <a:pPr algn="ctr">
                <a:lnSpc>
                  <a:spcPts val="2799"/>
                </a:lnSpc>
              </a:pPr>
            </a:p>
          </p:txBody>
        </p:sp>
      </p:grpSp>
      <p:grpSp>
        <p:nvGrpSpPr>
          <p:cNvPr name="Group 54" id="54"/>
          <p:cNvGrpSpPr/>
          <p:nvPr/>
        </p:nvGrpSpPr>
        <p:grpSpPr>
          <a:xfrm rot="0">
            <a:off x="1343287" y="7064541"/>
            <a:ext cx="2142863" cy="429463"/>
            <a:chOff x="0" y="0"/>
            <a:chExt cx="564375" cy="113110"/>
          </a:xfrm>
        </p:grpSpPr>
        <p:sp>
          <p:nvSpPr>
            <p:cNvPr name="Freeform 55" id="55"/>
            <p:cNvSpPr/>
            <p:nvPr/>
          </p:nvSpPr>
          <p:spPr>
            <a:xfrm flipH="false" flipV="false" rot="0">
              <a:off x="0" y="0"/>
              <a:ext cx="564375" cy="113110"/>
            </a:xfrm>
            <a:custGeom>
              <a:avLst/>
              <a:gdLst/>
              <a:ahLst/>
              <a:cxnLst/>
              <a:rect r="r" b="b" t="t" l="l"/>
              <a:pathLst>
                <a:path h="113110" w="564375">
                  <a:moveTo>
                    <a:pt x="56555" y="0"/>
                  </a:moveTo>
                  <a:lnTo>
                    <a:pt x="507821" y="0"/>
                  </a:lnTo>
                  <a:cubicBezTo>
                    <a:pt x="522820" y="0"/>
                    <a:pt x="537205" y="5958"/>
                    <a:pt x="547811" y="16565"/>
                  </a:cubicBezTo>
                  <a:cubicBezTo>
                    <a:pt x="558417" y="27171"/>
                    <a:pt x="564375" y="41556"/>
                    <a:pt x="564375" y="56555"/>
                  </a:cubicBezTo>
                  <a:lnTo>
                    <a:pt x="564375" y="56555"/>
                  </a:lnTo>
                  <a:cubicBezTo>
                    <a:pt x="564375" y="87789"/>
                    <a:pt x="539055" y="113110"/>
                    <a:pt x="507821" y="113110"/>
                  </a:cubicBezTo>
                  <a:lnTo>
                    <a:pt x="56555" y="113110"/>
                  </a:lnTo>
                  <a:cubicBezTo>
                    <a:pt x="41556" y="113110"/>
                    <a:pt x="27171" y="107151"/>
                    <a:pt x="16565" y="96545"/>
                  </a:cubicBezTo>
                  <a:cubicBezTo>
                    <a:pt x="5958" y="85939"/>
                    <a:pt x="0" y="71554"/>
                    <a:pt x="0" y="56555"/>
                  </a:cubicBezTo>
                  <a:lnTo>
                    <a:pt x="0" y="56555"/>
                  </a:lnTo>
                  <a:cubicBezTo>
                    <a:pt x="0" y="41556"/>
                    <a:pt x="5958" y="27171"/>
                    <a:pt x="16565" y="16565"/>
                  </a:cubicBezTo>
                  <a:cubicBezTo>
                    <a:pt x="27171" y="5958"/>
                    <a:pt x="41556" y="0"/>
                    <a:pt x="56555" y="0"/>
                  </a:cubicBezTo>
                  <a:close/>
                </a:path>
              </a:pathLst>
            </a:custGeom>
            <a:solidFill>
              <a:srgbClr val="004259"/>
            </a:solidFill>
          </p:spPr>
        </p:sp>
        <p:sp>
          <p:nvSpPr>
            <p:cNvPr name="TextBox 56" id="56"/>
            <p:cNvSpPr txBox="true"/>
            <p:nvPr/>
          </p:nvSpPr>
          <p:spPr>
            <a:xfrm>
              <a:off x="0" y="-19050"/>
              <a:ext cx="564375" cy="132160"/>
            </a:xfrm>
            <a:prstGeom prst="rect">
              <a:avLst/>
            </a:prstGeom>
          </p:spPr>
          <p:txBody>
            <a:bodyPr anchor="ctr" rtlCol="false" tIns="50800" lIns="50800" bIns="50800" rIns="50800"/>
            <a:lstStyle/>
            <a:p>
              <a:pPr algn="ctr">
                <a:lnSpc>
                  <a:spcPts val="2240"/>
                </a:lnSpc>
              </a:pPr>
              <a:r>
                <a:rPr lang="en-US" b="true" sz="1600">
                  <a:solidFill>
                    <a:srgbClr val="FFFFFF"/>
                  </a:solidFill>
                  <a:latin typeface="TT Hoves Bold"/>
                  <a:ea typeface="TT Hoves Bold"/>
                  <a:cs typeface="TT Hoves Bold"/>
                  <a:sym typeface="TT Hoves Bold"/>
                </a:rPr>
                <a:t>Final</a:t>
              </a:r>
              <a:r>
                <a:rPr lang="en-US" b="true" sz="1600">
                  <a:solidFill>
                    <a:srgbClr val="FFFFFF"/>
                  </a:solidFill>
                  <a:latin typeface="TT Hoves Bold"/>
                  <a:ea typeface="TT Hoves Bold"/>
                  <a:cs typeface="TT Hoves Bold"/>
                  <a:sym typeface="TT Hoves Bold"/>
                </a:rPr>
                <a:t> Sprint</a:t>
              </a:r>
            </a:p>
          </p:txBody>
        </p:sp>
      </p:grpSp>
      <p:sp>
        <p:nvSpPr>
          <p:cNvPr name="TextBox 57" id="57"/>
          <p:cNvSpPr txBox="true"/>
          <p:nvPr/>
        </p:nvSpPr>
        <p:spPr>
          <a:xfrm rot="0">
            <a:off x="3714750" y="6866150"/>
            <a:ext cx="2571750"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Last </a:t>
            </a:r>
            <a:r>
              <a:rPr lang="en-US" sz="1600">
                <a:solidFill>
                  <a:srgbClr val="000000"/>
                </a:solidFill>
                <a:latin typeface="TT Hoves"/>
                <a:ea typeface="TT Hoves"/>
                <a:cs typeface="TT Hoves"/>
                <a:sym typeface="TT Hoves"/>
              </a:rPr>
              <a:t>iteration ensures complete deliverables are successfully achieved</a:t>
            </a:r>
          </a:p>
        </p:txBody>
      </p:sp>
      <p:grpSp>
        <p:nvGrpSpPr>
          <p:cNvPr name="Group 58" id="58"/>
          <p:cNvGrpSpPr/>
          <p:nvPr/>
        </p:nvGrpSpPr>
        <p:grpSpPr>
          <a:xfrm rot="-5400000">
            <a:off x="1007590" y="8474437"/>
            <a:ext cx="337757" cy="295537"/>
            <a:chOff x="0" y="0"/>
            <a:chExt cx="812800" cy="711200"/>
          </a:xfrm>
        </p:grpSpPr>
        <p:sp>
          <p:nvSpPr>
            <p:cNvPr name="Freeform 59" id="59"/>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00038"/>
            </a:solidFill>
          </p:spPr>
        </p:sp>
        <p:sp>
          <p:nvSpPr>
            <p:cNvPr name="TextBox 60" id="60"/>
            <p:cNvSpPr txBox="true"/>
            <p:nvPr/>
          </p:nvSpPr>
          <p:spPr>
            <a:xfrm>
              <a:off x="127000" y="12700"/>
              <a:ext cx="558800" cy="368300"/>
            </a:xfrm>
            <a:prstGeom prst="rect">
              <a:avLst/>
            </a:prstGeom>
          </p:spPr>
          <p:txBody>
            <a:bodyPr anchor="ctr" rtlCol="false" tIns="50800" lIns="50800" bIns="50800" rIns="50800"/>
            <a:lstStyle/>
            <a:p>
              <a:pPr algn="ctr">
                <a:lnSpc>
                  <a:spcPts val="2799"/>
                </a:lnSpc>
              </a:pPr>
            </a:p>
          </p:txBody>
        </p:sp>
      </p:grpSp>
      <p:grpSp>
        <p:nvGrpSpPr>
          <p:cNvPr name="Group 61" id="61"/>
          <p:cNvGrpSpPr/>
          <p:nvPr/>
        </p:nvGrpSpPr>
        <p:grpSpPr>
          <a:xfrm rot="0">
            <a:off x="1343287" y="8407474"/>
            <a:ext cx="2142863" cy="429463"/>
            <a:chOff x="0" y="0"/>
            <a:chExt cx="564375" cy="113110"/>
          </a:xfrm>
        </p:grpSpPr>
        <p:sp>
          <p:nvSpPr>
            <p:cNvPr name="Freeform 62" id="62"/>
            <p:cNvSpPr/>
            <p:nvPr/>
          </p:nvSpPr>
          <p:spPr>
            <a:xfrm flipH="false" flipV="false" rot="0">
              <a:off x="0" y="0"/>
              <a:ext cx="564375" cy="113110"/>
            </a:xfrm>
            <a:custGeom>
              <a:avLst/>
              <a:gdLst/>
              <a:ahLst/>
              <a:cxnLst/>
              <a:rect r="r" b="b" t="t" l="l"/>
              <a:pathLst>
                <a:path h="113110" w="564375">
                  <a:moveTo>
                    <a:pt x="56555" y="0"/>
                  </a:moveTo>
                  <a:lnTo>
                    <a:pt x="507821" y="0"/>
                  </a:lnTo>
                  <a:cubicBezTo>
                    <a:pt x="522820" y="0"/>
                    <a:pt x="537205" y="5958"/>
                    <a:pt x="547811" y="16565"/>
                  </a:cubicBezTo>
                  <a:cubicBezTo>
                    <a:pt x="558417" y="27171"/>
                    <a:pt x="564375" y="41556"/>
                    <a:pt x="564375" y="56555"/>
                  </a:cubicBezTo>
                  <a:lnTo>
                    <a:pt x="564375" y="56555"/>
                  </a:lnTo>
                  <a:cubicBezTo>
                    <a:pt x="564375" y="87789"/>
                    <a:pt x="539055" y="113110"/>
                    <a:pt x="507821" y="113110"/>
                  </a:cubicBezTo>
                  <a:lnTo>
                    <a:pt x="56555" y="113110"/>
                  </a:lnTo>
                  <a:cubicBezTo>
                    <a:pt x="41556" y="113110"/>
                    <a:pt x="27171" y="107151"/>
                    <a:pt x="16565" y="96545"/>
                  </a:cubicBezTo>
                  <a:cubicBezTo>
                    <a:pt x="5958" y="85939"/>
                    <a:pt x="0" y="71554"/>
                    <a:pt x="0" y="56555"/>
                  </a:cubicBezTo>
                  <a:lnTo>
                    <a:pt x="0" y="56555"/>
                  </a:lnTo>
                  <a:cubicBezTo>
                    <a:pt x="0" y="41556"/>
                    <a:pt x="5958" y="27171"/>
                    <a:pt x="16565" y="16565"/>
                  </a:cubicBezTo>
                  <a:cubicBezTo>
                    <a:pt x="27171" y="5958"/>
                    <a:pt x="41556" y="0"/>
                    <a:pt x="56555" y="0"/>
                  </a:cubicBezTo>
                  <a:close/>
                </a:path>
              </a:pathLst>
            </a:custGeom>
            <a:solidFill>
              <a:srgbClr val="000038"/>
            </a:solidFill>
          </p:spPr>
        </p:sp>
        <p:sp>
          <p:nvSpPr>
            <p:cNvPr name="TextBox 63" id="63"/>
            <p:cNvSpPr txBox="true"/>
            <p:nvPr/>
          </p:nvSpPr>
          <p:spPr>
            <a:xfrm>
              <a:off x="0" y="-19050"/>
              <a:ext cx="564375" cy="132160"/>
            </a:xfrm>
            <a:prstGeom prst="rect">
              <a:avLst/>
            </a:prstGeom>
          </p:spPr>
          <p:txBody>
            <a:bodyPr anchor="ctr" rtlCol="false" tIns="50800" lIns="50800" bIns="50800" rIns="50800"/>
            <a:lstStyle/>
            <a:p>
              <a:pPr algn="ctr">
                <a:lnSpc>
                  <a:spcPts val="2240"/>
                </a:lnSpc>
              </a:pPr>
              <a:r>
                <a:rPr lang="en-US" b="true" sz="1600">
                  <a:solidFill>
                    <a:srgbClr val="FFFFFF"/>
                  </a:solidFill>
                  <a:latin typeface="TT Hoves Bold"/>
                  <a:ea typeface="TT Hoves Bold"/>
                  <a:cs typeface="TT Hoves Bold"/>
                  <a:sym typeface="TT Hoves Bold"/>
                </a:rPr>
                <a:t>Launch Release</a:t>
              </a:r>
            </a:p>
          </p:txBody>
        </p:sp>
      </p:grpSp>
      <p:sp>
        <p:nvSpPr>
          <p:cNvPr name="TextBox 64" id="64"/>
          <p:cNvSpPr txBox="true"/>
          <p:nvPr/>
        </p:nvSpPr>
        <p:spPr>
          <a:xfrm rot="0">
            <a:off x="3714750" y="8209082"/>
            <a:ext cx="2868261"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Final product ver</a:t>
            </a:r>
            <a:r>
              <a:rPr lang="en-US" sz="1600">
                <a:solidFill>
                  <a:srgbClr val="000000"/>
                </a:solidFill>
                <a:latin typeface="TT Hoves"/>
                <a:ea typeface="TT Hoves"/>
                <a:cs typeface="TT Hoves"/>
                <a:sym typeface="TT Hoves"/>
              </a:rPr>
              <a:t>sion is delivered to customers for immediate use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sp>
        <p:nvSpPr>
          <p:cNvPr name="Freeform 2" id="2"/>
          <p:cNvSpPr/>
          <p:nvPr/>
        </p:nvSpPr>
        <p:spPr>
          <a:xfrm flipH="false" flipV="false" rot="0">
            <a:off x="159021" y="620114"/>
            <a:ext cx="16268589" cy="9080831"/>
          </a:xfrm>
          <a:custGeom>
            <a:avLst/>
            <a:gdLst/>
            <a:ahLst/>
            <a:cxnLst/>
            <a:rect r="r" b="b" t="t" l="l"/>
            <a:pathLst>
              <a:path h="9080831" w="16268589">
                <a:moveTo>
                  <a:pt x="0" y="0"/>
                </a:moveTo>
                <a:lnTo>
                  <a:pt x="16268589" y="0"/>
                </a:lnTo>
                <a:lnTo>
                  <a:pt x="16268589" y="9080830"/>
                </a:lnTo>
                <a:lnTo>
                  <a:pt x="0" y="90808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392826" y="5547800"/>
            <a:ext cx="2283360" cy="1193800"/>
          </a:xfrm>
          <a:prstGeom prst="rect">
            <a:avLst/>
          </a:prstGeom>
        </p:spPr>
        <p:txBody>
          <a:bodyPr anchor="t" rtlCol="false" tIns="0" lIns="0" bIns="0" rIns="0">
            <a:spAutoFit/>
          </a:bodyPr>
          <a:lstStyle/>
          <a:p>
            <a:pPr algn="r">
              <a:lnSpc>
                <a:spcPts val="9799"/>
              </a:lnSpc>
            </a:pPr>
            <a:r>
              <a:rPr lang="en-US" b="true" sz="6999">
                <a:solidFill>
                  <a:srgbClr val="56E11B"/>
                </a:solidFill>
                <a:latin typeface="TT Hoves Bold"/>
                <a:ea typeface="TT Hoves Bold"/>
                <a:cs typeface="TT Hoves Bold"/>
                <a:sym typeface="TT Hoves Bold"/>
              </a:rPr>
              <a:t>01</a:t>
            </a:r>
          </a:p>
        </p:txBody>
      </p:sp>
      <p:sp>
        <p:nvSpPr>
          <p:cNvPr name="TextBox 4" id="4"/>
          <p:cNvSpPr txBox="true"/>
          <p:nvPr/>
        </p:nvSpPr>
        <p:spPr>
          <a:xfrm rot="0">
            <a:off x="6566707" y="3948046"/>
            <a:ext cx="2283360" cy="1193800"/>
          </a:xfrm>
          <a:prstGeom prst="rect">
            <a:avLst/>
          </a:prstGeom>
        </p:spPr>
        <p:txBody>
          <a:bodyPr anchor="t" rtlCol="false" tIns="0" lIns="0" bIns="0" rIns="0">
            <a:spAutoFit/>
          </a:bodyPr>
          <a:lstStyle/>
          <a:p>
            <a:pPr algn="r">
              <a:lnSpc>
                <a:spcPts val="9799"/>
              </a:lnSpc>
            </a:pPr>
            <a:r>
              <a:rPr lang="en-US" b="true" sz="6999">
                <a:solidFill>
                  <a:srgbClr val="007B80"/>
                </a:solidFill>
                <a:latin typeface="TT Hoves Bold"/>
                <a:ea typeface="TT Hoves Bold"/>
                <a:cs typeface="TT Hoves Bold"/>
                <a:sym typeface="TT Hoves Bold"/>
              </a:rPr>
              <a:t>02</a:t>
            </a:r>
          </a:p>
        </p:txBody>
      </p:sp>
      <p:sp>
        <p:nvSpPr>
          <p:cNvPr name="TextBox 5" id="5"/>
          <p:cNvSpPr txBox="true"/>
          <p:nvPr/>
        </p:nvSpPr>
        <p:spPr>
          <a:xfrm rot="0">
            <a:off x="9650881" y="2506747"/>
            <a:ext cx="2283360" cy="1193800"/>
          </a:xfrm>
          <a:prstGeom prst="rect">
            <a:avLst/>
          </a:prstGeom>
        </p:spPr>
        <p:txBody>
          <a:bodyPr anchor="t" rtlCol="false" tIns="0" lIns="0" bIns="0" rIns="0">
            <a:spAutoFit/>
          </a:bodyPr>
          <a:lstStyle/>
          <a:p>
            <a:pPr algn="r">
              <a:lnSpc>
                <a:spcPts val="9799"/>
              </a:lnSpc>
            </a:pPr>
            <a:r>
              <a:rPr lang="en-US" b="true" sz="6999">
                <a:solidFill>
                  <a:srgbClr val="004259"/>
                </a:solidFill>
                <a:latin typeface="TT Hoves Bold"/>
                <a:ea typeface="TT Hoves Bold"/>
                <a:cs typeface="TT Hoves Bold"/>
                <a:sym typeface="TT Hoves Bold"/>
              </a:rPr>
              <a:t>03</a:t>
            </a:r>
          </a:p>
        </p:txBody>
      </p:sp>
      <p:sp>
        <p:nvSpPr>
          <p:cNvPr name="TextBox 6" id="6"/>
          <p:cNvSpPr txBox="true"/>
          <p:nvPr/>
        </p:nvSpPr>
        <p:spPr>
          <a:xfrm rot="0">
            <a:off x="12735055" y="1009650"/>
            <a:ext cx="2283360" cy="1193800"/>
          </a:xfrm>
          <a:prstGeom prst="rect">
            <a:avLst/>
          </a:prstGeom>
        </p:spPr>
        <p:txBody>
          <a:bodyPr anchor="t" rtlCol="false" tIns="0" lIns="0" bIns="0" rIns="0">
            <a:spAutoFit/>
          </a:bodyPr>
          <a:lstStyle/>
          <a:p>
            <a:pPr algn="r">
              <a:lnSpc>
                <a:spcPts val="9799"/>
              </a:lnSpc>
            </a:pPr>
            <a:r>
              <a:rPr lang="en-US" b="true" sz="6999">
                <a:solidFill>
                  <a:srgbClr val="002843"/>
                </a:solidFill>
                <a:latin typeface="TT Hoves Bold"/>
                <a:ea typeface="TT Hoves Bold"/>
                <a:cs typeface="TT Hoves Bold"/>
                <a:sym typeface="TT Hoves Bold"/>
              </a:rPr>
              <a:t>04</a:t>
            </a:r>
          </a:p>
        </p:txBody>
      </p:sp>
      <p:grpSp>
        <p:nvGrpSpPr>
          <p:cNvPr name="Group 7" id="7"/>
          <p:cNvGrpSpPr/>
          <p:nvPr/>
        </p:nvGrpSpPr>
        <p:grpSpPr>
          <a:xfrm rot="0">
            <a:off x="3392826" y="6381108"/>
            <a:ext cx="2505130" cy="3086100"/>
            <a:chOff x="0" y="0"/>
            <a:chExt cx="659787" cy="812800"/>
          </a:xfrm>
        </p:grpSpPr>
        <p:sp>
          <p:nvSpPr>
            <p:cNvPr name="Freeform 8" id="8"/>
            <p:cNvSpPr/>
            <p:nvPr/>
          </p:nvSpPr>
          <p:spPr>
            <a:xfrm flipH="false" flipV="false" rot="0">
              <a:off x="0" y="0"/>
              <a:ext cx="659787" cy="812800"/>
            </a:xfrm>
            <a:custGeom>
              <a:avLst/>
              <a:gdLst/>
              <a:ahLst/>
              <a:cxnLst/>
              <a:rect r="r" b="b" t="t" l="l"/>
              <a:pathLst>
                <a:path h="812800" w="659787">
                  <a:moveTo>
                    <a:pt x="58718" y="0"/>
                  </a:moveTo>
                  <a:lnTo>
                    <a:pt x="601069" y="0"/>
                  </a:lnTo>
                  <a:cubicBezTo>
                    <a:pt x="633498" y="0"/>
                    <a:pt x="659787" y="26289"/>
                    <a:pt x="659787" y="58718"/>
                  </a:cubicBezTo>
                  <a:lnTo>
                    <a:pt x="659787" y="754082"/>
                  </a:lnTo>
                  <a:cubicBezTo>
                    <a:pt x="659787" y="769655"/>
                    <a:pt x="653601" y="784590"/>
                    <a:pt x="642589" y="795602"/>
                  </a:cubicBezTo>
                  <a:cubicBezTo>
                    <a:pt x="631577" y="806614"/>
                    <a:pt x="616642" y="812800"/>
                    <a:pt x="601069" y="812800"/>
                  </a:cubicBezTo>
                  <a:lnTo>
                    <a:pt x="58718" y="812800"/>
                  </a:lnTo>
                  <a:cubicBezTo>
                    <a:pt x="26289" y="812800"/>
                    <a:pt x="0" y="786511"/>
                    <a:pt x="0" y="754082"/>
                  </a:cubicBezTo>
                  <a:lnTo>
                    <a:pt x="0" y="58718"/>
                  </a:lnTo>
                  <a:cubicBezTo>
                    <a:pt x="0" y="26289"/>
                    <a:pt x="26289" y="0"/>
                    <a:pt x="58718" y="0"/>
                  </a:cubicBezTo>
                  <a:close/>
                </a:path>
              </a:pathLst>
            </a:custGeom>
            <a:solidFill>
              <a:srgbClr val="FFFFFF"/>
            </a:solidFill>
          </p:spPr>
        </p:sp>
        <p:sp>
          <p:nvSpPr>
            <p:cNvPr name="TextBox 9" id="9"/>
            <p:cNvSpPr txBox="true"/>
            <p:nvPr/>
          </p:nvSpPr>
          <p:spPr>
            <a:xfrm>
              <a:off x="0" y="-38100"/>
              <a:ext cx="659787" cy="850900"/>
            </a:xfrm>
            <a:prstGeom prst="rect">
              <a:avLst/>
            </a:prstGeom>
          </p:spPr>
          <p:txBody>
            <a:bodyPr anchor="ctr" rtlCol="false" tIns="50800" lIns="50800" bIns="50800" rIns="50800"/>
            <a:lstStyle/>
            <a:p>
              <a:pPr algn="ctr">
                <a:lnSpc>
                  <a:spcPts val="2799"/>
                </a:lnSpc>
              </a:pPr>
            </a:p>
          </p:txBody>
        </p:sp>
      </p:grpSp>
      <p:grpSp>
        <p:nvGrpSpPr>
          <p:cNvPr name="Group 10" id="10"/>
          <p:cNvGrpSpPr/>
          <p:nvPr/>
        </p:nvGrpSpPr>
        <p:grpSpPr>
          <a:xfrm rot="0">
            <a:off x="6524570" y="4867636"/>
            <a:ext cx="2505130" cy="3086100"/>
            <a:chOff x="0" y="0"/>
            <a:chExt cx="659787" cy="812800"/>
          </a:xfrm>
        </p:grpSpPr>
        <p:sp>
          <p:nvSpPr>
            <p:cNvPr name="Freeform 11" id="11"/>
            <p:cNvSpPr/>
            <p:nvPr/>
          </p:nvSpPr>
          <p:spPr>
            <a:xfrm flipH="false" flipV="false" rot="0">
              <a:off x="0" y="0"/>
              <a:ext cx="659787" cy="812800"/>
            </a:xfrm>
            <a:custGeom>
              <a:avLst/>
              <a:gdLst/>
              <a:ahLst/>
              <a:cxnLst/>
              <a:rect r="r" b="b" t="t" l="l"/>
              <a:pathLst>
                <a:path h="812800" w="659787">
                  <a:moveTo>
                    <a:pt x="58718" y="0"/>
                  </a:moveTo>
                  <a:lnTo>
                    <a:pt x="601069" y="0"/>
                  </a:lnTo>
                  <a:cubicBezTo>
                    <a:pt x="633498" y="0"/>
                    <a:pt x="659787" y="26289"/>
                    <a:pt x="659787" y="58718"/>
                  </a:cubicBezTo>
                  <a:lnTo>
                    <a:pt x="659787" y="754082"/>
                  </a:lnTo>
                  <a:cubicBezTo>
                    <a:pt x="659787" y="769655"/>
                    <a:pt x="653601" y="784590"/>
                    <a:pt x="642589" y="795602"/>
                  </a:cubicBezTo>
                  <a:cubicBezTo>
                    <a:pt x="631577" y="806614"/>
                    <a:pt x="616642" y="812800"/>
                    <a:pt x="601069" y="812800"/>
                  </a:cubicBezTo>
                  <a:lnTo>
                    <a:pt x="58718" y="812800"/>
                  </a:lnTo>
                  <a:cubicBezTo>
                    <a:pt x="26289" y="812800"/>
                    <a:pt x="0" y="786511"/>
                    <a:pt x="0" y="754082"/>
                  </a:cubicBezTo>
                  <a:lnTo>
                    <a:pt x="0" y="58718"/>
                  </a:lnTo>
                  <a:cubicBezTo>
                    <a:pt x="0" y="26289"/>
                    <a:pt x="26289" y="0"/>
                    <a:pt x="58718" y="0"/>
                  </a:cubicBezTo>
                  <a:close/>
                </a:path>
              </a:pathLst>
            </a:custGeom>
            <a:solidFill>
              <a:srgbClr val="FFFFFF"/>
            </a:solidFill>
          </p:spPr>
        </p:sp>
        <p:sp>
          <p:nvSpPr>
            <p:cNvPr name="TextBox 12" id="12"/>
            <p:cNvSpPr txBox="true"/>
            <p:nvPr/>
          </p:nvSpPr>
          <p:spPr>
            <a:xfrm>
              <a:off x="0" y="-38100"/>
              <a:ext cx="659787" cy="850900"/>
            </a:xfrm>
            <a:prstGeom prst="rect">
              <a:avLst/>
            </a:prstGeom>
          </p:spPr>
          <p:txBody>
            <a:bodyPr anchor="ctr" rtlCol="false" tIns="50800" lIns="50800" bIns="50800" rIns="50800"/>
            <a:lstStyle/>
            <a:p>
              <a:pPr algn="ctr">
                <a:lnSpc>
                  <a:spcPts val="2799"/>
                </a:lnSpc>
              </a:pPr>
            </a:p>
          </p:txBody>
        </p:sp>
      </p:grpSp>
      <p:grpSp>
        <p:nvGrpSpPr>
          <p:cNvPr name="Group 13" id="13"/>
          <p:cNvGrpSpPr/>
          <p:nvPr/>
        </p:nvGrpSpPr>
        <p:grpSpPr>
          <a:xfrm rot="0">
            <a:off x="9628248" y="3354164"/>
            <a:ext cx="2505130" cy="3086100"/>
            <a:chOff x="0" y="0"/>
            <a:chExt cx="659787" cy="812800"/>
          </a:xfrm>
        </p:grpSpPr>
        <p:sp>
          <p:nvSpPr>
            <p:cNvPr name="Freeform 14" id="14"/>
            <p:cNvSpPr/>
            <p:nvPr/>
          </p:nvSpPr>
          <p:spPr>
            <a:xfrm flipH="false" flipV="false" rot="0">
              <a:off x="0" y="0"/>
              <a:ext cx="659787" cy="812800"/>
            </a:xfrm>
            <a:custGeom>
              <a:avLst/>
              <a:gdLst/>
              <a:ahLst/>
              <a:cxnLst/>
              <a:rect r="r" b="b" t="t" l="l"/>
              <a:pathLst>
                <a:path h="812800" w="659787">
                  <a:moveTo>
                    <a:pt x="58718" y="0"/>
                  </a:moveTo>
                  <a:lnTo>
                    <a:pt x="601069" y="0"/>
                  </a:lnTo>
                  <a:cubicBezTo>
                    <a:pt x="633498" y="0"/>
                    <a:pt x="659787" y="26289"/>
                    <a:pt x="659787" y="58718"/>
                  </a:cubicBezTo>
                  <a:lnTo>
                    <a:pt x="659787" y="754082"/>
                  </a:lnTo>
                  <a:cubicBezTo>
                    <a:pt x="659787" y="769655"/>
                    <a:pt x="653601" y="784590"/>
                    <a:pt x="642589" y="795602"/>
                  </a:cubicBezTo>
                  <a:cubicBezTo>
                    <a:pt x="631577" y="806614"/>
                    <a:pt x="616642" y="812800"/>
                    <a:pt x="601069" y="812800"/>
                  </a:cubicBezTo>
                  <a:lnTo>
                    <a:pt x="58718" y="812800"/>
                  </a:lnTo>
                  <a:cubicBezTo>
                    <a:pt x="26289" y="812800"/>
                    <a:pt x="0" y="786511"/>
                    <a:pt x="0" y="754082"/>
                  </a:cubicBezTo>
                  <a:lnTo>
                    <a:pt x="0" y="58718"/>
                  </a:lnTo>
                  <a:cubicBezTo>
                    <a:pt x="0" y="26289"/>
                    <a:pt x="26289" y="0"/>
                    <a:pt x="58718" y="0"/>
                  </a:cubicBezTo>
                  <a:close/>
                </a:path>
              </a:pathLst>
            </a:custGeom>
            <a:solidFill>
              <a:srgbClr val="FFFFFF"/>
            </a:solidFill>
          </p:spPr>
        </p:sp>
        <p:sp>
          <p:nvSpPr>
            <p:cNvPr name="TextBox 15" id="15"/>
            <p:cNvSpPr txBox="true"/>
            <p:nvPr/>
          </p:nvSpPr>
          <p:spPr>
            <a:xfrm>
              <a:off x="0" y="-38100"/>
              <a:ext cx="659787" cy="850900"/>
            </a:xfrm>
            <a:prstGeom prst="rect">
              <a:avLst/>
            </a:prstGeom>
          </p:spPr>
          <p:txBody>
            <a:bodyPr anchor="ctr" rtlCol="false" tIns="50800" lIns="50800" bIns="50800" rIns="50800"/>
            <a:lstStyle/>
            <a:p>
              <a:pPr algn="ctr">
                <a:lnSpc>
                  <a:spcPts val="2799"/>
                </a:lnSpc>
              </a:pPr>
            </a:p>
          </p:txBody>
        </p:sp>
      </p:grpSp>
      <p:grpSp>
        <p:nvGrpSpPr>
          <p:cNvPr name="Group 16" id="16"/>
          <p:cNvGrpSpPr/>
          <p:nvPr/>
        </p:nvGrpSpPr>
        <p:grpSpPr>
          <a:xfrm rot="0">
            <a:off x="12733453" y="1840692"/>
            <a:ext cx="2505130" cy="3086100"/>
            <a:chOff x="0" y="0"/>
            <a:chExt cx="659787" cy="812800"/>
          </a:xfrm>
        </p:grpSpPr>
        <p:sp>
          <p:nvSpPr>
            <p:cNvPr name="Freeform 17" id="17"/>
            <p:cNvSpPr/>
            <p:nvPr/>
          </p:nvSpPr>
          <p:spPr>
            <a:xfrm flipH="false" flipV="false" rot="0">
              <a:off x="0" y="0"/>
              <a:ext cx="659787" cy="812800"/>
            </a:xfrm>
            <a:custGeom>
              <a:avLst/>
              <a:gdLst/>
              <a:ahLst/>
              <a:cxnLst/>
              <a:rect r="r" b="b" t="t" l="l"/>
              <a:pathLst>
                <a:path h="812800" w="659787">
                  <a:moveTo>
                    <a:pt x="58718" y="0"/>
                  </a:moveTo>
                  <a:lnTo>
                    <a:pt x="601069" y="0"/>
                  </a:lnTo>
                  <a:cubicBezTo>
                    <a:pt x="633498" y="0"/>
                    <a:pt x="659787" y="26289"/>
                    <a:pt x="659787" y="58718"/>
                  </a:cubicBezTo>
                  <a:lnTo>
                    <a:pt x="659787" y="754082"/>
                  </a:lnTo>
                  <a:cubicBezTo>
                    <a:pt x="659787" y="769655"/>
                    <a:pt x="653601" y="784590"/>
                    <a:pt x="642589" y="795602"/>
                  </a:cubicBezTo>
                  <a:cubicBezTo>
                    <a:pt x="631577" y="806614"/>
                    <a:pt x="616642" y="812800"/>
                    <a:pt x="601069" y="812800"/>
                  </a:cubicBezTo>
                  <a:lnTo>
                    <a:pt x="58718" y="812800"/>
                  </a:lnTo>
                  <a:cubicBezTo>
                    <a:pt x="26289" y="812800"/>
                    <a:pt x="0" y="786511"/>
                    <a:pt x="0" y="754082"/>
                  </a:cubicBezTo>
                  <a:lnTo>
                    <a:pt x="0" y="58718"/>
                  </a:lnTo>
                  <a:cubicBezTo>
                    <a:pt x="0" y="26289"/>
                    <a:pt x="26289" y="0"/>
                    <a:pt x="58718" y="0"/>
                  </a:cubicBezTo>
                  <a:close/>
                </a:path>
              </a:pathLst>
            </a:custGeom>
            <a:solidFill>
              <a:srgbClr val="FFFFFF"/>
            </a:solidFill>
          </p:spPr>
        </p:sp>
        <p:sp>
          <p:nvSpPr>
            <p:cNvPr name="TextBox 18" id="18"/>
            <p:cNvSpPr txBox="true"/>
            <p:nvPr/>
          </p:nvSpPr>
          <p:spPr>
            <a:xfrm>
              <a:off x="0" y="-38100"/>
              <a:ext cx="659787" cy="850900"/>
            </a:xfrm>
            <a:prstGeom prst="rect">
              <a:avLst/>
            </a:prstGeom>
          </p:spPr>
          <p:txBody>
            <a:bodyPr anchor="ctr" rtlCol="false" tIns="50800" lIns="50800" bIns="50800" rIns="50800"/>
            <a:lstStyle/>
            <a:p>
              <a:pPr algn="ctr">
                <a:lnSpc>
                  <a:spcPts val="2799"/>
                </a:lnSpc>
              </a:pPr>
            </a:p>
          </p:txBody>
        </p:sp>
      </p:grpSp>
      <p:sp>
        <p:nvSpPr>
          <p:cNvPr name="Freeform 19" id="19"/>
          <p:cNvSpPr/>
          <p:nvPr/>
        </p:nvSpPr>
        <p:spPr>
          <a:xfrm flipH="false" flipV="false" rot="0">
            <a:off x="3172302" y="6188814"/>
            <a:ext cx="1025992" cy="1024160"/>
          </a:xfrm>
          <a:custGeom>
            <a:avLst/>
            <a:gdLst/>
            <a:ahLst/>
            <a:cxnLst/>
            <a:rect r="r" b="b" t="t" l="l"/>
            <a:pathLst>
              <a:path h="1024160" w="1025992">
                <a:moveTo>
                  <a:pt x="0" y="0"/>
                </a:moveTo>
                <a:lnTo>
                  <a:pt x="1025991" y="0"/>
                </a:lnTo>
                <a:lnTo>
                  <a:pt x="1025991" y="1024160"/>
                </a:lnTo>
                <a:lnTo>
                  <a:pt x="0" y="1024160"/>
                </a:lnTo>
                <a:lnTo>
                  <a:pt x="0" y="0"/>
                </a:lnTo>
                <a:close/>
              </a:path>
            </a:pathLst>
          </a:custGeom>
          <a:blipFill>
            <a:blip r:embed="rId4"/>
            <a:stretch>
              <a:fillRect l="0" t="0" r="0" b="0"/>
            </a:stretch>
          </a:blipFill>
        </p:spPr>
      </p:sp>
      <p:sp>
        <p:nvSpPr>
          <p:cNvPr name="Freeform 20" id="20"/>
          <p:cNvSpPr/>
          <p:nvPr/>
        </p:nvSpPr>
        <p:spPr>
          <a:xfrm flipH="false" flipV="false" rot="0">
            <a:off x="6286500" y="4693208"/>
            <a:ext cx="1025992" cy="1024160"/>
          </a:xfrm>
          <a:custGeom>
            <a:avLst/>
            <a:gdLst/>
            <a:ahLst/>
            <a:cxnLst/>
            <a:rect r="r" b="b" t="t" l="l"/>
            <a:pathLst>
              <a:path h="1024160" w="1025992">
                <a:moveTo>
                  <a:pt x="0" y="0"/>
                </a:moveTo>
                <a:lnTo>
                  <a:pt x="1025992" y="0"/>
                </a:lnTo>
                <a:lnTo>
                  <a:pt x="1025992" y="1024159"/>
                </a:lnTo>
                <a:lnTo>
                  <a:pt x="0" y="1024159"/>
                </a:lnTo>
                <a:lnTo>
                  <a:pt x="0" y="0"/>
                </a:lnTo>
                <a:close/>
              </a:path>
            </a:pathLst>
          </a:custGeom>
          <a:blipFill>
            <a:blip r:embed="rId5"/>
            <a:stretch>
              <a:fillRect l="0" t="0" r="0" b="0"/>
            </a:stretch>
          </a:blipFill>
        </p:spPr>
      </p:sp>
      <p:sp>
        <p:nvSpPr>
          <p:cNvPr name="Freeform 21" id="21"/>
          <p:cNvSpPr/>
          <p:nvPr/>
        </p:nvSpPr>
        <p:spPr>
          <a:xfrm flipH="false" flipV="false" rot="0">
            <a:off x="9400698" y="3197601"/>
            <a:ext cx="1025992" cy="1024160"/>
          </a:xfrm>
          <a:custGeom>
            <a:avLst/>
            <a:gdLst/>
            <a:ahLst/>
            <a:cxnLst/>
            <a:rect r="r" b="b" t="t" l="l"/>
            <a:pathLst>
              <a:path h="1024160" w="1025992">
                <a:moveTo>
                  <a:pt x="0" y="0"/>
                </a:moveTo>
                <a:lnTo>
                  <a:pt x="1025992" y="0"/>
                </a:lnTo>
                <a:lnTo>
                  <a:pt x="1025992" y="1024160"/>
                </a:lnTo>
                <a:lnTo>
                  <a:pt x="0" y="1024160"/>
                </a:lnTo>
                <a:lnTo>
                  <a:pt x="0" y="0"/>
                </a:lnTo>
                <a:close/>
              </a:path>
            </a:pathLst>
          </a:custGeom>
          <a:blipFill>
            <a:blip r:embed="rId6"/>
            <a:stretch>
              <a:fillRect l="0" t="0" r="0" b="0"/>
            </a:stretch>
          </a:blipFill>
        </p:spPr>
      </p:sp>
      <p:sp>
        <p:nvSpPr>
          <p:cNvPr name="Freeform 22" id="22"/>
          <p:cNvSpPr/>
          <p:nvPr/>
        </p:nvSpPr>
        <p:spPr>
          <a:xfrm flipH="false" flipV="false" rot="0">
            <a:off x="12514897" y="1701995"/>
            <a:ext cx="1025992" cy="1024160"/>
          </a:xfrm>
          <a:custGeom>
            <a:avLst/>
            <a:gdLst/>
            <a:ahLst/>
            <a:cxnLst/>
            <a:rect r="r" b="b" t="t" l="l"/>
            <a:pathLst>
              <a:path h="1024160" w="1025992">
                <a:moveTo>
                  <a:pt x="0" y="0"/>
                </a:moveTo>
                <a:lnTo>
                  <a:pt x="1025992" y="0"/>
                </a:lnTo>
                <a:lnTo>
                  <a:pt x="1025992" y="1024159"/>
                </a:lnTo>
                <a:lnTo>
                  <a:pt x="0" y="1024159"/>
                </a:lnTo>
                <a:lnTo>
                  <a:pt x="0" y="0"/>
                </a:lnTo>
                <a:close/>
              </a:path>
            </a:pathLst>
          </a:custGeom>
          <a:blipFill>
            <a:blip r:embed="rId7"/>
            <a:stretch>
              <a:fillRect l="0" t="0" r="0" b="0"/>
            </a:stretch>
          </a:blipFill>
        </p:spPr>
      </p:sp>
      <p:sp>
        <p:nvSpPr>
          <p:cNvPr name="Freeform 23" id="23"/>
          <p:cNvSpPr/>
          <p:nvPr/>
        </p:nvSpPr>
        <p:spPr>
          <a:xfrm flipH="false" flipV="false" rot="0">
            <a:off x="4423785" y="7003894"/>
            <a:ext cx="443212" cy="550264"/>
          </a:xfrm>
          <a:custGeom>
            <a:avLst/>
            <a:gdLst/>
            <a:ahLst/>
            <a:cxnLst/>
            <a:rect r="r" b="b" t="t" l="l"/>
            <a:pathLst>
              <a:path h="550264" w="443212">
                <a:moveTo>
                  <a:pt x="0" y="0"/>
                </a:moveTo>
                <a:lnTo>
                  <a:pt x="443212" y="0"/>
                </a:lnTo>
                <a:lnTo>
                  <a:pt x="443212" y="550264"/>
                </a:lnTo>
                <a:lnTo>
                  <a:pt x="0" y="5502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7485798" y="5407555"/>
            <a:ext cx="582673" cy="582673"/>
          </a:xfrm>
          <a:custGeom>
            <a:avLst/>
            <a:gdLst/>
            <a:ahLst/>
            <a:cxnLst/>
            <a:rect r="r" b="b" t="t" l="l"/>
            <a:pathLst>
              <a:path h="582673" w="582673">
                <a:moveTo>
                  <a:pt x="0" y="0"/>
                </a:moveTo>
                <a:lnTo>
                  <a:pt x="582673" y="0"/>
                </a:lnTo>
                <a:lnTo>
                  <a:pt x="582673" y="582673"/>
                </a:lnTo>
                <a:lnTo>
                  <a:pt x="0" y="5826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0545475" y="3899627"/>
            <a:ext cx="670676" cy="615802"/>
          </a:xfrm>
          <a:custGeom>
            <a:avLst/>
            <a:gdLst/>
            <a:ahLst/>
            <a:cxnLst/>
            <a:rect r="r" b="b" t="t" l="l"/>
            <a:pathLst>
              <a:path h="615802" w="670676">
                <a:moveTo>
                  <a:pt x="0" y="0"/>
                </a:moveTo>
                <a:lnTo>
                  <a:pt x="670676" y="0"/>
                </a:lnTo>
                <a:lnTo>
                  <a:pt x="670676" y="615802"/>
                </a:lnTo>
                <a:lnTo>
                  <a:pt x="0" y="6158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6" id="26"/>
          <p:cNvSpPr/>
          <p:nvPr/>
        </p:nvSpPr>
        <p:spPr>
          <a:xfrm flipH="false" flipV="false" rot="0">
            <a:off x="13653094" y="2298194"/>
            <a:ext cx="665849" cy="665849"/>
          </a:xfrm>
          <a:custGeom>
            <a:avLst/>
            <a:gdLst/>
            <a:ahLst/>
            <a:cxnLst/>
            <a:rect r="r" b="b" t="t" l="l"/>
            <a:pathLst>
              <a:path h="665849" w="665849">
                <a:moveTo>
                  <a:pt x="0" y="0"/>
                </a:moveTo>
                <a:lnTo>
                  <a:pt x="665849" y="0"/>
                </a:lnTo>
                <a:lnTo>
                  <a:pt x="665849" y="665849"/>
                </a:lnTo>
                <a:lnTo>
                  <a:pt x="0" y="6658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7" id="27"/>
          <p:cNvSpPr txBox="true"/>
          <p:nvPr/>
        </p:nvSpPr>
        <p:spPr>
          <a:xfrm rot="0">
            <a:off x="1028700" y="885825"/>
            <a:ext cx="5914807" cy="613429"/>
          </a:xfrm>
          <a:prstGeom prst="rect">
            <a:avLst/>
          </a:prstGeom>
        </p:spPr>
        <p:txBody>
          <a:bodyPr anchor="t" rtlCol="false" tIns="0" lIns="0" bIns="0" rIns="0">
            <a:spAutoFit/>
          </a:bodyPr>
          <a:lstStyle/>
          <a:p>
            <a:pPr algn="l">
              <a:lnSpc>
                <a:spcPts val="5040"/>
              </a:lnSpc>
            </a:pPr>
            <a:r>
              <a:rPr lang="en-US" b="true" sz="3600">
                <a:solidFill>
                  <a:srgbClr val="000000"/>
                </a:solidFill>
                <a:latin typeface="TT Hoves Bold"/>
                <a:ea typeface="TT Hoves Bold"/>
                <a:cs typeface="TT Hoves Bold"/>
                <a:sym typeface="TT Hoves Bold"/>
              </a:rPr>
              <a:t>Defined Team Roles</a:t>
            </a:r>
          </a:p>
        </p:txBody>
      </p:sp>
      <p:sp>
        <p:nvSpPr>
          <p:cNvPr name="TextBox 28" id="28"/>
          <p:cNvSpPr txBox="true"/>
          <p:nvPr/>
        </p:nvSpPr>
        <p:spPr>
          <a:xfrm rot="0">
            <a:off x="1028700" y="1706418"/>
            <a:ext cx="4460735" cy="656590"/>
          </a:xfrm>
          <a:prstGeom prst="rect">
            <a:avLst/>
          </a:prstGeom>
        </p:spPr>
        <p:txBody>
          <a:bodyPr anchor="t" rtlCol="false" tIns="0" lIns="0" bIns="0" rIns="0">
            <a:spAutoFit/>
          </a:bodyPr>
          <a:lstStyle/>
          <a:p>
            <a:pPr algn="l">
              <a:lnSpc>
                <a:spcPts val="2660"/>
              </a:lnSpc>
            </a:pPr>
            <a:r>
              <a:rPr lang="en-US" sz="1900">
                <a:solidFill>
                  <a:srgbClr val="000000"/>
                </a:solidFill>
                <a:latin typeface="TT Hoves"/>
                <a:ea typeface="TT Hoves"/>
                <a:cs typeface="TT Hoves"/>
                <a:sym typeface="TT Hoves"/>
              </a:rPr>
              <a:t>Four distinct roles support effective collaboration</a:t>
            </a:r>
          </a:p>
        </p:txBody>
      </p:sp>
      <p:sp>
        <p:nvSpPr>
          <p:cNvPr name="TextBox 29" id="29"/>
          <p:cNvSpPr txBox="true"/>
          <p:nvPr/>
        </p:nvSpPr>
        <p:spPr>
          <a:xfrm rot="0">
            <a:off x="3658073" y="8229790"/>
            <a:ext cx="1974635" cy="807196"/>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Manages prior</a:t>
            </a:r>
            <a:r>
              <a:rPr lang="en-US" sz="1600">
                <a:solidFill>
                  <a:srgbClr val="000000"/>
                </a:solidFill>
                <a:latin typeface="TT Hoves"/>
                <a:ea typeface="TT Hoves"/>
                <a:cs typeface="TT Hoves"/>
                <a:sym typeface="TT Hoves"/>
              </a:rPr>
              <a:t>ities and defines project vision clearly</a:t>
            </a:r>
          </a:p>
        </p:txBody>
      </p:sp>
      <p:sp>
        <p:nvSpPr>
          <p:cNvPr name="TextBox 30" id="30"/>
          <p:cNvSpPr txBox="true"/>
          <p:nvPr/>
        </p:nvSpPr>
        <p:spPr>
          <a:xfrm rot="0">
            <a:off x="3658073" y="7821431"/>
            <a:ext cx="1974635" cy="316211"/>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TT Hoves Bold"/>
                <a:ea typeface="TT Hoves Bold"/>
                <a:cs typeface="TT Hoves Bold"/>
                <a:sym typeface="TT Hoves Bold"/>
              </a:rPr>
              <a:t>Product Owner</a:t>
            </a:r>
          </a:p>
        </p:txBody>
      </p:sp>
      <p:sp>
        <p:nvSpPr>
          <p:cNvPr name="TextBox 31" id="31"/>
          <p:cNvSpPr txBox="true"/>
          <p:nvPr/>
        </p:nvSpPr>
        <p:spPr>
          <a:xfrm rot="0">
            <a:off x="6789817" y="6741233"/>
            <a:ext cx="1974635" cy="807196"/>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Guides proces</a:t>
            </a:r>
            <a:r>
              <a:rPr lang="en-US" sz="1600">
                <a:solidFill>
                  <a:srgbClr val="000000"/>
                </a:solidFill>
                <a:latin typeface="TT Hoves"/>
                <a:ea typeface="TT Hoves"/>
                <a:cs typeface="TT Hoves"/>
                <a:sym typeface="TT Hoves"/>
              </a:rPr>
              <a:t>s, removes blockers, and ensures focus</a:t>
            </a:r>
          </a:p>
        </p:txBody>
      </p:sp>
      <p:sp>
        <p:nvSpPr>
          <p:cNvPr name="TextBox 32" id="32"/>
          <p:cNvSpPr txBox="true"/>
          <p:nvPr/>
        </p:nvSpPr>
        <p:spPr>
          <a:xfrm rot="0">
            <a:off x="6789817" y="6332875"/>
            <a:ext cx="1974635" cy="316211"/>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TT Hoves Bold"/>
                <a:ea typeface="TT Hoves Bold"/>
                <a:cs typeface="TT Hoves Bold"/>
                <a:sym typeface="TT Hoves Bold"/>
              </a:rPr>
              <a:t>Scrum Master</a:t>
            </a:r>
          </a:p>
        </p:txBody>
      </p:sp>
      <p:sp>
        <p:nvSpPr>
          <p:cNvPr name="TextBox 33" id="33"/>
          <p:cNvSpPr txBox="true"/>
          <p:nvPr/>
        </p:nvSpPr>
        <p:spPr>
          <a:xfrm rot="0">
            <a:off x="9921561" y="5252676"/>
            <a:ext cx="1974635" cy="807196"/>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Executes tasks and</a:t>
            </a:r>
            <a:r>
              <a:rPr lang="en-US" sz="1600">
                <a:solidFill>
                  <a:srgbClr val="000000"/>
                </a:solidFill>
                <a:latin typeface="TT Hoves"/>
                <a:ea typeface="TT Hoves"/>
                <a:cs typeface="TT Hoves"/>
                <a:sym typeface="TT Hoves"/>
              </a:rPr>
              <a:t> builds features collaboratively</a:t>
            </a:r>
          </a:p>
        </p:txBody>
      </p:sp>
      <p:sp>
        <p:nvSpPr>
          <p:cNvPr name="TextBox 34" id="34"/>
          <p:cNvSpPr txBox="true"/>
          <p:nvPr/>
        </p:nvSpPr>
        <p:spPr>
          <a:xfrm rot="0">
            <a:off x="9816258" y="4844318"/>
            <a:ext cx="2185242" cy="316211"/>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TT Hoves Bold"/>
                <a:ea typeface="TT Hoves Bold"/>
                <a:cs typeface="TT Hoves Bold"/>
                <a:sym typeface="TT Hoves Bold"/>
              </a:rPr>
              <a:t>Development Team</a:t>
            </a:r>
          </a:p>
        </p:txBody>
      </p:sp>
      <p:sp>
        <p:nvSpPr>
          <p:cNvPr name="TextBox 35" id="35"/>
          <p:cNvSpPr txBox="true"/>
          <p:nvPr/>
        </p:nvSpPr>
        <p:spPr>
          <a:xfrm rot="0">
            <a:off x="13053305" y="3764119"/>
            <a:ext cx="1974635" cy="807196"/>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Provide</a:t>
            </a:r>
            <a:r>
              <a:rPr lang="en-US" sz="1600">
                <a:solidFill>
                  <a:srgbClr val="000000"/>
                </a:solidFill>
                <a:latin typeface="TT Hoves"/>
                <a:ea typeface="TT Hoves"/>
                <a:cs typeface="TT Hoves"/>
                <a:sym typeface="TT Hoves"/>
              </a:rPr>
              <a:t> requirements, feedback, and final approvals</a:t>
            </a:r>
          </a:p>
        </p:txBody>
      </p:sp>
      <p:sp>
        <p:nvSpPr>
          <p:cNvPr name="TextBox 36" id="36"/>
          <p:cNvSpPr txBox="true"/>
          <p:nvPr/>
        </p:nvSpPr>
        <p:spPr>
          <a:xfrm rot="0">
            <a:off x="13053305" y="3355761"/>
            <a:ext cx="1974635" cy="316211"/>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TT Hoves Bold"/>
                <a:ea typeface="TT Hoves Bold"/>
                <a:cs typeface="TT Hoves Bold"/>
                <a:sym typeface="TT Hoves Bold"/>
              </a:rPr>
              <a:t>Stakeholders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sp>
        <p:nvSpPr>
          <p:cNvPr name="Freeform 2" id="2"/>
          <p:cNvSpPr/>
          <p:nvPr/>
        </p:nvSpPr>
        <p:spPr>
          <a:xfrm flipH="false" flipV="false" rot="0">
            <a:off x="952500" y="789280"/>
            <a:ext cx="8534270" cy="8708439"/>
          </a:xfrm>
          <a:custGeom>
            <a:avLst/>
            <a:gdLst/>
            <a:ahLst/>
            <a:cxnLst/>
            <a:rect r="r" b="b" t="t" l="l"/>
            <a:pathLst>
              <a:path h="8708439" w="8534270">
                <a:moveTo>
                  <a:pt x="0" y="0"/>
                </a:moveTo>
                <a:lnTo>
                  <a:pt x="8534270" y="0"/>
                </a:lnTo>
                <a:lnTo>
                  <a:pt x="8534270" y="8708440"/>
                </a:lnTo>
                <a:lnTo>
                  <a:pt x="0" y="87084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980112" y="844542"/>
            <a:ext cx="3254725" cy="2688172"/>
            <a:chOff x="0" y="0"/>
            <a:chExt cx="857212" cy="707996"/>
          </a:xfrm>
        </p:grpSpPr>
        <p:sp>
          <p:nvSpPr>
            <p:cNvPr name="Freeform 4" id="4"/>
            <p:cNvSpPr/>
            <p:nvPr/>
          </p:nvSpPr>
          <p:spPr>
            <a:xfrm flipH="false" flipV="false" rot="0">
              <a:off x="0" y="0"/>
              <a:ext cx="857212" cy="707996"/>
            </a:xfrm>
            <a:custGeom>
              <a:avLst/>
              <a:gdLst/>
              <a:ahLst/>
              <a:cxnLst/>
              <a:rect r="r" b="b" t="t" l="l"/>
              <a:pathLst>
                <a:path h="707996" w="857212">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rgbClr val="FFFFFF"/>
            </a:solidFill>
          </p:spPr>
        </p:sp>
        <p:sp>
          <p:nvSpPr>
            <p:cNvPr name="TextBox 5" id="5"/>
            <p:cNvSpPr txBox="true"/>
            <p:nvPr/>
          </p:nvSpPr>
          <p:spPr>
            <a:xfrm>
              <a:off x="0" y="-19050"/>
              <a:ext cx="857212" cy="727046"/>
            </a:xfrm>
            <a:prstGeom prst="rect">
              <a:avLst/>
            </a:prstGeom>
          </p:spPr>
          <p:txBody>
            <a:bodyPr anchor="ctr" rtlCol="false" tIns="50800" lIns="50800" bIns="50800" rIns="50800"/>
            <a:lstStyle/>
            <a:p>
              <a:pPr algn="ctr">
                <a:lnSpc>
                  <a:spcPts val="2240"/>
                </a:lnSpc>
              </a:pPr>
            </a:p>
          </p:txBody>
        </p:sp>
      </p:grpSp>
      <p:grpSp>
        <p:nvGrpSpPr>
          <p:cNvPr name="Group 6" id="6"/>
          <p:cNvGrpSpPr/>
          <p:nvPr/>
        </p:nvGrpSpPr>
        <p:grpSpPr>
          <a:xfrm rot="0">
            <a:off x="9980112" y="3799414"/>
            <a:ext cx="3254725" cy="2688172"/>
            <a:chOff x="0" y="0"/>
            <a:chExt cx="857212" cy="707996"/>
          </a:xfrm>
        </p:grpSpPr>
        <p:sp>
          <p:nvSpPr>
            <p:cNvPr name="Freeform 7" id="7"/>
            <p:cNvSpPr/>
            <p:nvPr/>
          </p:nvSpPr>
          <p:spPr>
            <a:xfrm flipH="false" flipV="false" rot="0">
              <a:off x="0" y="0"/>
              <a:ext cx="857212" cy="707996"/>
            </a:xfrm>
            <a:custGeom>
              <a:avLst/>
              <a:gdLst/>
              <a:ahLst/>
              <a:cxnLst/>
              <a:rect r="r" b="b" t="t" l="l"/>
              <a:pathLst>
                <a:path h="707996" w="857212">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rgbClr val="FFFFFF"/>
            </a:solidFill>
          </p:spPr>
        </p:sp>
        <p:sp>
          <p:nvSpPr>
            <p:cNvPr name="TextBox 8" id="8"/>
            <p:cNvSpPr txBox="true"/>
            <p:nvPr/>
          </p:nvSpPr>
          <p:spPr>
            <a:xfrm>
              <a:off x="0" y="-19050"/>
              <a:ext cx="857212" cy="727046"/>
            </a:xfrm>
            <a:prstGeom prst="rect">
              <a:avLst/>
            </a:prstGeom>
          </p:spPr>
          <p:txBody>
            <a:bodyPr anchor="ctr" rtlCol="false" tIns="50800" lIns="50800" bIns="50800" rIns="50800"/>
            <a:lstStyle/>
            <a:p>
              <a:pPr algn="ctr">
                <a:lnSpc>
                  <a:spcPts val="2240"/>
                </a:lnSpc>
              </a:pPr>
            </a:p>
          </p:txBody>
        </p:sp>
      </p:grpSp>
      <p:sp>
        <p:nvSpPr>
          <p:cNvPr name="Freeform 9" id="9"/>
          <p:cNvSpPr/>
          <p:nvPr/>
        </p:nvSpPr>
        <p:spPr>
          <a:xfrm flipH="false" flipV="false" rot="0">
            <a:off x="9856760" y="980573"/>
            <a:ext cx="2402157" cy="925922"/>
          </a:xfrm>
          <a:custGeom>
            <a:avLst/>
            <a:gdLst/>
            <a:ahLst/>
            <a:cxnLst/>
            <a:rect r="r" b="b" t="t" l="l"/>
            <a:pathLst>
              <a:path h="925922" w="2402157">
                <a:moveTo>
                  <a:pt x="0" y="0"/>
                </a:moveTo>
                <a:lnTo>
                  <a:pt x="2402157" y="0"/>
                </a:lnTo>
                <a:lnTo>
                  <a:pt x="2402157" y="925922"/>
                </a:lnTo>
                <a:lnTo>
                  <a:pt x="0" y="9259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856760" y="3935445"/>
            <a:ext cx="2402157" cy="925922"/>
          </a:xfrm>
          <a:custGeom>
            <a:avLst/>
            <a:gdLst/>
            <a:ahLst/>
            <a:cxnLst/>
            <a:rect r="r" b="b" t="t" l="l"/>
            <a:pathLst>
              <a:path h="925922" w="2402157">
                <a:moveTo>
                  <a:pt x="0" y="0"/>
                </a:moveTo>
                <a:lnTo>
                  <a:pt x="2402157" y="0"/>
                </a:lnTo>
                <a:lnTo>
                  <a:pt x="2402157" y="925922"/>
                </a:lnTo>
                <a:lnTo>
                  <a:pt x="0" y="9259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9980112" y="6754286"/>
            <a:ext cx="3254725" cy="2688172"/>
            <a:chOff x="0" y="0"/>
            <a:chExt cx="857212" cy="707996"/>
          </a:xfrm>
        </p:grpSpPr>
        <p:sp>
          <p:nvSpPr>
            <p:cNvPr name="Freeform 12" id="12"/>
            <p:cNvSpPr/>
            <p:nvPr/>
          </p:nvSpPr>
          <p:spPr>
            <a:xfrm flipH="false" flipV="false" rot="0">
              <a:off x="0" y="0"/>
              <a:ext cx="857212" cy="707996"/>
            </a:xfrm>
            <a:custGeom>
              <a:avLst/>
              <a:gdLst/>
              <a:ahLst/>
              <a:cxnLst/>
              <a:rect r="r" b="b" t="t" l="l"/>
              <a:pathLst>
                <a:path h="707996" w="857212">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rgbClr val="FFFFFF"/>
            </a:solidFill>
          </p:spPr>
        </p:sp>
        <p:sp>
          <p:nvSpPr>
            <p:cNvPr name="TextBox 13" id="13"/>
            <p:cNvSpPr txBox="true"/>
            <p:nvPr/>
          </p:nvSpPr>
          <p:spPr>
            <a:xfrm>
              <a:off x="0" y="-19050"/>
              <a:ext cx="857212" cy="727046"/>
            </a:xfrm>
            <a:prstGeom prst="rect">
              <a:avLst/>
            </a:prstGeom>
          </p:spPr>
          <p:txBody>
            <a:bodyPr anchor="ctr" rtlCol="false" tIns="50800" lIns="50800" bIns="50800" rIns="50800"/>
            <a:lstStyle/>
            <a:p>
              <a:pPr algn="ctr">
                <a:lnSpc>
                  <a:spcPts val="2240"/>
                </a:lnSpc>
              </a:pPr>
            </a:p>
          </p:txBody>
        </p:sp>
      </p:grpSp>
      <p:sp>
        <p:nvSpPr>
          <p:cNvPr name="Freeform 14" id="14"/>
          <p:cNvSpPr/>
          <p:nvPr/>
        </p:nvSpPr>
        <p:spPr>
          <a:xfrm flipH="false" flipV="false" rot="0">
            <a:off x="9856760" y="6890317"/>
            <a:ext cx="2402157" cy="925922"/>
          </a:xfrm>
          <a:custGeom>
            <a:avLst/>
            <a:gdLst/>
            <a:ahLst/>
            <a:cxnLst/>
            <a:rect r="r" b="b" t="t" l="l"/>
            <a:pathLst>
              <a:path h="925922" w="2402157">
                <a:moveTo>
                  <a:pt x="0" y="0"/>
                </a:moveTo>
                <a:lnTo>
                  <a:pt x="2402157" y="0"/>
                </a:lnTo>
                <a:lnTo>
                  <a:pt x="2402157" y="925922"/>
                </a:lnTo>
                <a:lnTo>
                  <a:pt x="0" y="9259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13729664" y="2321978"/>
            <a:ext cx="3254725" cy="2688172"/>
            <a:chOff x="0" y="0"/>
            <a:chExt cx="857212" cy="707996"/>
          </a:xfrm>
        </p:grpSpPr>
        <p:sp>
          <p:nvSpPr>
            <p:cNvPr name="Freeform 16" id="16"/>
            <p:cNvSpPr/>
            <p:nvPr/>
          </p:nvSpPr>
          <p:spPr>
            <a:xfrm flipH="false" flipV="false" rot="0">
              <a:off x="0" y="0"/>
              <a:ext cx="857212" cy="707996"/>
            </a:xfrm>
            <a:custGeom>
              <a:avLst/>
              <a:gdLst/>
              <a:ahLst/>
              <a:cxnLst/>
              <a:rect r="r" b="b" t="t" l="l"/>
              <a:pathLst>
                <a:path h="707996" w="857212">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rgbClr val="FFFFFF"/>
            </a:solidFill>
          </p:spPr>
        </p:sp>
        <p:sp>
          <p:nvSpPr>
            <p:cNvPr name="TextBox 17" id="17"/>
            <p:cNvSpPr txBox="true"/>
            <p:nvPr/>
          </p:nvSpPr>
          <p:spPr>
            <a:xfrm>
              <a:off x="0" y="-19050"/>
              <a:ext cx="857212" cy="727046"/>
            </a:xfrm>
            <a:prstGeom prst="rect">
              <a:avLst/>
            </a:prstGeom>
          </p:spPr>
          <p:txBody>
            <a:bodyPr anchor="ctr" rtlCol="false" tIns="50800" lIns="50800" bIns="50800" rIns="50800"/>
            <a:lstStyle/>
            <a:p>
              <a:pPr algn="ctr">
                <a:lnSpc>
                  <a:spcPts val="2240"/>
                </a:lnSpc>
              </a:pPr>
            </a:p>
          </p:txBody>
        </p:sp>
      </p:grpSp>
      <p:sp>
        <p:nvSpPr>
          <p:cNvPr name="Freeform 18" id="18"/>
          <p:cNvSpPr/>
          <p:nvPr/>
        </p:nvSpPr>
        <p:spPr>
          <a:xfrm flipH="false" flipV="false" rot="0">
            <a:off x="13606312" y="2458009"/>
            <a:ext cx="2402157" cy="925922"/>
          </a:xfrm>
          <a:custGeom>
            <a:avLst/>
            <a:gdLst/>
            <a:ahLst/>
            <a:cxnLst/>
            <a:rect r="r" b="b" t="t" l="l"/>
            <a:pathLst>
              <a:path h="925922" w="2402157">
                <a:moveTo>
                  <a:pt x="0" y="0"/>
                </a:moveTo>
                <a:lnTo>
                  <a:pt x="2402157" y="0"/>
                </a:lnTo>
                <a:lnTo>
                  <a:pt x="2402157" y="925922"/>
                </a:lnTo>
                <a:lnTo>
                  <a:pt x="0" y="9259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9" id="19"/>
          <p:cNvGrpSpPr/>
          <p:nvPr/>
        </p:nvGrpSpPr>
        <p:grpSpPr>
          <a:xfrm rot="0">
            <a:off x="13729664" y="5276850"/>
            <a:ext cx="3254725" cy="2688172"/>
            <a:chOff x="0" y="0"/>
            <a:chExt cx="857212" cy="707996"/>
          </a:xfrm>
        </p:grpSpPr>
        <p:sp>
          <p:nvSpPr>
            <p:cNvPr name="Freeform 20" id="20"/>
            <p:cNvSpPr/>
            <p:nvPr/>
          </p:nvSpPr>
          <p:spPr>
            <a:xfrm flipH="false" flipV="false" rot="0">
              <a:off x="0" y="0"/>
              <a:ext cx="857212" cy="707996"/>
            </a:xfrm>
            <a:custGeom>
              <a:avLst/>
              <a:gdLst/>
              <a:ahLst/>
              <a:cxnLst/>
              <a:rect r="r" b="b" t="t" l="l"/>
              <a:pathLst>
                <a:path h="707996" w="857212">
                  <a:moveTo>
                    <a:pt x="59467" y="0"/>
                  </a:moveTo>
                  <a:lnTo>
                    <a:pt x="797745" y="0"/>
                  </a:lnTo>
                  <a:cubicBezTo>
                    <a:pt x="813516" y="0"/>
                    <a:pt x="828642" y="6265"/>
                    <a:pt x="839794" y="17417"/>
                  </a:cubicBezTo>
                  <a:cubicBezTo>
                    <a:pt x="850946" y="28570"/>
                    <a:pt x="857212" y="43695"/>
                    <a:pt x="857212" y="59467"/>
                  </a:cubicBezTo>
                  <a:lnTo>
                    <a:pt x="857212" y="648529"/>
                  </a:lnTo>
                  <a:cubicBezTo>
                    <a:pt x="857212" y="664301"/>
                    <a:pt x="850946" y="679426"/>
                    <a:pt x="839794" y="690579"/>
                  </a:cubicBezTo>
                  <a:cubicBezTo>
                    <a:pt x="828642" y="701731"/>
                    <a:pt x="813516" y="707996"/>
                    <a:pt x="797745" y="707996"/>
                  </a:cubicBezTo>
                  <a:lnTo>
                    <a:pt x="59467" y="707996"/>
                  </a:lnTo>
                  <a:cubicBezTo>
                    <a:pt x="43695" y="707996"/>
                    <a:pt x="28570" y="701731"/>
                    <a:pt x="17417" y="690579"/>
                  </a:cubicBezTo>
                  <a:cubicBezTo>
                    <a:pt x="6265" y="679426"/>
                    <a:pt x="0" y="664301"/>
                    <a:pt x="0" y="648529"/>
                  </a:cubicBezTo>
                  <a:lnTo>
                    <a:pt x="0" y="59467"/>
                  </a:lnTo>
                  <a:cubicBezTo>
                    <a:pt x="0" y="43695"/>
                    <a:pt x="6265" y="28570"/>
                    <a:pt x="17417" y="17417"/>
                  </a:cubicBezTo>
                  <a:cubicBezTo>
                    <a:pt x="28570" y="6265"/>
                    <a:pt x="43695" y="0"/>
                    <a:pt x="59467" y="0"/>
                  </a:cubicBezTo>
                  <a:close/>
                </a:path>
              </a:pathLst>
            </a:custGeom>
            <a:solidFill>
              <a:srgbClr val="FFFFFF"/>
            </a:solidFill>
          </p:spPr>
        </p:sp>
        <p:sp>
          <p:nvSpPr>
            <p:cNvPr name="TextBox 21" id="21"/>
            <p:cNvSpPr txBox="true"/>
            <p:nvPr/>
          </p:nvSpPr>
          <p:spPr>
            <a:xfrm>
              <a:off x="0" y="-19050"/>
              <a:ext cx="857212" cy="727046"/>
            </a:xfrm>
            <a:prstGeom prst="rect">
              <a:avLst/>
            </a:prstGeom>
          </p:spPr>
          <p:txBody>
            <a:bodyPr anchor="ctr" rtlCol="false" tIns="50800" lIns="50800" bIns="50800" rIns="50800"/>
            <a:lstStyle/>
            <a:p>
              <a:pPr algn="ctr">
                <a:lnSpc>
                  <a:spcPts val="2240"/>
                </a:lnSpc>
              </a:pPr>
            </a:p>
          </p:txBody>
        </p:sp>
      </p:grpSp>
      <p:sp>
        <p:nvSpPr>
          <p:cNvPr name="Freeform 22" id="22"/>
          <p:cNvSpPr/>
          <p:nvPr/>
        </p:nvSpPr>
        <p:spPr>
          <a:xfrm flipH="false" flipV="false" rot="0">
            <a:off x="13606312" y="5412881"/>
            <a:ext cx="2402157" cy="925922"/>
          </a:xfrm>
          <a:custGeom>
            <a:avLst/>
            <a:gdLst/>
            <a:ahLst/>
            <a:cxnLst/>
            <a:rect r="r" b="b" t="t" l="l"/>
            <a:pathLst>
              <a:path h="925922" w="2402157">
                <a:moveTo>
                  <a:pt x="0" y="0"/>
                </a:moveTo>
                <a:lnTo>
                  <a:pt x="2402157" y="0"/>
                </a:lnTo>
                <a:lnTo>
                  <a:pt x="2402157" y="925922"/>
                </a:lnTo>
                <a:lnTo>
                  <a:pt x="0" y="9259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3" id="23"/>
          <p:cNvSpPr/>
          <p:nvPr/>
        </p:nvSpPr>
        <p:spPr>
          <a:xfrm flipH="false" flipV="false" rot="0">
            <a:off x="7749291" y="6363569"/>
            <a:ext cx="610791" cy="610791"/>
          </a:xfrm>
          <a:custGeom>
            <a:avLst/>
            <a:gdLst/>
            <a:ahLst/>
            <a:cxnLst/>
            <a:rect r="r" b="b" t="t" l="l"/>
            <a:pathLst>
              <a:path h="610791" w="610791">
                <a:moveTo>
                  <a:pt x="0" y="0"/>
                </a:moveTo>
                <a:lnTo>
                  <a:pt x="610791" y="0"/>
                </a:lnTo>
                <a:lnTo>
                  <a:pt x="610791" y="610791"/>
                </a:lnTo>
                <a:lnTo>
                  <a:pt x="0" y="61079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4" id="24"/>
          <p:cNvSpPr/>
          <p:nvPr/>
        </p:nvSpPr>
        <p:spPr>
          <a:xfrm flipH="false" flipV="false" rot="0">
            <a:off x="1760822" y="5652124"/>
            <a:ext cx="452487" cy="711446"/>
          </a:xfrm>
          <a:custGeom>
            <a:avLst/>
            <a:gdLst/>
            <a:ahLst/>
            <a:cxnLst/>
            <a:rect r="r" b="b" t="t" l="l"/>
            <a:pathLst>
              <a:path h="711446" w="452487">
                <a:moveTo>
                  <a:pt x="0" y="0"/>
                </a:moveTo>
                <a:lnTo>
                  <a:pt x="452487" y="0"/>
                </a:lnTo>
                <a:lnTo>
                  <a:pt x="452487" y="711445"/>
                </a:lnTo>
                <a:lnTo>
                  <a:pt x="0" y="71144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5" id="25"/>
          <p:cNvSpPr/>
          <p:nvPr/>
        </p:nvSpPr>
        <p:spPr>
          <a:xfrm flipH="false" flipV="false" rot="0">
            <a:off x="4528432" y="8074294"/>
            <a:ext cx="427700" cy="427700"/>
          </a:xfrm>
          <a:custGeom>
            <a:avLst/>
            <a:gdLst/>
            <a:ahLst/>
            <a:cxnLst/>
            <a:rect r="r" b="b" t="t" l="l"/>
            <a:pathLst>
              <a:path h="427700" w="427700">
                <a:moveTo>
                  <a:pt x="0" y="0"/>
                </a:moveTo>
                <a:lnTo>
                  <a:pt x="427700" y="0"/>
                </a:lnTo>
                <a:lnTo>
                  <a:pt x="427700" y="427700"/>
                </a:lnTo>
                <a:lnTo>
                  <a:pt x="0" y="4277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6" id="26"/>
          <p:cNvSpPr/>
          <p:nvPr/>
        </p:nvSpPr>
        <p:spPr>
          <a:xfrm flipH="false" flipV="false" rot="0">
            <a:off x="2859268" y="2148050"/>
            <a:ext cx="708073" cy="681038"/>
          </a:xfrm>
          <a:custGeom>
            <a:avLst/>
            <a:gdLst/>
            <a:ahLst/>
            <a:cxnLst/>
            <a:rect r="r" b="b" t="t" l="l"/>
            <a:pathLst>
              <a:path h="681038" w="708073">
                <a:moveTo>
                  <a:pt x="0" y="0"/>
                </a:moveTo>
                <a:lnTo>
                  <a:pt x="708074" y="0"/>
                </a:lnTo>
                <a:lnTo>
                  <a:pt x="708074" y="681038"/>
                </a:lnTo>
                <a:lnTo>
                  <a:pt x="0" y="68103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7" id="27"/>
          <p:cNvSpPr/>
          <p:nvPr/>
        </p:nvSpPr>
        <p:spPr>
          <a:xfrm flipH="false" flipV="false" rot="0">
            <a:off x="7457379" y="2730887"/>
            <a:ext cx="597308" cy="682992"/>
          </a:xfrm>
          <a:custGeom>
            <a:avLst/>
            <a:gdLst/>
            <a:ahLst/>
            <a:cxnLst/>
            <a:rect r="r" b="b" t="t" l="l"/>
            <a:pathLst>
              <a:path h="682992" w="597308">
                <a:moveTo>
                  <a:pt x="0" y="0"/>
                </a:moveTo>
                <a:lnTo>
                  <a:pt x="597307" y="0"/>
                </a:lnTo>
                <a:lnTo>
                  <a:pt x="597307" y="682992"/>
                </a:lnTo>
                <a:lnTo>
                  <a:pt x="0" y="68299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28" id="28"/>
          <p:cNvSpPr txBox="true"/>
          <p:nvPr/>
        </p:nvSpPr>
        <p:spPr>
          <a:xfrm rot="0">
            <a:off x="3445542" y="4410075"/>
            <a:ext cx="3548186" cy="1522420"/>
          </a:xfrm>
          <a:prstGeom prst="rect">
            <a:avLst/>
          </a:prstGeom>
        </p:spPr>
        <p:txBody>
          <a:bodyPr anchor="t" rtlCol="false" tIns="0" lIns="0" bIns="0" rIns="0">
            <a:spAutoFit/>
          </a:bodyPr>
          <a:lstStyle/>
          <a:p>
            <a:pPr algn="ctr">
              <a:lnSpc>
                <a:spcPts val="4032"/>
              </a:lnSpc>
            </a:pPr>
            <a:r>
              <a:rPr lang="en-US" sz="3600" b="true">
                <a:solidFill>
                  <a:srgbClr val="000000"/>
                </a:solidFill>
                <a:latin typeface="TT Hoves Bold"/>
                <a:ea typeface="TT Hoves Bold"/>
                <a:cs typeface="TT Hoves Bold"/>
                <a:sym typeface="TT Hoves Bold"/>
              </a:rPr>
              <a:t>Workflow Process</a:t>
            </a:r>
          </a:p>
          <a:p>
            <a:pPr algn="ctr">
              <a:lnSpc>
                <a:spcPts val="4032"/>
              </a:lnSpc>
            </a:pPr>
            <a:r>
              <a:rPr lang="en-US" b="true" sz="3600">
                <a:solidFill>
                  <a:srgbClr val="000000"/>
                </a:solidFill>
                <a:latin typeface="TT Hoves Bold"/>
                <a:ea typeface="TT Hoves Bold"/>
                <a:cs typeface="TT Hoves Bold"/>
                <a:sym typeface="TT Hoves Bold"/>
              </a:rPr>
              <a:t>Stages</a:t>
            </a:r>
          </a:p>
        </p:txBody>
      </p:sp>
      <p:sp>
        <p:nvSpPr>
          <p:cNvPr name="TextBox 29" id="29"/>
          <p:cNvSpPr txBox="true"/>
          <p:nvPr/>
        </p:nvSpPr>
        <p:spPr>
          <a:xfrm rot="0">
            <a:off x="10405323" y="2245778"/>
            <a:ext cx="2466673"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Teams outline</a:t>
            </a:r>
            <a:r>
              <a:rPr lang="en-US" sz="1600">
                <a:solidFill>
                  <a:srgbClr val="000000"/>
                </a:solidFill>
                <a:latin typeface="TT Hoves"/>
                <a:ea typeface="TT Hoves"/>
                <a:cs typeface="TT Hoves"/>
                <a:sym typeface="TT Hoves"/>
              </a:rPr>
              <a:t> short-term goals and deliverables for the sprint duration</a:t>
            </a:r>
          </a:p>
        </p:txBody>
      </p:sp>
      <p:sp>
        <p:nvSpPr>
          <p:cNvPr name="TextBox 30" id="30"/>
          <p:cNvSpPr txBox="true"/>
          <p:nvPr/>
        </p:nvSpPr>
        <p:spPr>
          <a:xfrm rot="0">
            <a:off x="10405323" y="5200650"/>
            <a:ext cx="2466673"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Clear</a:t>
            </a:r>
            <a:r>
              <a:rPr lang="en-US" sz="1600">
                <a:solidFill>
                  <a:srgbClr val="000000"/>
                </a:solidFill>
                <a:latin typeface="TT Hoves"/>
                <a:ea typeface="TT Hoves"/>
                <a:cs typeface="TT Hoves"/>
                <a:sym typeface="TT Hoves"/>
              </a:rPr>
              <a:t> assignments and priorities are created for team members</a:t>
            </a:r>
          </a:p>
        </p:txBody>
      </p:sp>
      <p:sp>
        <p:nvSpPr>
          <p:cNvPr name="TextBox 31" id="31"/>
          <p:cNvSpPr txBox="true"/>
          <p:nvPr/>
        </p:nvSpPr>
        <p:spPr>
          <a:xfrm rot="0">
            <a:off x="10152842" y="1292025"/>
            <a:ext cx="2106075" cy="254672"/>
          </a:xfrm>
          <a:prstGeom prst="rect">
            <a:avLst/>
          </a:prstGeom>
        </p:spPr>
        <p:txBody>
          <a:bodyPr anchor="t" rtlCol="false" tIns="0" lIns="0" bIns="0" rIns="0">
            <a:spAutoFit/>
          </a:bodyPr>
          <a:lstStyle/>
          <a:p>
            <a:pPr algn="l">
              <a:lnSpc>
                <a:spcPts val="2240"/>
              </a:lnSpc>
              <a:spcBef>
                <a:spcPct val="0"/>
              </a:spcBef>
            </a:pPr>
            <a:r>
              <a:rPr lang="en-US" b="true" sz="1600">
                <a:solidFill>
                  <a:srgbClr val="FFFFFF"/>
                </a:solidFill>
                <a:latin typeface="TT Hoves Bold"/>
                <a:ea typeface="TT Hoves Bold"/>
                <a:cs typeface="TT Hoves Bold"/>
                <a:sym typeface="TT Hoves Bold"/>
              </a:rPr>
              <a:t>Plan</a:t>
            </a:r>
            <a:r>
              <a:rPr lang="en-US" b="true" sz="1600">
                <a:solidFill>
                  <a:srgbClr val="FFFFFF"/>
                </a:solidFill>
                <a:latin typeface="TT Hoves Bold"/>
                <a:ea typeface="TT Hoves Bold"/>
                <a:cs typeface="TT Hoves Bold"/>
                <a:sym typeface="TT Hoves Bold"/>
              </a:rPr>
              <a:t> Sprint</a:t>
            </a:r>
          </a:p>
        </p:txBody>
      </p:sp>
      <p:sp>
        <p:nvSpPr>
          <p:cNvPr name="TextBox 32" id="32"/>
          <p:cNvSpPr txBox="true"/>
          <p:nvPr/>
        </p:nvSpPr>
        <p:spPr>
          <a:xfrm rot="0">
            <a:off x="10152842" y="4246897"/>
            <a:ext cx="2106075" cy="254672"/>
          </a:xfrm>
          <a:prstGeom prst="rect">
            <a:avLst/>
          </a:prstGeom>
        </p:spPr>
        <p:txBody>
          <a:bodyPr anchor="t" rtlCol="false" tIns="0" lIns="0" bIns="0" rIns="0">
            <a:spAutoFit/>
          </a:bodyPr>
          <a:lstStyle/>
          <a:p>
            <a:pPr algn="l">
              <a:lnSpc>
                <a:spcPts val="2240"/>
              </a:lnSpc>
              <a:spcBef>
                <a:spcPct val="0"/>
              </a:spcBef>
            </a:pPr>
            <a:r>
              <a:rPr lang="en-US" b="true" sz="1600">
                <a:solidFill>
                  <a:srgbClr val="FFFFFF"/>
                </a:solidFill>
                <a:latin typeface="TT Hoves Bold"/>
                <a:ea typeface="TT Hoves Bold"/>
                <a:cs typeface="TT Hoves Bold"/>
                <a:sym typeface="TT Hoves Bold"/>
              </a:rPr>
              <a:t>D</a:t>
            </a:r>
            <a:r>
              <a:rPr lang="en-US" b="true" sz="1600">
                <a:solidFill>
                  <a:srgbClr val="FFFFFF"/>
                </a:solidFill>
                <a:latin typeface="TT Hoves Bold"/>
                <a:ea typeface="TT Hoves Bold"/>
                <a:cs typeface="TT Hoves Bold"/>
                <a:sym typeface="TT Hoves Bold"/>
              </a:rPr>
              <a:t>esign Tasks</a:t>
            </a:r>
          </a:p>
        </p:txBody>
      </p:sp>
      <p:sp>
        <p:nvSpPr>
          <p:cNvPr name="TextBox 33" id="33"/>
          <p:cNvSpPr txBox="true"/>
          <p:nvPr/>
        </p:nvSpPr>
        <p:spPr>
          <a:xfrm rot="0">
            <a:off x="12372552" y="1216820"/>
            <a:ext cx="499444" cy="405803"/>
          </a:xfrm>
          <a:prstGeom prst="rect">
            <a:avLst/>
          </a:prstGeom>
        </p:spPr>
        <p:txBody>
          <a:bodyPr anchor="t" rtlCol="false" tIns="0" lIns="0" bIns="0" rIns="0">
            <a:spAutoFit/>
          </a:bodyPr>
          <a:lstStyle/>
          <a:p>
            <a:pPr algn="r">
              <a:lnSpc>
                <a:spcPts val="3359"/>
              </a:lnSpc>
              <a:spcBef>
                <a:spcPct val="0"/>
              </a:spcBef>
            </a:pPr>
            <a:r>
              <a:rPr lang="en-US" b="true" sz="2399">
                <a:solidFill>
                  <a:srgbClr val="000000"/>
                </a:solidFill>
                <a:latin typeface="TT Hoves Bold"/>
                <a:ea typeface="TT Hoves Bold"/>
                <a:cs typeface="TT Hoves Bold"/>
                <a:sym typeface="TT Hoves Bold"/>
              </a:rPr>
              <a:t>01</a:t>
            </a:r>
          </a:p>
        </p:txBody>
      </p:sp>
      <p:sp>
        <p:nvSpPr>
          <p:cNvPr name="TextBox 34" id="34"/>
          <p:cNvSpPr txBox="true"/>
          <p:nvPr/>
        </p:nvSpPr>
        <p:spPr>
          <a:xfrm rot="0">
            <a:off x="12372552" y="4171692"/>
            <a:ext cx="499444" cy="405803"/>
          </a:xfrm>
          <a:prstGeom prst="rect">
            <a:avLst/>
          </a:prstGeom>
        </p:spPr>
        <p:txBody>
          <a:bodyPr anchor="t" rtlCol="false" tIns="0" lIns="0" bIns="0" rIns="0">
            <a:spAutoFit/>
          </a:bodyPr>
          <a:lstStyle/>
          <a:p>
            <a:pPr algn="r">
              <a:lnSpc>
                <a:spcPts val="3359"/>
              </a:lnSpc>
              <a:spcBef>
                <a:spcPct val="0"/>
              </a:spcBef>
            </a:pPr>
            <a:r>
              <a:rPr lang="en-US" b="true" sz="2399">
                <a:solidFill>
                  <a:srgbClr val="000000"/>
                </a:solidFill>
                <a:latin typeface="TT Hoves Bold"/>
                <a:ea typeface="TT Hoves Bold"/>
                <a:cs typeface="TT Hoves Bold"/>
                <a:sym typeface="TT Hoves Bold"/>
              </a:rPr>
              <a:t>02</a:t>
            </a:r>
          </a:p>
        </p:txBody>
      </p:sp>
      <p:sp>
        <p:nvSpPr>
          <p:cNvPr name="TextBox 35" id="35"/>
          <p:cNvSpPr txBox="true"/>
          <p:nvPr/>
        </p:nvSpPr>
        <p:spPr>
          <a:xfrm rot="0">
            <a:off x="10405323" y="8155522"/>
            <a:ext cx="2466673"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The team develop</a:t>
            </a:r>
            <a:r>
              <a:rPr lang="en-US" sz="1600">
                <a:solidFill>
                  <a:srgbClr val="000000"/>
                </a:solidFill>
                <a:latin typeface="TT Hoves"/>
                <a:ea typeface="TT Hoves"/>
                <a:cs typeface="TT Hoves"/>
                <a:sym typeface="TT Hoves"/>
              </a:rPr>
              <a:t>s product features and project deliverables collaboratively</a:t>
            </a:r>
          </a:p>
        </p:txBody>
      </p:sp>
      <p:sp>
        <p:nvSpPr>
          <p:cNvPr name="TextBox 36" id="36"/>
          <p:cNvSpPr txBox="true"/>
          <p:nvPr/>
        </p:nvSpPr>
        <p:spPr>
          <a:xfrm rot="0">
            <a:off x="10152842" y="7201769"/>
            <a:ext cx="2106075" cy="254672"/>
          </a:xfrm>
          <a:prstGeom prst="rect">
            <a:avLst/>
          </a:prstGeom>
        </p:spPr>
        <p:txBody>
          <a:bodyPr anchor="t" rtlCol="false" tIns="0" lIns="0" bIns="0" rIns="0">
            <a:spAutoFit/>
          </a:bodyPr>
          <a:lstStyle/>
          <a:p>
            <a:pPr algn="l">
              <a:lnSpc>
                <a:spcPts val="2240"/>
              </a:lnSpc>
              <a:spcBef>
                <a:spcPct val="0"/>
              </a:spcBef>
            </a:pPr>
            <a:r>
              <a:rPr lang="en-US" b="true" sz="1600">
                <a:solidFill>
                  <a:srgbClr val="FFFFFF"/>
                </a:solidFill>
                <a:latin typeface="TT Hoves Bold"/>
                <a:ea typeface="TT Hoves Bold"/>
                <a:cs typeface="TT Hoves Bold"/>
                <a:sym typeface="TT Hoves Bold"/>
              </a:rPr>
              <a:t>Build W</a:t>
            </a:r>
            <a:r>
              <a:rPr lang="en-US" b="true" sz="1600">
                <a:solidFill>
                  <a:srgbClr val="FFFFFF"/>
                </a:solidFill>
                <a:latin typeface="TT Hoves Bold"/>
                <a:ea typeface="TT Hoves Bold"/>
                <a:cs typeface="TT Hoves Bold"/>
                <a:sym typeface="TT Hoves Bold"/>
              </a:rPr>
              <a:t>ork</a:t>
            </a:r>
          </a:p>
        </p:txBody>
      </p:sp>
      <p:sp>
        <p:nvSpPr>
          <p:cNvPr name="TextBox 37" id="37"/>
          <p:cNvSpPr txBox="true"/>
          <p:nvPr/>
        </p:nvSpPr>
        <p:spPr>
          <a:xfrm rot="0">
            <a:off x="12372552" y="7126564"/>
            <a:ext cx="499444" cy="405803"/>
          </a:xfrm>
          <a:prstGeom prst="rect">
            <a:avLst/>
          </a:prstGeom>
        </p:spPr>
        <p:txBody>
          <a:bodyPr anchor="t" rtlCol="false" tIns="0" lIns="0" bIns="0" rIns="0">
            <a:spAutoFit/>
          </a:bodyPr>
          <a:lstStyle/>
          <a:p>
            <a:pPr algn="r">
              <a:lnSpc>
                <a:spcPts val="3359"/>
              </a:lnSpc>
              <a:spcBef>
                <a:spcPct val="0"/>
              </a:spcBef>
            </a:pPr>
            <a:r>
              <a:rPr lang="en-US" b="true" sz="2399">
                <a:solidFill>
                  <a:srgbClr val="000000"/>
                </a:solidFill>
                <a:latin typeface="TT Hoves Bold"/>
                <a:ea typeface="TT Hoves Bold"/>
                <a:cs typeface="TT Hoves Bold"/>
                <a:sym typeface="TT Hoves Bold"/>
              </a:rPr>
              <a:t>03</a:t>
            </a:r>
          </a:p>
        </p:txBody>
      </p:sp>
      <p:sp>
        <p:nvSpPr>
          <p:cNvPr name="TextBox 38" id="38"/>
          <p:cNvSpPr txBox="true"/>
          <p:nvPr/>
        </p:nvSpPr>
        <p:spPr>
          <a:xfrm rot="0">
            <a:off x="14154875" y="3723214"/>
            <a:ext cx="2466673"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Work is rev</a:t>
            </a:r>
            <a:r>
              <a:rPr lang="en-US" sz="1600">
                <a:solidFill>
                  <a:srgbClr val="000000"/>
                </a:solidFill>
                <a:latin typeface="TT Hoves"/>
                <a:ea typeface="TT Hoves"/>
                <a:cs typeface="TT Hoves"/>
                <a:sym typeface="TT Hoves"/>
              </a:rPr>
              <a:t>iewed and tested to ensure expected standards are met</a:t>
            </a:r>
          </a:p>
        </p:txBody>
      </p:sp>
      <p:sp>
        <p:nvSpPr>
          <p:cNvPr name="TextBox 39" id="39"/>
          <p:cNvSpPr txBox="true"/>
          <p:nvPr/>
        </p:nvSpPr>
        <p:spPr>
          <a:xfrm rot="0">
            <a:off x="13902394" y="2769461"/>
            <a:ext cx="2106075" cy="254672"/>
          </a:xfrm>
          <a:prstGeom prst="rect">
            <a:avLst/>
          </a:prstGeom>
        </p:spPr>
        <p:txBody>
          <a:bodyPr anchor="t" rtlCol="false" tIns="0" lIns="0" bIns="0" rIns="0">
            <a:spAutoFit/>
          </a:bodyPr>
          <a:lstStyle/>
          <a:p>
            <a:pPr algn="l">
              <a:lnSpc>
                <a:spcPts val="2240"/>
              </a:lnSpc>
              <a:spcBef>
                <a:spcPct val="0"/>
              </a:spcBef>
            </a:pPr>
            <a:r>
              <a:rPr lang="en-US" b="true" sz="1600">
                <a:solidFill>
                  <a:srgbClr val="FFFFFF"/>
                </a:solidFill>
                <a:latin typeface="TT Hoves Bold"/>
                <a:ea typeface="TT Hoves Bold"/>
                <a:cs typeface="TT Hoves Bold"/>
                <a:sym typeface="TT Hoves Bold"/>
              </a:rPr>
              <a:t>T</a:t>
            </a:r>
            <a:r>
              <a:rPr lang="en-US" b="true" sz="1600">
                <a:solidFill>
                  <a:srgbClr val="FFFFFF"/>
                </a:solidFill>
                <a:latin typeface="TT Hoves Bold"/>
                <a:ea typeface="TT Hoves Bold"/>
                <a:cs typeface="TT Hoves Bold"/>
                <a:sym typeface="TT Hoves Bold"/>
              </a:rPr>
              <a:t>est Quality</a:t>
            </a:r>
          </a:p>
        </p:txBody>
      </p:sp>
      <p:sp>
        <p:nvSpPr>
          <p:cNvPr name="TextBox 40" id="40"/>
          <p:cNvSpPr txBox="true"/>
          <p:nvPr/>
        </p:nvSpPr>
        <p:spPr>
          <a:xfrm rot="0">
            <a:off x="16122104" y="2694256"/>
            <a:ext cx="499444" cy="405803"/>
          </a:xfrm>
          <a:prstGeom prst="rect">
            <a:avLst/>
          </a:prstGeom>
        </p:spPr>
        <p:txBody>
          <a:bodyPr anchor="t" rtlCol="false" tIns="0" lIns="0" bIns="0" rIns="0">
            <a:spAutoFit/>
          </a:bodyPr>
          <a:lstStyle/>
          <a:p>
            <a:pPr algn="r">
              <a:lnSpc>
                <a:spcPts val="3359"/>
              </a:lnSpc>
              <a:spcBef>
                <a:spcPct val="0"/>
              </a:spcBef>
            </a:pPr>
            <a:r>
              <a:rPr lang="en-US" b="true" sz="2399">
                <a:solidFill>
                  <a:srgbClr val="000000"/>
                </a:solidFill>
                <a:latin typeface="TT Hoves Bold"/>
                <a:ea typeface="TT Hoves Bold"/>
                <a:cs typeface="TT Hoves Bold"/>
                <a:sym typeface="TT Hoves Bold"/>
              </a:rPr>
              <a:t>04</a:t>
            </a:r>
          </a:p>
        </p:txBody>
      </p:sp>
      <p:sp>
        <p:nvSpPr>
          <p:cNvPr name="TextBox 41" id="41"/>
          <p:cNvSpPr txBox="true"/>
          <p:nvPr/>
        </p:nvSpPr>
        <p:spPr>
          <a:xfrm rot="0">
            <a:off x="14154875" y="6678086"/>
            <a:ext cx="2466673"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Final</a:t>
            </a:r>
            <a:r>
              <a:rPr lang="en-US" sz="1600">
                <a:solidFill>
                  <a:srgbClr val="000000"/>
                </a:solidFill>
                <a:latin typeface="TT Hoves"/>
                <a:ea typeface="TT Hoves"/>
                <a:cs typeface="TT Hoves"/>
                <a:sym typeface="TT Hoves"/>
              </a:rPr>
              <a:t> output is released to stakeholders for immediate feedback and use</a:t>
            </a:r>
          </a:p>
        </p:txBody>
      </p:sp>
      <p:sp>
        <p:nvSpPr>
          <p:cNvPr name="TextBox 42" id="42"/>
          <p:cNvSpPr txBox="true"/>
          <p:nvPr/>
        </p:nvSpPr>
        <p:spPr>
          <a:xfrm rot="0">
            <a:off x="13902394" y="5724333"/>
            <a:ext cx="2106075" cy="254672"/>
          </a:xfrm>
          <a:prstGeom prst="rect">
            <a:avLst/>
          </a:prstGeom>
        </p:spPr>
        <p:txBody>
          <a:bodyPr anchor="t" rtlCol="false" tIns="0" lIns="0" bIns="0" rIns="0">
            <a:spAutoFit/>
          </a:bodyPr>
          <a:lstStyle/>
          <a:p>
            <a:pPr algn="l">
              <a:lnSpc>
                <a:spcPts val="2240"/>
              </a:lnSpc>
              <a:spcBef>
                <a:spcPct val="0"/>
              </a:spcBef>
            </a:pPr>
            <a:r>
              <a:rPr lang="en-US" b="true" sz="1600">
                <a:solidFill>
                  <a:srgbClr val="FFFFFF"/>
                </a:solidFill>
                <a:latin typeface="TT Hoves Bold"/>
                <a:ea typeface="TT Hoves Bold"/>
                <a:cs typeface="TT Hoves Bold"/>
                <a:sym typeface="TT Hoves Bold"/>
              </a:rPr>
              <a:t>D</a:t>
            </a:r>
            <a:r>
              <a:rPr lang="en-US" b="true" sz="1600">
                <a:solidFill>
                  <a:srgbClr val="FFFFFF"/>
                </a:solidFill>
                <a:latin typeface="TT Hoves Bold"/>
                <a:ea typeface="TT Hoves Bold"/>
                <a:cs typeface="TT Hoves Bold"/>
                <a:sym typeface="TT Hoves Bold"/>
              </a:rPr>
              <a:t>eliver Value</a:t>
            </a:r>
          </a:p>
        </p:txBody>
      </p:sp>
      <p:sp>
        <p:nvSpPr>
          <p:cNvPr name="TextBox 43" id="43"/>
          <p:cNvSpPr txBox="true"/>
          <p:nvPr/>
        </p:nvSpPr>
        <p:spPr>
          <a:xfrm rot="0">
            <a:off x="16122104" y="5649128"/>
            <a:ext cx="499444" cy="405803"/>
          </a:xfrm>
          <a:prstGeom prst="rect">
            <a:avLst/>
          </a:prstGeom>
        </p:spPr>
        <p:txBody>
          <a:bodyPr anchor="t" rtlCol="false" tIns="0" lIns="0" bIns="0" rIns="0">
            <a:spAutoFit/>
          </a:bodyPr>
          <a:lstStyle/>
          <a:p>
            <a:pPr algn="r">
              <a:lnSpc>
                <a:spcPts val="3359"/>
              </a:lnSpc>
              <a:spcBef>
                <a:spcPct val="0"/>
              </a:spcBef>
            </a:pPr>
            <a:r>
              <a:rPr lang="en-US" b="true" sz="2399">
                <a:solidFill>
                  <a:srgbClr val="000000"/>
                </a:solidFill>
                <a:latin typeface="TT Hoves Bold"/>
                <a:ea typeface="TT Hoves Bold"/>
                <a:cs typeface="TT Hoves Bold"/>
                <a:sym typeface="TT Hoves Bold"/>
              </a:rPr>
              <a:t>05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grpSp>
        <p:nvGrpSpPr>
          <p:cNvPr name="Group 2" id="2"/>
          <p:cNvGrpSpPr/>
          <p:nvPr/>
        </p:nvGrpSpPr>
        <p:grpSpPr>
          <a:xfrm rot="0">
            <a:off x="13040941" y="1304022"/>
            <a:ext cx="4423560" cy="2601228"/>
            <a:chOff x="0" y="0"/>
            <a:chExt cx="1165053" cy="685097"/>
          </a:xfrm>
        </p:grpSpPr>
        <p:sp>
          <p:nvSpPr>
            <p:cNvPr name="Freeform 3" id="3"/>
            <p:cNvSpPr/>
            <p:nvPr/>
          </p:nvSpPr>
          <p:spPr>
            <a:xfrm flipH="false" flipV="false" rot="0">
              <a:off x="0" y="0"/>
              <a:ext cx="1165053" cy="685097"/>
            </a:xfrm>
            <a:custGeom>
              <a:avLst/>
              <a:gdLst/>
              <a:ahLst/>
              <a:cxnLst/>
              <a:rect r="r" b="b" t="t" l="l"/>
              <a:pathLst>
                <a:path h="685097" w="1165053">
                  <a:moveTo>
                    <a:pt x="43754" y="0"/>
                  </a:moveTo>
                  <a:lnTo>
                    <a:pt x="1121299" y="0"/>
                  </a:lnTo>
                  <a:cubicBezTo>
                    <a:pt x="1132903" y="0"/>
                    <a:pt x="1144032" y="4610"/>
                    <a:pt x="1152238" y="12815"/>
                  </a:cubicBezTo>
                  <a:cubicBezTo>
                    <a:pt x="1160443" y="21021"/>
                    <a:pt x="1165053" y="32150"/>
                    <a:pt x="1165053" y="43754"/>
                  </a:cubicBezTo>
                  <a:lnTo>
                    <a:pt x="1165053" y="641343"/>
                  </a:lnTo>
                  <a:cubicBezTo>
                    <a:pt x="1165053" y="652947"/>
                    <a:pt x="1160443" y="664076"/>
                    <a:pt x="1152238" y="672282"/>
                  </a:cubicBezTo>
                  <a:cubicBezTo>
                    <a:pt x="1144032" y="680487"/>
                    <a:pt x="1132903" y="685097"/>
                    <a:pt x="1121299" y="685097"/>
                  </a:cubicBezTo>
                  <a:lnTo>
                    <a:pt x="43754" y="685097"/>
                  </a:lnTo>
                  <a:cubicBezTo>
                    <a:pt x="32150" y="685097"/>
                    <a:pt x="21021" y="680487"/>
                    <a:pt x="12815" y="672282"/>
                  </a:cubicBezTo>
                  <a:cubicBezTo>
                    <a:pt x="4610" y="664076"/>
                    <a:pt x="0" y="652947"/>
                    <a:pt x="0" y="641343"/>
                  </a:cubicBezTo>
                  <a:lnTo>
                    <a:pt x="0" y="43754"/>
                  </a:lnTo>
                  <a:cubicBezTo>
                    <a:pt x="0" y="32150"/>
                    <a:pt x="4610" y="21021"/>
                    <a:pt x="12815" y="12815"/>
                  </a:cubicBezTo>
                  <a:cubicBezTo>
                    <a:pt x="21021" y="4610"/>
                    <a:pt x="32150" y="0"/>
                    <a:pt x="43754" y="0"/>
                  </a:cubicBezTo>
                  <a:close/>
                </a:path>
              </a:pathLst>
            </a:custGeom>
            <a:solidFill>
              <a:srgbClr val="FFFFFF"/>
            </a:solidFill>
          </p:spPr>
        </p:sp>
        <p:sp>
          <p:nvSpPr>
            <p:cNvPr name="TextBox 4" id="4"/>
            <p:cNvSpPr txBox="true"/>
            <p:nvPr/>
          </p:nvSpPr>
          <p:spPr>
            <a:xfrm>
              <a:off x="0" y="-19050"/>
              <a:ext cx="1165053" cy="704147"/>
            </a:xfrm>
            <a:prstGeom prst="rect">
              <a:avLst/>
            </a:prstGeom>
          </p:spPr>
          <p:txBody>
            <a:bodyPr anchor="ctr" rtlCol="false" tIns="50800" lIns="50800" bIns="50800" rIns="50800"/>
            <a:lstStyle/>
            <a:p>
              <a:pPr algn="ctr">
                <a:lnSpc>
                  <a:spcPts val="2240"/>
                </a:lnSpc>
              </a:pPr>
            </a:p>
          </p:txBody>
        </p:sp>
      </p:grpSp>
      <p:grpSp>
        <p:nvGrpSpPr>
          <p:cNvPr name="Group 5" id="5"/>
          <p:cNvGrpSpPr/>
          <p:nvPr/>
        </p:nvGrpSpPr>
        <p:grpSpPr>
          <a:xfrm rot="0">
            <a:off x="13040941" y="6319386"/>
            <a:ext cx="4423560" cy="2601228"/>
            <a:chOff x="0" y="0"/>
            <a:chExt cx="1165053" cy="685097"/>
          </a:xfrm>
        </p:grpSpPr>
        <p:sp>
          <p:nvSpPr>
            <p:cNvPr name="Freeform 6" id="6"/>
            <p:cNvSpPr/>
            <p:nvPr/>
          </p:nvSpPr>
          <p:spPr>
            <a:xfrm flipH="false" flipV="false" rot="0">
              <a:off x="0" y="0"/>
              <a:ext cx="1165053" cy="685097"/>
            </a:xfrm>
            <a:custGeom>
              <a:avLst/>
              <a:gdLst/>
              <a:ahLst/>
              <a:cxnLst/>
              <a:rect r="r" b="b" t="t" l="l"/>
              <a:pathLst>
                <a:path h="685097" w="1165053">
                  <a:moveTo>
                    <a:pt x="43754" y="0"/>
                  </a:moveTo>
                  <a:lnTo>
                    <a:pt x="1121299" y="0"/>
                  </a:lnTo>
                  <a:cubicBezTo>
                    <a:pt x="1132903" y="0"/>
                    <a:pt x="1144032" y="4610"/>
                    <a:pt x="1152238" y="12815"/>
                  </a:cubicBezTo>
                  <a:cubicBezTo>
                    <a:pt x="1160443" y="21021"/>
                    <a:pt x="1165053" y="32150"/>
                    <a:pt x="1165053" y="43754"/>
                  </a:cubicBezTo>
                  <a:lnTo>
                    <a:pt x="1165053" y="641343"/>
                  </a:lnTo>
                  <a:cubicBezTo>
                    <a:pt x="1165053" y="652947"/>
                    <a:pt x="1160443" y="664076"/>
                    <a:pt x="1152238" y="672282"/>
                  </a:cubicBezTo>
                  <a:cubicBezTo>
                    <a:pt x="1144032" y="680487"/>
                    <a:pt x="1132903" y="685097"/>
                    <a:pt x="1121299" y="685097"/>
                  </a:cubicBezTo>
                  <a:lnTo>
                    <a:pt x="43754" y="685097"/>
                  </a:lnTo>
                  <a:cubicBezTo>
                    <a:pt x="32150" y="685097"/>
                    <a:pt x="21021" y="680487"/>
                    <a:pt x="12815" y="672282"/>
                  </a:cubicBezTo>
                  <a:cubicBezTo>
                    <a:pt x="4610" y="664076"/>
                    <a:pt x="0" y="652947"/>
                    <a:pt x="0" y="641343"/>
                  </a:cubicBezTo>
                  <a:lnTo>
                    <a:pt x="0" y="43754"/>
                  </a:lnTo>
                  <a:cubicBezTo>
                    <a:pt x="0" y="32150"/>
                    <a:pt x="4610" y="21021"/>
                    <a:pt x="12815" y="12815"/>
                  </a:cubicBezTo>
                  <a:cubicBezTo>
                    <a:pt x="21021" y="4610"/>
                    <a:pt x="32150" y="0"/>
                    <a:pt x="43754" y="0"/>
                  </a:cubicBezTo>
                  <a:close/>
                </a:path>
              </a:pathLst>
            </a:custGeom>
            <a:solidFill>
              <a:srgbClr val="FFFFFF"/>
            </a:solidFill>
          </p:spPr>
        </p:sp>
        <p:sp>
          <p:nvSpPr>
            <p:cNvPr name="TextBox 7" id="7"/>
            <p:cNvSpPr txBox="true"/>
            <p:nvPr/>
          </p:nvSpPr>
          <p:spPr>
            <a:xfrm>
              <a:off x="0" y="-19050"/>
              <a:ext cx="1165053" cy="704147"/>
            </a:xfrm>
            <a:prstGeom prst="rect">
              <a:avLst/>
            </a:prstGeom>
          </p:spPr>
          <p:txBody>
            <a:bodyPr anchor="ctr" rtlCol="false" tIns="50800" lIns="50800" bIns="50800" rIns="50800"/>
            <a:lstStyle/>
            <a:p>
              <a:pPr algn="ctr">
                <a:lnSpc>
                  <a:spcPts val="2240"/>
                </a:lnSpc>
              </a:pPr>
            </a:p>
          </p:txBody>
        </p:sp>
      </p:grpSp>
      <p:sp>
        <p:nvSpPr>
          <p:cNvPr name="Freeform 8" id="8"/>
          <p:cNvSpPr/>
          <p:nvPr/>
        </p:nvSpPr>
        <p:spPr>
          <a:xfrm flipH="false" flipV="false" rot="0">
            <a:off x="3067900" y="952500"/>
            <a:ext cx="9446926" cy="8382000"/>
          </a:xfrm>
          <a:custGeom>
            <a:avLst/>
            <a:gdLst/>
            <a:ahLst/>
            <a:cxnLst/>
            <a:rect r="r" b="b" t="t" l="l"/>
            <a:pathLst>
              <a:path h="8382000" w="9446926">
                <a:moveTo>
                  <a:pt x="0" y="0"/>
                </a:moveTo>
                <a:lnTo>
                  <a:pt x="9446926" y="0"/>
                </a:lnTo>
                <a:lnTo>
                  <a:pt x="9446926" y="8382000"/>
                </a:lnTo>
                <a:lnTo>
                  <a:pt x="0" y="8382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838676" y="1948845"/>
            <a:ext cx="1048991" cy="1311583"/>
          </a:xfrm>
          <a:custGeom>
            <a:avLst/>
            <a:gdLst/>
            <a:ahLst/>
            <a:cxnLst/>
            <a:rect r="r" b="b" t="t" l="l"/>
            <a:pathLst>
              <a:path h="1311583" w="1048991">
                <a:moveTo>
                  <a:pt x="0" y="0"/>
                </a:moveTo>
                <a:lnTo>
                  <a:pt x="1048991" y="0"/>
                </a:lnTo>
                <a:lnTo>
                  <a:pt x="1048991" y="1311583"/>
                </a:lnTo>
                <a:lnTo>
                  <a:pt x="0" y="13115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838676" y="6964209"/>
            <a:ext cx="1048991" cy="1311583"/>
          </a:xfrm>
          <a:custGeom>
            <a:avLst/>
            <a:gdLst/>
            <a:ahLst/>
            <a:cxnLst/>
            <a:rect r="r" b="b" t="t" l="l"/>
            <a:pathLst>
              <a:path h="1311583" w="1048991">
                <a:moveTo>
                  <a:pt x="0" y="0"/>
                </a:moveTo>
                <a:lnTo>
                  <a:pt x="1048991" y="0"/>
                </a:lnTo>
                <a:lnTo>
                  <a:pt x="1048991" y="1311582"/>
                </a:lnTo>
                <a:lnTo>
                  <a:pt x="0" y="13115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1597089" y="1304022"/>
            <a:ext cx="4423560" cy="2601228"/>
            <a:chOff x="0" y="0"/>
            <a:chExt cx="1165053" cy="685097"/>
          </a:xfrm>
        </p:grpSpPr>
        <p:sp>
          <p:nvSpPr>
            <p:cNvPr name="Freeform 12" id="12"/>
            <p:cNvSpPr/>
            <p:nvPr/>
          </p:nvSpPr>
          <p:spPr>
            <a:xfrm flipH="false" flipV="false" rot="0">
              <a:off x="0" y="0"/>
              <a:ext cx="1165053" cy="685097"/>
            </a:xfrm>
            <a:custGeom>
              <a:avLst/>
              <a:gdLst/>
              <a:ahLst/>
              <a:cxnLst/>
              <a:rect r="r" b="b" t="t" l="l"/>
              <a:pathLst>
                <a:path h="685097" w="1165053">
                  <a:moveTo>
                    <a:pt x="43754" y="0"/>
                  </a:moveTo>
                  <a:lnTo>
                    <a:pt x="1121299" y="0"/>
                  </a:lnTo>
                  <a:cubicBezTo>
                    <a:pt x="1132903" y="0"/>
                    <a:pt x="1144032" y="4610"/>
                    <a:pt x="1152238" y="12815"/>
                  </a:cubicBezTo>
                  <a:cubicBezTo>
                    <a:pt x="1160443" y="21021"/>
                    <a:pt x="1165053" y="32150"/>
                    <a:pt x="1165053" y="43754"/>
                  </a:cubicBezTo>
                  <a:lnTo>
                    <a:pt x="1165053" y="641343"/>
                  </a:lnTo>
                  <a:cubicBezTo>
                    <a:pt x="1165053" y="652947"/>
                    <a:pt x="1160443" y="664076"/>
                    <a:pt x="1152238" y="672282"/>
                  </a:cubicBezTo>
                  <a:cubicBezTo>
                    <a:pt x="1144032" y="680487"/>
                    <a:pt x="1132903" y="685097"/>
                    <a:pt x="1121299" y="685097"/>
                  </a:cubicBezTo>
                  <a:lnTo>
                    <a:pt x="43754" y="685097"/>
                  </a:lnTo>
                  <a:cubicBezTo>
                    <a:pt x="32150" y="685097"/>
                    <a:pt x="21021" y="680487"/>
                    <a:pt x="12815" y="672282"/>
                  </a:cubicBezTo>
                  <a:cubicBezTo>
                    <a:pt x="4610" y="664076"/>
                    <a:pt x="0" y="652947"/>
                    <a:pt x="0" y="641343"/>
                  </a:cubicBezTo>
                  <a:lnTo>
                    <a:pt x="0" y="43754"/>
                  </a:lnTo>
                  <a:cubicBezTo>
                    <a:pt x="0" y="32150"/>
                    <a:pt x="4610" y="21021"/>
                    <a:pt x="12815" y="12815"/>
                  </a:cubicBezTo>
                  <a:cubicBezTo>
                    <a:pt x="21021" y="4610"/>
                    <a:pt x="32150" y="0"/>
                    <a:pt x="43754" y="0"/>
                  </a:cubicBezTo>
                  <a:close/>
                </a:path>
              </a:pathLst>
            </a:custGeom>
            <a:solidFill>
              <a:srgbClr val="FFFFFF"/>
            </a:solidFill>
          </p:spPr>
        </p:sp>
        <p:sp>
          <p:nvSpPr>
            <p:cNvPr name="TextBox 13" id="13"/>
            <p:cNvSpPr txBox="true"/>
            <p:nvPr/>
          </p:nvSpPr>
          <p:spPr>
            <a:xfrm>
              <a:off x="0" y="-19050"/>
              <a:ext cx="1165053" cy="704147"/>
            </a:xfrm>
            <a:prstGeom prst="rect">
              <a:avLst/>
            </a:prstGeom>
          </p:spPr>
          <p:txBody>
            <a:bodyPr anchor="ctr" rtlCol="false" tIns="50800" lIns="50800" bIns="50800" rIns="50800"/>
            <a:lstStyle/>
            <a:p>
              <a:pPr algn="ctr">
                <a:lnSpc>
                  <a:spcPts val="2240"/>
                </a:lnSpc>
              </a:pPr>
            </a:p>
          </p:txBody>
        </p:sp>
      </p:grpSp>
      <p:sp>
        <p:nvSpPr>
          <p:cNvPr name="Freeform 14" id="14"/>
          <p:cNvSpPr/>
          <p:nvPr/>
        </p:nvSpPr>
        <p:spPr>
          <a:xfrm flipH="false" flipV="false" rot="0">
            <a:off x="1394824" y="1948845"/>
            <a:ext cx="1048991" cy="1311583"/>
          </a:xfrm>
          <a:custGeom>
            <a:avLst/>
            <a:gdLst/>
            <a:ahLst/>
            <a:cxnLst/>
            <a:rect r="r" b="b" t="t" l="l"/>
            <a:pathLst>
              <a:path h="1311583" w="1048991">
                <a:moveTo>
                  <a:pt x="0" y="0"/>
                </a:moveTo>
                <a:lnTo>
                  <a:pt x="1048991" y="0"/>
                </a:lnTo>
                <a:lnTo>
                  <a:pt x="1048991" y="1311583"/>
                </a:lnTo>
                <a:lnTo>
                  <a:pt x="0" y="13115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4571564" y="6041672"/>
            <a:ext cx="1332084" cy="1181922"/>
          </a:xfrm>
          <a:custGeom>
            <a:avLst/>
            <a:gdLst/>
            <a:ahLst/>
            <a:cxnLst/>
            <a:rect r="r" b="b" t="t" l="l"/>
            <a:pathLst>
              <a:path h="1181922" w="1332084">
                <a:moveTo>
                  <a:pt x="0" y="0"/>
                </a:moveTo>
                <a:lnTo>
                  <a:pt x="1332083" y="0"/>
                </a:lnTo>
                <a:lnTo>
                  <a:pt x="1332083" y="1181922"/>
                </a:lnTo>
                <a:lnTo>
                  <a:pt x="0" y="11819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8974895" y="1971972"/>
            <a:ext cx="928585" cy="896506"/>
          </a:xfrm>
          <a:custGeom>
            <a:avLst/>
            <a:gdLst/>
            <a:ahLst/>
            <a:cxnLst/>
            <a:rect r="r" b="b" t="t" l="l"/>
            <a:pathLst>
              <a:path h="896506" w="928585">
                <a:moveTo>
                  <a:pt x="0" y="0"/>
                </a:moveTo>
                <a:lnTo>
                  <a:pt x="928585" y="0"/>
                </a:lnTo>
                <a:lnTo>
                  <a:pt x="928585" y="896506"/>
                </a:lnTo>
                <a:lnTo>
                  <a:pt x="0" y="89650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10990746" y="6263508"/>
            <a:ext cx="760537" cy="618109"/>
          </a:xfrm>
          <a:custGeom>
            <a:avLst/>
            <a:gdLst/>
            <a:ahLst/>
            <a:cxnLst/>
            <a:rect r="r" b="b" t="t" l="l"/>
            <a:pathLst>
              <a:path h="618109" w="760537">
                <a:moveTo>
                  <a:pt x="0" y="0"/>
                </a:moveTo>
                <a:lnTo>
                  <a:pt x="760537" y="0"/>
                </a:lnTo>
                <a:lnTo>
                  <a:pt x="760537" y="618110"/>
                </a:lnTo>
                <a:lnTo>
                  <a:pt x="0" y="61811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8" id="18"/>
          <p:cNvSpPr txBox="true"/>
          <p:nvPr/>
        </p:nvSpPr>
        <p:spPr>
          <a:xfrm rot="0">
            <a:off x="7511252" y="5063797"/>
            <a:ext cx="2686050" cy="1032203"/>
          </a:xfrm>
          <a:prstGeom prst="rect">
            <a:avLst/>
          </a:prstGeom>
        </p:spPr>
        <p:txBody>
          <a:bodyPr anchor="t" rtlCol="false" tIns="0" lIns="0" bIns="0" rIns="0">
            <a:spAutoFit/>
          </a:bodyPr>
          <a:lstStyle/>
          <a:p>
            <a:pPr algn="ctr">
              <a:lnSpc>
                <a:spcPts val="4067"/>
              </a:lnSpc>
            </a:pPr>
            <a:r>
              <a:rPr lang="en-US" b="true" sz="3600">
                <a:solidFill>
                  <a:srgbClr val="000000"/>
                </a:solidFill>
                <a:latin typeface="TT Hoves Bold"/>
                <a:ea typeface="TT Hoves Bold"/>
                <a:cs typeface="TT Hoves Bold"/>
                <a:sym typeface="TT Hoves Bold"/>
              </a:rPr>
              <a:t>Core Focus Areas</a:t>
            </a:r>
          </a:p>
        </p:txBody>
      </p:sp>
      <p:sp>
        <p:nvSpPr>
          <p:cNvPr name="TextBox 19" id="19"/>
          <p:cNvSpPr txBox="true"/>
          <p:nvPr/>
        </p:nvSpPr>
        <p:spPr>
          <a:xfrm rot="0">
            <a:off x="2766635" y="2259560"/>
            <a:ext cx="2919573" cy="1083459"/>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Team member</a:t>
            </a:r>
            <a:r>
              <a:rPr lang="en-US" sz="1600">
                <a:solidFill>
                  <a:srgbClr val="000000"/>
                </a:solidFill>
                <a:latin typeface="TT Hoves"/>
                <a:ea typeface="TT Hoves"/>
                <a:cs typeface="TT Hoves"/>
                <a:sym typeface="TT Hoves"/>
              </a:rPr>
              <a:t>s share responsibility and communicate ongoing project progress effectively across the team</a:t>
            </a:r>
          </a:p>
        </p:txBody>
      </p:sp>
      <p:sp>
        <p:nvSpPr>
          <p:cNvPr name="TextBox 20" id="20"/>
          <p:cNvSpPr txBox="true"/>
          <p:nvPr/>
        </p:nvSpPr>
        <p:spPr>
          <a:xfrm rot="0">
            <a:off x="2766635" y="1818629"/>
            <a:ext cx="2813778" cy="316211"/>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Collaboration</a:t>
            </a:r>
          </a:p>
        </p:txBody>
      </p:sp>
      <p:sp>
        <p:nvSpPr>
          <p:cNvPr name="TextBox 21" id="21"/>
          <p:cNvSpPr txBox="true"/>
          <p:nvPr/>
        </p:nvSpPr>
        <p:spPr>
          <a:xfrm rot="0">
            <a:off x="14230567" y="2259560"/>
            <a:ext cx="2813778" cy="1083459"/>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Proces</a:t>
            </a:r>
            <a:r>
              <a:rPr lang="en-US" sz="1600">
                <a:solidFill>
                  <a:srgbClr val="000000"/>
                </a:solidFill>
                <a:latin typeface="TT Hoves"/>
                <a:ea typeface="TT Hoves"/>
                <a:cs typeface="TT Hoves"/>
                <a:sym typeface="TT Hoves"/>
              </a:rPr>
              <a:t>ses stay flexible to adjust quickly to new needs and evolving project requirements effectively</a:t>
            </a:r>
          </a:p>
        </p:txBody>
      </p:sp>
      <p:sp>
        <p:nvSpPr>
          <p:cNvPr name="TextBox 22" id="22"/>
          <p:cNvSpPr txBox="true"/>
          <p:nvPr/>
        </p:nvSpPr>
        <p:spPr>
          <a:xfrm rot="0">
            <a:off x="14230567" y="1818629"/>
            <a:ext cx="2813778" cy="316211"/>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Adaptability</a:t>
            </a:r>
          </a:p>
        </p:txBody>
      </p:sp>
      <p:sp>
        <p:nvSpPr>
          <p:cNvPr name="TextBox 23" id="23"/>
          <p:cNvSpPr txBox="true"/>
          <p:nvPr/>
        </p:nvSpPr>
        <p:spPr>
          <a:xfrm rot="0">
            <a:off x="14230567" y="7274924"/>
            <a:ext cx="2813778" cy="1083459"/>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Work remains visible to all</a:t>
            </a:r>
            <a:r>
              <a:rPr lang="en-US" sz="1600">
                <a:solidFill>
                  <a:srgbClr val="000000"/>
                </a:solidFill>
                <a:latin typeface="TT Hoves"/>
                <a:ea typeface="TT Hoves"/>
                <a:cs typeface="TT Hoves"/>
                <a:sym typeface="TT Hoves"/>
              </a:rPr>
              <a:t> stakeholders for trust, clarity, better decision-making, and shared accountability</a:t>
            </a:r>
          </a:p>
        </p:txBody>
      </p:sp>
      <p:sp>
        <p:nvSpPr>
          <p:cNvPr name="TextBox 24" id="24"/>
          <p:cNvSpPr txBox="true"/>
          <p:nvPr/>
        </p:nvSpPr>
        <p:spPr>
          <a:xfrm rot="0">
            <a:off x="14230567" y="6833993"/>
            <a:ext cx="2813778" cy="316211"/>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Transparency</a:t>
            </a:r>
          </a:p>
        </p:txBody>
      </p:sp>
      <p:sp>
        <p:nvSpPr>
          <p:cNvPr name="TextBox 25" id="25"/>
          <p:cNvSpPr txBox="true"/>
          <p:nvPr/>
        </p:nvSpPr>
        <p:spPr>
          <a:xfrm rot="0">
            <a:off x="1410711" y="2225346"/>
            <a:ext cx="845766" cy="455296"/>
          </a:xfrm>
          <a:prstGeom prst="rect">
            <a:avLst/>
          </a:prstGeom>
        </p:spPr>
        <p:txBody>
          <a:bodyPr anchor="t" rtlCol="false" tIns="0" lIns="0" bIns="0" rIns="0">
            <a:spAutoFit/>
          </a:bodyPr>
          <a:lstStyle/>
          <a:p>
            <a:pPr algn="ctr">
              <a:lnSpc>
                <a:spcPts val="3779"/>
              </a:lnSpc>
              <a:spcBef>
                <a:spcPct val="0"/>
              </a:spcBef>
            </a:pPr>
            <a:r>
              <a:rPr lang="en-US" b="true" sz="2699">
                <a:solidFill>
                  <a:srgbClr val="FFFFFF"/>
                </a:solidFill>
                <a:latin typeface="TT Hoves Bold"/>
                <a:ea typeface="TT Hoves Bold"/>
                <a:cs typeface="TT Hoves Bold"/>
                <a:sym typeface="TT Hoves Bold"/>
              </a:rPr>
              <a:t>01</a:t>
            </a:r>
          </a:p>
        </p:txBody>
      </p:sp>
      <p:sp>
        <p:nvSpPr>
          <p:cNvPr name="TextBox 26" id="26"/>
          <p:cNvSpPr txBox="true"/>
          <p:nvPr/>
        </p:nvSpPr>
        <p:spPr>
          <a:xfrm rot="0">
            <a:off x="12854563" y="2225346"/>
            <a:ext cx="845766" cy="455296"/>
          </a:xfrm>
          <a:prstGeom prst="rect">
            <a:avLst/>
          </a:prstGeom>
        </p:spPr>
        <p:txBody>
          <a:bodyPr anchor="t" rtlCol="false" tIns="0" lIns="0" bIns="0" rIns="0">
            <a:spAutoFit/>
          </a:bodyPr>
          <a:lstStyle/>
          <a:p>
            <a:pPr algn="ctr">
              <a:lnSpc>
                <a:spcPts val="3779"/>
              </a:lnSpc>
              <a:spcBef>
                <a:spcPct val="0"/>
              </a:spcBef>
            </a:pPr>
            <a:r>
              <a:rPr lang="en-US" b="true" sz="2699">
                <a:solidFill>
                  <a:srgbClr val="FFFFFF"/>
                </a:solidFill>
                <a:latin typeface="TT Hoves Bold"/>
                <a:ea typeface="TT Hoves Bold"/>
                <a:cs typeface="TT Hoves Bold"/>
                <a:sym typeface="TT Hoves Bold"/>
              </a:rPr>
              <a:t>02</a:t>
            </a:r>
          </a:p>
        </p:txBody>
      </p:sp>
      <p:sp>
        <p:nvSpPr>
          <p:cNvPr name="TextBox 27" id="27"/>
          <p:cNvSpPr txBox="true"/>
          <p:nvPr/>
        </p:nvSpPr>
        <p:spPr>
          <a:xfrm rot="0">
            <a:off x="12854563" y="7240710"/>
            <a:ext cx="845766" cy="455296"/>
          </a:xfrm>
          <a:prstGeom prst="rect">
            <a:avLst/>
          </a:prstGeom>
        </p:spPr>
        <p:txBody>
          <a:bodyPr anchor="t" rtlCol="false" tIns="0" lIns="0" bIns="0" rIns="0">
            <a:spAutoFit/>
          </a:bodyPr>
          <a:lstStyle/>
          <a:p>
            <a:pPr algn="ctr">
              <a:lnSpc>
                <a:spcPts val="3779"/>
              </a:lnSpc>
              <a:spcBef>
                <a:spcPct val="0"/>
              </a:spcBef>
            </a:pPr>
            <a:r>
              <a:rPr lang="en-US" b="true" sz="2699">
                <a:solidFill>
                  <a:srgbClr val="FFFFFF"/>
                </a:solidFill>
                <a:latin typeface="TT Hoves Bold"/>
                <a:ea typeface="TT Hoves Bold"/>
                <a:cs typeface="TT Hoves Bold"/>
                <a:sym typeface="TT Hoves Bold"/>
              </a:rPr>
              <a:t>03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sp>
        <p:nvSpPr>
          <p:cNvPr name="Freeform 2" id="2"/>
          <p:cNvSpPr/>
          <p:nvPr/>
        </p:nvSpPr>
        <p:spPr>
          <a:xfrm flipH="false" flipV="false" rot="0">
            <a:off x="1721613" y="3295151"/>
            <a:ext cx="2470699" cy="1086349"/>
          </a:xfrm>
          <a:custGeom>
            <a:avLst/>
            <a:gdLst/>
            <a:ahLst/>
            <a:cxnLst/>
            <a:rect r="r" b="b" t="t" l="l"/>
            <a:pathLst>
              <a:path h="1086349" w="2470699">
                <a:moveTo>
                  <a:pt x="0" y="0"/>
                </a:moveTo>
                <a:lnTo>
                  <a:pt x="2470699" y="0"/>
                </a:lnTo>
                <a:lnTo>
                  <a:pt x="2470699" y="1086349"/>
                </a:lnTo>
                <a:lnTo>
                  <a:pt x="0" y="10863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751566" y="3295151"/>
            <a:ext cx="2470699" cy="1086349"/>
          </a:xfrm>
          <a:custGeom>
            <a:avLst/>
            <a:gdLst/>
            <a:ahLst/>
            <a:cxnLst/>
            <a:rect r="r" b="b" t="t" l="l"/>
            <a:pathLst>
              <a:path h="1086349" w="2470699">
                <a:moveTo>
                  <a:pt x="0" y="0"/>
                </a:moveTo>
                <a:lnTo>
                  <a:pt x="2470700" y="0"/>
                </a:lnTo>
                <a:lnTo>
                  <a:pt x="2470700" y="1086349"/>
                </a:lnTo>
                <a:lnTo>
                  <a:pt x="0" y="10863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781519" y="3295151"/>
            <a:ext cx="2470699" cy="1086349"/>
          </a:xfrm>
          <a:custGeom>
            <a:avLst/>
            <a:gdLst/>
            <a:ahLst/>
            <a:cxnLst/>
            <a:rect r="r" b="b" t="t" l="l"/>
            <a:pathLst>
              <a:path h="1086349" w="2470699">
                <a:moveTo>
                  <a:pt x="0" y="0"/>
                </a:moveTo>
                <a:lnTo>
                  <a:pt x="2470700" y="0"/>
                </a:lnTo>
                <a:lnTo>
                  <a:pt x="2470700" y="1086349"/>
                </a:lnTo>
                <a:lnTo>
                  <a:pt x="0" y="10863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811473" y="3295151"/>
            <a:ext cx="2470699" cy="1086349"/>
          </a:xfrm>
          <a:custGeom>
            <a:avLst/>
            <a:gdLst/>
            <a:ahLst/>
            <a:cxnLst/>
            <a:rect r="r" b="b" t="t" l="l"/>
            <a:pathLst>
              <a:path h="1086349" w="2470699">
                <a:moveTo>
                  <a:pt x="0" y="0"/>
                </a:moveTo>
                <a:lnTo>
                  <a:pt x="2470699" y="0"/>
                </a:lnTo>
                <a:lnTo>
                  <a:pt x="2470699" y="1086349"/>
                </a:lnTo>
                <a:lnTo>
                  <a:pt x="0" y="10863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841426" y="3295151"/>
            <a:ext cx="2470699" cy="1086349"/>
          </a:xfrm>
          <a:custGeom>
            <a:avLst/>
            <a:gdLst/>
            <a:ahLst/>
            <a:cxnLst/>
            <a:rect r="r" b="b" t="t" l="l"/>
            <a:pathLst>
              <a:path h="1086349" w="2470699">
                <a:moveTo>
                  <a:pt x="0" y="0"/>
                </a:moveTo>
                <a:lnTo>
                  <a:pt x="2470699" y="0"/>
                </a:lnTo>
                <a:lnTo>
                  <a:pt x="2470699" y="1086349"/>
                </a:lnTo>
                <a:lnTo>
                  <a:pt x="0" y="10863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1721613" y="4533900"/>
            <a:ext cx="2470699" cy="3520464"/>
            <a:chOff x="0" y="0"/>
            <a:chExt cx="650719" cy="927200"/>
          </a:xfrm>
        </p:grpSpPr>
        <p:sp>
          <p:nvSpPr>
            <p:cNvPr name="Freeform 8" id="8"/>
            <p:cNvSpPr/>
            <p:nvPr/>
          </p:nvSpPr>
          <p:spPr>
            <a:xfrm flipH="false" flipV="false" rot="0">
              <a:off x="0" y="0"/>
              <a:ext cx="650719" cy="927200"/>
            </a:xfrm>
            <a:custGeom>
              <a:avLst/>
              <a:gdLst/>
              <a:ahLst/>
              <a:cxnLst/>
              <a:rect r="r" b="b" t="t" l="l"/>
              <a:pathLst>
                <a:path h="927200" w="650719">
                  <a:moveTo>
                    <a:pt x="72070" y="0"/>
                  </a:moveTo>
                  <a:lnTo>
                    <a:pt x="578649" y="0"/>
                  </a:lnTo>
                  <a:cubicBezTo>
                    <a:pt x="597763" y="0"/>
                    <a:pt x="616094" y="7593"/>
                    <a:pt x="629610" y="21109"/>
                  </a:cubicBezTo>
                  <a:cubicBezTo>
                    <a:pt x="643126" y="34625"/>
                    <a:pt x="650719" y="52956"/>
                    <a:pt x="650719" y="72070"/>
                  </a:cubicBezTo>
                  <a:lnTo>
                    <a:pt x="650719" y="855130"/>
                  </a:lnTo>
                  <a:cubicBezTo>
                    <a:pt x="650719" y="874244"/>
                    <a:pt x="643126" y="892576"/>
                    <a:pt x="629610" y="906091"/>
                  </a:cubicBezTo>
                  <a:cubicBezTo>
                    <a:pt x="616094" y="919607"/>
                    <a:pt x="597763" y="927200"/>
                    <a:pt x="578649" y="927200"/>
                  </a:cubicBezTo>
                  <a:lnTo>
                    <a:pt x="72070" y="927200"/>
                  </a:lnTo>
                  <a:cubicBezTo>
                    <a:pt x="52956" y="927200"/>
                    <a:pt x="34625" y="919607"/>
                    <a:pt x="21109" y="906091"/>
                  </a:cubicBezTo>
                  <a:cubicBezTo>
                    <a:pt x="7593" y="892576"/>
                    <a:pt x="0" y="874244"/>
                    <a:pt x="0" y="855130"/>
                  </a:cubicBezTo>
                  <a:lnTo>
                    <a:pt x="0" y="72070"/>
                  </a:lnTo>
                  <a:cubicBezTo>
                    <a:pt x="0" y="52956"/>
                    <a:pt x="7593" y="34625"/>
                    <a:pt x="21109" y="21109"/>
                  </a:cubicBezTo>
                  <a:cubicBezTo>
                    <a:pt x="34625" y="7593"/>
                    <a:pt x="52956" y="0"/>
                    <a:pt x="72070" y="0"/>
                  </a:cubicBezTo>
                  <a:close/>
                </a:path>
              </a:pathLst>
            </a:custGeom>
            <a:solidFill>
              <a:srgbClr val="FFFFFF"/>
            </a:solidFill>
          </p:spPr>
        </p:sp>
        <p:sp>
          <p:nvSpPr>
            <p:cNvPr name="TextBox 9" id="9"/>
            <p:cNvSpPr txBox="true"/>
            <p:nvPr/>
          </p:nvSpPr>
          <p:spPr>
            <a:xfrm>
              <a:off x="0" y="-19050"/>
              <a:ext cx="650719" cy="946250"/>
            </a:xfrm>
            <a:prstGeom prst="rect">
              <a:avLst/>
            </a:prstGeom>
          </p:spPr>
          <p:txBody>
            <a:bodyPr anchor="ctr" rtlCol="false" tIns="50800" lIns="50800" bIns="50800" rIns="50800"/>
            <a:lstStyle/>
            <a:p>
              <a:pPr algn="ctr">
                <a:lnSpc>
                  <a:spcPts val="2240"/>
                </a:lnSpc>
              </a:pPr>
            </a:p>
          </p:txBody>
        </p:sp>
      </p:grpSp>
      <p:grpSp>
        <p:nvGrpSpPr>
          <p:cNvPr name="Group 10" id="10"/>
          <p:cNvGrpSpPr/>
          <p:nvPr/>
        </p:nvGrpSpPr>
        <p:grpSpPr>
          <a:xfrm rot="0">
            <a:off x="4798997" y="4533900"/>
            <a:ext cx="2470699" cy="3520464"/>
            <a:chOff x="0" y="0"/>
            <a:chExt cx="650719" cy="927200"/>
          </a:xfrm>
        </p:grpSpPr>
        <p:sp>
          <p:nvSpPr>
            <p:cNvPr name="Freeform 11" id="11"/>
            <p:cNvSpPr/>
            <p:nvPr/>
          </p:nvSpPr>
          <p:spPr>
            <a:xfrm flipH="false" flipV="false" rot="0">
              <a:off x="0" y="0"/>
              <a:ext cx="650719" cy="927200"/>
            </a:xfrm>
            <a:custGeom>
              <a:avLst/>
              <a:gdLst/>
              <a:ahLst/>
              <a:cxnLst/>
              <a:rect r="r" b="b" t="t" l="l"/>
              <a:pathLst>
                <a:path h="927200" w="650719">
                  <a:moveTo>
                    <a:pt x="72070" y="0"/>
                  </a:moveTo>
                  <a:lnTo>
                    <a:pt x="578649" y="0"/>
                  </a:lnTo>
                  <a:cubicBezTo>
                    <a:pt x="597763" y="0"/>
                    <a:pt x="616094" y="7593"/>
                    <a:pt x="629610" y="21109"/>
                  </a:cubicBezTo>
                  <a:cubicBezTo>
                    <a:pt x="643126" y="34625"/>
                    <a:pt x="650719" y="52956"/>
                    <a:pt x="650719" y="72070"/>
                  </a:cubicBezTo>
                  <a:lnTo>
                    <a:pt x="650719" y="855130"/>
                  </a:lnTo>
                  <a:cubicBezTo>
                    <a:pt x="650719" y="874244"/>
                    <a:pt x="643126" y="892576"/>
                    <a:pt x="629610" y="906091"/>
                  </a:cubicBezTo>
                  <a:cubicBezTo>
                    <a:pt x="616094" y="919607"/>
                    <a:pt x="597763" y="927200"/>
                    <a:pt x="578649" y="927200"/>
                  </a:cubicBezTo>
                  <a:lnTo>
                    <a:pt x="72070" y="927200"/>
                  </a:lnTo>
                  <a:cubicBezTo>
                    <a:pt x="52956" y="927200"/>
                    <a:pt x="34625" y="919607"/>
                    <a:pt x="21109" y="906091"/>
                  </a:cubicBezTo>
                  <a:cubicBezTo>
                    <a:pt x="7593" y="892576"/>
                    <a:pt x="0" y="874244"/>
                    <a:pt x="0" y="855130"/>
                  </a:cubicBezTo>
                  <a:lnTo>
                    <a:pt x="0" y="72070"/>
                  </a:lnTo>
                  <a:cubicBezTo>
                    <a:pt x="0" y="52956"/>
                    <a:pt x="7593" y="34625"/>
                    <a:pt x="21109" y="21109"/>
                  </a:cubicBezTo>
                  <a:cubicBezTo>
                    <a:pt x="34625" y="7593"/>
                    <a:pt x="52956" y="0"/>
                    <a:pt x="72070" y="0"/>
                  </a:cubicBezTo>
                  <a:close/>
                </a:path>
              </a:pathLst>
            </a:custGeom>
            <a:solidFill>
              <a:srgbClr val="FFFFFF"/>
            </a:solidFill>
          </p:spPr>
        </p:sp>
        <p:sp>
          <p:nvSpPr>
            <p:cNvPr name="TextBox 12" id="12"/>
            <p:cNvSpPr txBox="true"/>
            <p:nvPr/>
          </p:nvSpPr>
          <p:spPr>
            <a:xfrm>
              <a:off x="0" y="-19050"/>
              <a:ext cx="650719" cy="946250"/>
            </a:xfrm>
            <a:prstGeom prst="rect">
              <a:avLst/>
            </a:prstGeom>
          </p:spPr>
          <p:txBody>
            <a:bodyPr anchor="ctr" rtlCol="false" tIns="50800" lIns="50800" bIns="50800" rIns="50800"/>
            <a:lstStyle/>
            <a:p>
              <a:pPr algn="ctr">
                <a:lnSpc>
                  <a:spcPts val="2240"/>
                </a:lnSpc>
              </a:pPr>
            </a:p>
          </p:txBody>
        </p:sp>
      </p:grpSp>
      <p:grpSp>
        <p:nvGrpSpPr>
          <p:cNvPr name="Group 13" id="13"/>
          <p:cNvGrpSpPr/>
          <p:nvPr/>
        </p:nvGrpSpPr>
        <p:grpSpPr>
          <a:xfrm rot="0">
            <a:off x="7876381" y="4533900"/>
            <a:ext cx="2470699" cy="3520464"/>
            <a:chOff x="0" y="0"/>
            <a:chExt cx="650719" cy="927200"/>
          </a:xfrm>
        </p:grpSpPr>
        <p:sp>
          <p:nvSpPr>
            <p:cNvPr name="Freeform 14" id="14"/>
            <p:cNvSpPr/>
            <p:nvPr/>
          </p:nvSpPr>
          <p:spPr>
            <a:xfrm flipH="false" flipV="false" rot="0">
              <a:off x="0" y="0"/>
              <a:ext cx="650719" cy="927200"/>
            </a:xfrm>
            <a:custGeom>
              <a:avLst/>
              <a:gdLst/>
              <a:ahLst/>
              <a:cxnLst/>
              <a:rect r="r" b="b" t="t" l="l"/>
              <a:pathLst>
                <a:path h="927200" w="650719">
                  <a:moveTo>
                    <a:pt x="72070" y="0"/>
                  </a:moveTo>
                  <a:lnTo>
                    <a:pt x="578649" y="0"/>
                  </a:lnTo>
                  <a:cubicBezTo>
                    <a:pt x="597763" y="0"/>
                    <a:pt x="616094" y="7593"/>
                    <a:pt x="629610" y="21109"/>
                  </a:cubicBezTo>
                  <a:cubicBezTo>
                    <a:pt x="643126" y="34625"/>
                    <a:pt x="650719" y="52956"/>
                    <a:pt x="650719" y="72070"/>
                  </a:cubicBezTo>
                  <a:lnTo>
                    <a:pt x="650719" y="855130"/>
                  </a:lnTo>
                  <a:cubicBezTo>
                    <a:pt x="650719" y="874244"/>
                    <a:pt x="643126" y="892576"/>
                    <a:pt x="629610" y="906091"/>
                  </a:cubicBezTo>
                  <a:cubicBezTo>
                    <a:pt x="616094" y="919607"/>
                    <a:pt x="597763" y="927200"/>
                    <a:pt x="578649" y="927200"/>
                  </a:cubicBezTo>
                  <a:lnTo>
                    <a:pt x="72070" y="927200"/>
                  </a:lnTo>
                  <a:cubicBezTo>
                    <a:pt x="52956" y="927200"/>
                    <a:pt x="34625" y="919607"/>
                    <a:pt x="21109" y="906091"/>
                  </a:cubicBezTo>
                  <a:cubicBezTo>
                    <a:pt x="7593" y="892576"/>
                    <a:pt x="0" y="874244"/>
                    <a:pt x="0" y="855130"/>
                  </a:cubicBezTo>
                  <a:lnTo>
                    <a:pt x="0" y="72070"/>
                  </a:lnTo>
                  <a:cubicBezTo>
                    <a:pt x="0" y="52956"/>
                    <a:pt x="7593" y="34625"/>
                    <a:pt x="21109" y="21109"/>
                  </a:cubicBezTo>
                  <a:cubicBezTo>
                    <a:pt x="34625" y="7593"/>
                    <a:pt x="52956" y="0"/>
                    <a:pt x="72070" y="0"/>
                  </a:cubicBezTo>
                  <a:close/>
                </a:path>
              </a:pathLst>
            </a:custGeom>
            <a:solidFill>
              <a:srgbClr val="FFFFFF"/>
            </a:solidFill>
          </p:spPr>
        </p:sp>
        <p:sp>
          <p:nvSpPr>
            <p:cNvPr name="TextBox 15" id="15"/>
            <p:cNvSpPr txBox="true"/>
            <p:nvPr/>
          </p:nvSpPr>
          <p:spPr>
            <a:xfrm>
              <a:off x="0" y="-19050"/>
              <a:ext cx="650719" cy="946250"/>
            </a:xfrm>
            <a:prstGeom prst="rect">
              <a:avLst/>
            </a:prstGeom>
          </p:spPr>
          <p:txBody>
            <a:bodyPr anchor="ctr" rtlCol="false" tIns="50800" lIns="50800" bIns="50800" rIns="50800"/>
            <a:lstStyle/>
            <a:p>
              <a:pPr algn="ctr">
                <a:lnSpc>
                  <a:spcPts val="2240"/>
                </a:lnSpc>
              </a:pPr>
            </a:p>
          </p:txBody>
        </p:sp>
      </p:grpSp>
      <p:grpSp>
        <p:nvGrpSpPr>
          <p:cNvPr name="Group 16" id="16"/>
          <p:cNvGrpSpPr/>
          <p:nvPr/>
        </p:nvGrpSpPr>
        <p:grpSpPr>
          <a:xfrm rot="0">
            <a:off x="10953764" y="4533900"/>
            <a:ext cx="2470699" cy="3520464"/>
            <a:chOff x="0" y="0"/>
            <a:chExt cx="650719" cy="927200"/>
          </a:xfrm>
        </p:grpSpPr>
        <p:sp>
          <p:nvSpPr>
            <p:cNvPr name="Freeform 17" id="17"/>
            <p:cNvSpPr/>
            <p:nvPr/>
          </p:nvSpPr>
          <p:spPr>
            <a:xfrm flipH="false" flipV="false" rot="0">
              <a:off x="0" y="0"/>
              <a:ext cx="650719" cy="927200"/>
            </a:xfrm>
            <a:custGeom>
              <a:avLst/>
              <a:gdLst/>
              <a:ahLst/>
              <a:cxnLst/>
              <a:rect r="r" b="b" t="t" l="l"/>
              <a:pathLst>
                <a:path h="927200" w="650719">
                  <a:moveTo>
                    <a:pt x="72070" y="0"/>
                  </a:moveTo>
                  <a:lnTo>
                    <a:pt x="578649" y="0"/>
                  </a:lnTo>
                  <a:cubicBezTo>
                    <a:pt x="597763" y="0"/>
                    <a:pt x="616094" y="7593"/>
                    <a:pt x="629610" y="21109"/>
                  </a:cubicBezTo>
                  <a:cubicBezTo>
                    <a:pt x="643126" y="34625"/>
                    <a:pt x="650719" y="52956"/>
                    <a:pt x="650719" y="72070"/>
                  </a:cubicBezTo>
                  <a:lnTo>
                    <a:pt x="650719" y="855130"/>
                  </a:lnTo>
                  <a:cubicBezTo>
                    <a:pt x="650719" y="874244"/>
                    <a:pt x="643126" y="892576"/>
                    <a:pt x="629610" y="906091"/>
                  </a:cubicBezTo>
                  <a:cubicBezTo>
                    <a:pt x="616094" y="919607"/>
                    <a:pt x="597763" y="927200"/>
                    <a:pt x="578649" y="927200"/>
                  </a:cubicBezTo>
                  <a:lnTo>
                    <a:pt x="72070" y="927200"/>
                  </a:lnTo>
                  <a:cubicBezTo>
                    <a:pt x="52956" y="927200"/>
                    <a:pt x="34625" y="919607"/>
                    <a:pt x="21109" y="906091"/>
                  </a:cubicBezTo>
                  <a:cubicBezTo>
                    <a:pt x="7593" y="892576"/>
                    <a:pt x="0" y="874244"/>
                    <a:pt x="0" y="855130"/>
                  </a:cubicBezTo>
                  <a:lnTo>
                    <a:pt x="0" y="72070"/>
                  </a:lnTo>
                  <a:cubicBezTo>
                    <a:pt x="0" y="52956"/>
                    <a:pt x="7593" y="34625"/>
                    <a:pt x="21109" y="21109"/>
                  </a:cubicBezTo>
                  <a:cubicBezTo>
                    <a:pt x="34625" y="7593"/>
                    <a:pt x="52956" y="0"/>
                    <a:pt x="72070" y="0"/>
                  </a:cubicBezTo>
                  <a:close/>
                </a:path>
              </a:pathLst>
            </a:custGeom>
            <a:solidFill>
              <a:srgbClr val="FFFFFF"/>
            </a:solidFill>
          </p:spPr>
        </p:sp>
        <p:sp>
          <p:nvSpPr>
            <p:cNvPr name="TextBox 18" id="18"/>
            <p:cNvSpPr txBox="true"/>
            <p:nvPr/>
          </p:nvSpPr>
          <p:spPr>
            <a:xfrm>
              <a:off x="0" y="-19050"/>
              <a:ext cx="650719" cy="946250"/>
            </a:xfrm>
            <a:prstGeom prst="rect">
              <a:avLst/>
            </a:prstGeom>
          </p:spPr>
          <p:txBody>
            <a:bodyPr anchor="ctr" rtlCol="false" tIns="50800" lIns="50800" bIns="50800" rIns="50800"/>
            <a:lstStyle/>
            <a:p>
              <a:pPr algn="ctr">
                <a:lnSpc>
                  <a:spcPts val="2240"/>
                </a:lnSpc>
              </a:pPr>
            </a:p>
          </p:txBody>
        </p:sp>
      </p:grpSp>
      <p:grpSp>
        <p:nvGrpSpPr>
          <p:cNvPr name="Group 19" id="19"/>
          <p:cNvGrpSpPr/>
          <p:nvPr/>
        </p:nvGrpSpPr>
        <p:grpSpPr>
          <a:xfrm rot="0">
            <a:off x="14031148" y="4533900"/>
            <a:ext cx="2470699" cy="3520464"/>
            <a:chOff x="0" y="0"/>
            <a:chExt cx="650719" cy="927200"/>
          </a:xfrm>
        </p:grpSpPr>
        <p:sp>
          <p:nvSpPr>
            <p:cNvPr name="Freeform 20" id="20"/>
            <p:cNvSpPr/>
            <p:nvPr/>
          </p:nvSpPr>
          <p:spPr>
            <a:xfrm flipH="false" flipV="false" rot="0">
              <a:off x="0" y="0"/>
              <a:ext cx="650719" cy="927200"/>
            </a:xfrm>
            <a:custGeom>
              <a:avLst/>
              <a:gdLst/>
              <a:ahLst/>
              <a:cxnLst/>
              <a:rect r="r" b="b" t="t" l="l"/>
              <a:pathLst>
                <a:path h="927200" w="650719">
                  <a:moveTo>
                    <a:pt x="72070" y="0"/>
                  </a:moveTo>
                  <a:lnTo>
                    <a:pt x="578649" y="0"/>
                  </a:lnTo>
                  <a:cubicBezTo>
                    <a:pt x="597763" y="0"/>
                    <a:pt x="616094" y="7593"/>
                    <a:pt x="629610" y="21109"/>
                  </a:cubicBezTo>
                  <a:cubicBezTo>
                    <a:pt x="643126" y="34625"/>
                    <a:pt x="650719" y="52956"/>
                    <a:pt x="650719" y="72070"/>
                  </a:cubicBezTo>
                  <a:lnTo>
                    <a:pt x="650719" y="855130"/>
                  </a:lnTo>
                  <a:cubicBezTo>
                    <a:pt x="650719" y="874244"/>
                    <a:pt x="643126" y="892576"/>
                    <a:pt x="629610" y="906091"/>
                  </a:cubicBezTo>
                  <a:cubicBezTo>
                    <a:pt x="616094" y="919607"/>
                    <a:pt x="597763" y="927200"/>
                    <a:pt x="578649" y="927200"/>
                  </a:cubicBezTo>
                  <a:lnTo>
                    <a:pt x="72070" y="927200"/>
                  </a:lnTo>
                  <a:cubicBezTo>
                    <a:pt x="52956" y="927200"/>
                    <a:pt x="34625" y="919607"/>
                    <a:pt x="21109" y="906091"/>
                  </a:cubicBezTo>
                  <a:cubicBezTo>
                    <a:pt x="7593" y="892576"/>
                    <a:pt x="0" y="874244"/>
                    <a:pt x="0" y="855130"/>
                  </a:cubicBezTo>
                  <a:lnTo>
                    <a:pt x="0" y="72070"/>
                  </a:lnTo>
                  <a:cubicBezTo>
                    <a:pt x="0" y="52956"/>
                    <a:pt x="7593" y="34625"/>
                    <a:pt x="21109" y="21109"/>
                  </a:cubicBezTo>
                  <a:cubicBezTo>
                    <a:pt x="34625" y="7593"/>
                    <a:pt x="52956" y="0"/>
                    <a:pt x="72070" y="0"/>
                  </a:cubicBezTo>
                  <a:close/>
                </a:path>
              </a:pathLst>
            </a:custGeom>
            <a:solidFill>
              <a:srgbClr val="FFFFFF"/>
            </a:solidFill>
          </p:spPr>
        </p:sp>
        <p:sp>
          <p:nvSpPr>
            <p:cNvPr name="TextBox 21" id="21"/>
            <p:cNvSpPr txBox="true"/>
            <p:nvPr/>
          </p:nvSpPr>
          <p:spPr>
            <a:xfrm>
              <a:off x="0" y="-19050"/>
              <a:ext cx="650719" cy="946250"/>
            </a:xfrm>
            <a:prstGeom prst="rect">
              <a:avLst/>
            </a:prstGeom>
          </p:spPr>
          <p:txBody>
            <a:bodyPr anchor="ctr" rtlCol="false" tIns="50800" lIns="50800" bIns="50800" rIns="50800"/>
            <a:lstStyle/>
            <a:p>
              <a:pPr algn="ctr">
                <a:lnSpc>
                  <a:spcPts val="2240"/>
                </a:lnSpc>
              </a:pPr>
            </a:p>
          </p:txBody>
        </p:sp>
      </p:grpSp>
      <p:grpSp>
        <p:nvGrpSpPr>
          <p:cNvPr name="Group 22" id="22"/>
          <p:cNvGrpSpPr/>
          <p:nvPr/>
        </p:nvGrpSpPr>
        <p:grpSpPr>
          <a:xfrm rot="0">
            <a:off x="1828889" y="8198634"/>
            <a:ext cx="2256148" cy="156938"/>
            <a:chOff x="0" y="0"/>
            <a:chExt cx="594212" cy="41334"/>
          </a:xfrm>
        </p:grpSpPr>
        <p:sp>
          <p:nvSpPr>
            <p:cNvPr name="Freeform 23" id="23"/>
            <p:cNvSpPr/>
            <p:nvPr/>
          </p:nvSpPr>
          <p:spPr>
            <a:xfrm flipH="false" flipV="false" rot="0">
              <a:off x="0" y="0"/>
              <a:ext cx="594212" cy="41334"/>
            </a:xfrm>
            <a:custGeom>
              <a:avLst/>
              <a:gdLst/>
              <a:ahLst/>
              <a:cxnLst/>
              <a:rect r="r" b="b" t="t" l="l"/>
              <a:pathLst>
                <a:path h="41334" w="594212">
                  <a:moveTo>
                    <a:pt x="20667" y="0"/>
                  </a:moveTo>
                  <a:lnTo>
                    <a:pt x="573545" y="0"/>
                  </a:lnTo>
                  <a:cubicBezTo>
                    <a:pt x="584959" y="0"/>
                    <a:pt x="594212" y="9253"/>
                    <a:pt x="594212" y="20667"/>
                  </a:cubicBezTo>
                  <a:lnTo>
                    <a:pt x="594212" y="20667"/>
                  </a:lnTo>
                  <a:cubicBezTo>
                    <a:pt x="594212" y="32081"/>
                    <a:pt x="584959" y="41334"/>
                    <a:pt x="573545" y="41334"/>
                  </a:cubicBezTo>
                  <a:lnTo>
                    <a:pt x="20667" y="41334"/>
                  </a:lnTo>
                  <a:cubicBezTo>
                    <a:pt x="9253" y="41334"/>
                    <a:pt x="0" y="32081"/>
                    <a:pt x="0" y="20667"/>
                  </a:cubicBezTo>
                  <a:lnTo>
                    <a:pt x="0" y="20667"/>
                  </a:lnTo>
                  <a:cubicBezTo>
                    <a:pt x="0" y="9253"/>
                    <a:pt x="9253" y="0"/>
                    <a:pt x="20667" y="0"/>
                  </a:cubicBezTo>
                  <a:close/>
                </a:path>
              </a:pathLst>
            </a:custGeom>
            <a:solidFill>
              <a:srgbClr val="56E11B"/>
            </a:solidFill>
          </p:spPr>
        </p:sp>
        <p:sp>
          <p:nvSpPr>
            <p:cNvPr name="TextBox 24" id="24"/>
            <p:cNvSpPr txBox="true"/>
            <p:nvPr/>
          </p:nvSpPr>
          <p:spPr>
            <a:xfrm>
              <a:off x="0" y="-38100"/>
              <a:ext cx="594212" cy="79434"/>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25" id="25"/>
          <p:cNvGrpSpPr/>
          <p:nvPr/>
        </p:nvGrpSpPr>
        <p:grpSpPr>
          <a:xfrm rot="0">
            <a:off x="4906273" y="8198634"/>
            <a:ext cx="2256148" cy="156938"/>
            <a:chOff x="0" y="0"/>
            <a:chExt cx="594212" cy="41334"/>
          </a:xfrm>
        </p:grpSpPr>
        <p:sp>
          <p:nvSpPr>
            <p:cNvPr name="Freeform 26" id="26"/>
            <p:cNvSpPr/>
            <p:nvPr/>
          </p:nvSpPr>
          <p:spPr>
            <a:xfrm flipH="false" flipV="false" rot="0">
              <a:off x="0" y="0"/>
              <a:ext cx="594212" cy="41334"/>
            </a:xfrm>
            <a:custGeom>
              <a:avLst/>
              <a:gdLst/>
              <a:ahLst/>
              <a:cxnLst/>
              <a:rect r="r" b="b" t="t" l="l"/>
              <a:pathLst>
                <a:path h="41334" w="594212">
                  <a:moveTo>
                    <a:pt x="20667" y="0"/>
                  </a:moveTo>
                  <a:lnTo>
                    <a:pt x="573545" y="0"/>
                  </a:lnTo>
                  <a:cubicBezTo>
                    <a:pt x="584959" y="0"/>
                    <a:pt x="594212" y="9253"/>
                    <a:pt x="594212" y="20667"/>
                  </a:cubicBezTo>
                  <a:lnTo>
                    <a:pt x="594212" y="20667"/>
                  </a:lnTo>
                  <a:cubicBezTo>
                    <a:pt x="594212" y="32081"/>
                    <a:pt x="584959" y="41334"/>
                    <a:pt x="573545" y="41334"/>
                  </a:cubicBezTo>
                  <a:lnTo>
                    <a:pt x="20667" y="41334"/>
                  </a:lnTo>
                  <a:cubicBezTo>
                    <a:pt x="9253" y="41334"/>
                    <a:pt x="0" y="32081"/>
                    <a:pt x="0" y="20667"/>
                  </a:cubicBezTo>
                  <a:lnTo>
                    <a:pt x="0" y="20667"/>
                  </a:lnTo>
                  <a:cubicBezTo>
                    <a:pt x="0" y="9253"/>
                    <a:pt x="9253" y="0"/>
                    <a:pt x="20667" y="0"/>
                  </a:cubicBezTo>
                  <a:close/>
                </a:path>
              </a:pathLst>
            </a:custGeom>
            <a:solidFill>
              <a:srgbClr val="00C267"/>
            </a:solidFill>
          </p:spPr>
        </p:sp>
        <p:sp>
          <p:nvSpPr>
            <p:cNvPr name="TextBox 27" id="27"/>
            <p:cNvSpPr txBox="true"/>
            <p:nvPr/>
          </p:nvSpPr>
          <p:spPr>
            <a:xfrm>
              <a:off x="0" y="-38100"/>
              <a:ext cx="594212" cy="79434"/>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28" id="28"/>
          <p:cNvGrpSpPr/>
          <p:nvPr/>
        </p:nvGrpSpPr>
        <p:grpSpPr>
          <a:xfrm rot="0">
            <a:off x="7982656" y="8198634"/>
            <a:ext cx="2256148" cy="156938"/>
            <a:chOff x="0" y="0"/>
            <a:chExt cx="594212" cy="41334"/>
          </a:xfrm>
        </p:grpSpPr>
        <p:sp>
          <p:nvSpPr>
            <p:cNvPr name="Freeform 29" id="29"/>
            <p:cNvSpPr/>
            <p:nvPr/>
          </p:nvSpPr>
          <p:spPr>
            <a:xfrm flipH="false" flipV="false" rot="0">
              <a:off x="0" y="0"/>
              <a:ext cx="594212" cy="41334"/>
            </a:xfrm>
            <a:custGeom>
              <a:avLst/>
              <a:gdLst/>
              <a:ahLst/>
              <a:cxnLst/>
              <a:rect r="r" b="b" t="t" l="l"/>
              <a:pathLst>
                <a:path h="41334" w="594212">
                  <a:moveTo>
                    <a:pt x="20667" y="0"/>
                  </a:moveTo>
                  <a:lnTo>
                    <a:pt x="573545" y="0"/>
                  </a:lnTo>
                  <a:cubicBezTo>
                    <a:pt x="584959" y="0"/>
                    <a:pt x="594212" y="9253"/>
                    <a:pt x="594212" y="20667"/>
                  </a:cubicBezTo>
                  <a:lnTo>
                    <a:pt x="594212" y="20667"/>
                  </a:lnTo>
                  <a:cubicBezTo>
                    <a:pt x="594212" y="32081"/>
                    <a:pt x="584959" y="41334"/>
                    <a:pt x="573545" y="41334"/>
                  </a:cubicBezTo>
                  <a:lnTo>
                    <a:pt x="20667" y="41334"/>
                  </a:lnTo>
                  <a:cubicBezTo>
                    <a:pt x="9253" y="41334"/>
                    <a:pt x="0" y="32081"/>
                    <a:pt x="0" y="20667"/>
                  </a:cubicBezTo>
                  <a:lnTo>
                    <a:pt x="0" y="20667"/>
                  </a:lnTo>
                  <a:cubicBezTo>
                    <a:pt x="0" y="9253"/>
                    <a:pt x="9253" y="0"/>
                    <a:pt x="20667" y="0"/>
                  </a:cubicBezTo>
                  <a:close/>
                </a:path>
              </a:pathLst>
            </a:custGeom>
            <a:solidFill>
              <a:srgbClr val="007B80"/>
            </a:solidFill>
          </p:spPr>
        </p:sp>
        <p:sp>
          <p:nvSpPr>
            <p:cNvPr name="TextBox 30" id="30"/>
            <p:cNvSpPr txBox="true"/>
            <p:nvPr/>
          </p:nvSpPr>
          <p:spPr>
            <a:xfrm>
              <a:off x="0" y="-38100"/>
              <a:ext cx="594212" cy="79434"/>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31" id="31"/>
          <p:cNvGrpSpPr/>
          <p:nvPr/>
        </p:nvGrpSpPr>
        <p:grpSpPr>
          <a:xfrm rot="0">
            <a:off x="11059539" y="8198634"/>
            <a:ext cx="2256148" cy="156938"/>
            <a:chOff x="0" y="0"/>
            <a:chExt cx="594212" cy="41334"/>
          </a:xfrm>
        </p:grpSpPr>
        <p:sp>
          <p:nvSpPr>
            <p:cNvPr name="Freeform 32" id="32"/>
            <p:cNvSpPr/>
            <p:nvPr/>
          </p:nvSpPr>
          <p:spPr>
            <a:xfrm flipH="false" flipV="false" rot="0">
              <a:off x="0" y="0"/>
              <a:ext cx="594212" cy="41334"/>
            </a:xfrm>
            <a:custGeom>
              <a:avLst/>
              <a:gdLst/>
              <a:ahLst/>
              <a:cxnLst/>
              <a:rect r="r" b="b" t="t" l="l"/>
              <a:pathLst>
                <a:path h="41334" w="594212">
                  <a:moveTo>
                    <a:pt x="20667" y="0"/>
                  </a:moveTo>
                  <a:lnTo>
                    <a:pt x="573545" y="0"/>
                  </a:lnTo>
                  <a:cubicBezTo>
                    <a:pt x="584959" y="0"/>
                    <a:pt x="594212" y="9253"/>
                    <a:pt x="594212" y="20667"/>
                  </a:cubicBezTo>
                  <a:lnTo>
                    <a:pt x="594212" y="20667"/>
                  </a:lnTo>
                  <a:cubicBezTo>
                    <a:pt x="594212" y="32081"/>
                    <a:pt x="584959" y="41334"/>
                    <a:pt x="573545" y="41334"/>
                  </a:cubicBezTo>
                  <a:lnTo>
                    <a:pt x="20667" y="41334"/>
                  </a:lnTo>
                  <a:cubicBezTo>
                    <a:pt x="9253" y="41334"/>
                    <a:pt x="0" y="32081"/>
                    <a:pt x="0" y="20667"/>
                  </a:cubicBezTo>
                  <a:lnTo>
                    <a:pt x="0" y="20667"/>
                  </a:lnTo>
                  <a:cubicBezTo>
                    <a:pt x="0" y="9253"/>
                    <a:pt x="9253" y="0"/>
                    <a:pt x="20667" y="0"/>
                  </a:cubicBezTo>
                  <a:close/>
                </a:path>
              </a:pathLst>
            </a:custGeom>
            <a:solidFill>
              <a:srgbClr val="004259"/>
            </a:solidFill>
          </p:spPr>
        </p:sp>
        <p:sp>
          <p:nvSpPr>
            <p:cNvPr name="TextBox 33" id="33"/>
            <p:cNvSpPr txBox="true"/>
            <p:nvPr/>
          </p:nvSpPr>
          <p:spPr>
            <a:xfrm>
              <a:off x="0" y="-38100"/>
              <a:ext cx="594212" cy="79434"/>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34" id="34"/>
          <p:cNvGrpSpPr/>
          <p:nvPr/>
        </p:nvGrpSpPr>
        <p:grpSpPr>
          <a:xfrm rot="0">
            <a:off x="14136422" y="8198634"/>
            <a:ext cx="2256148" cy="156938"/>
            <a:chOff x="0" y="0"/>
            <a:chExt cx="594212" cy="41334"/>
          </a:xfrm>
        </p:grpSpPr>
        <p:sp>
          <p:nvSpPr>
            <p:cNvPr name="Freeform 35" id="35"/>
            <p:cNvSpPr/>
            <p:nvPr/>
          </p:nvSpPr>
          <p:spPr>
            <a:xfrm flipH="false" flipV="false" rot="0">
              <a:off x="0" y="0"/>
              <a:ext cx="594212" cy="41334"/>
            </a:xfrm>
            <a:custGeom>
              <a:avLst/>
              <a:gdLst/>
              <a:ahLst/>
              <a:cxnLst/>
              <a:rect r="r" b="b" t="t" l="l"/>
              <a:pathLst>
                <a:path h="41334" w="594212">
                  <a:moveTo>
                    <a:pt x="20667" y="0"/>
                  </a:moveTo>
                  <a:lnTo>
                    <a:pt x="573545" y="0"/>
                  </a:lnTo>
                  <a:cubicBezTo>
                    <a:pt x="584959" y="0"/>
                    <a:pt x="594212" y="9253"/>
                    <a:pt x="594212" y="20667"/>
                  </a:cubicBezTo>
                  <a:lnTo>
                    <a:pt x="594212" y="20667"/>
                  </a:lnTo>
                  <a:cubicBezTo>
                    <a:pt x="594212" y="32081"/>
                    <a:pt x="584959" y="41334"/>
                    <a:pt x="573545" y="41334"/>
                  </a:cubicBezTo>
                  <a:lnTo>
                    <a:pt x="20667" y="41334"/>
                  </a:lnTo>
                  <a:cubicBezTo>
                    <a:pt x="9253" y="41334"/>
                    <a:pt x="0" y="32081"/>
                    <a:pt x="0" y="20667"/>
                  </a:cubicBezTo>
                  <a:lnTo>
                    <a:pt x="0" y="20667"/>
                  </a:lnTo>
                  <a:cubicBezTo>
                    <a:pt x="0" y="9253"/>
                    <a:pt x="9253" y="0"/>
                    <a:pt x="20667" y="0"/>
                  </a:cubicBezTo>
                  <a:close/>
                </a:path>
              </a:pathLst>
            </a:custGeom>
            <a:solidFill>
              <a:srgbClr val="000038"/>
            </a:solidFill>
          </p:spPr>
        </p:sp>
        <p:sp>
          <p:nvSpPr>
            <p:cNvPr name="TextBox 36" id="36"/>
            <p:cNvSpPr txBox="true"/>
            <p:nvPr/>
          </p:nvSpPr>
          <p:spPr>
            <a:xfrm>
              <a:off x="0" y="-38100"/>
              <a:ext cx="594212" cy="79434"/>
            </a:xfrm>
            <a:prstGeom prst="rect">
              <a:avLst/>
            </a:prstGeom>
          </p:spPr>
          <p:txBody>
            <a:bodyPr anchor="ctr" rtlCol="false" tIns="50800" lIns="50800" bIns="50800" rIns="50800"/>
            <a:lstStyle/>
            <a:p>
              <a:pPr algn="ctr" marL="0" indent="0" lvl="0">
                <a:lnSpc>
                  <a:spcPts val="2799"/>
                </a:lnSpc>
                <a:spcBef>
                  <a:spcPct val="0"/>
                </a:spcBef>
              </a:pPr>
            </a:p>
          </p:txBody>
        </p:sp>
      </p:grpSp>
      <p:sp>
        <p:nvSpPr>
          <p:cNvPr name="Freeform 37" id="37"/>
          <p:cNvSpPr/>
          <p:nvPr/>
        </p:nvSpPr>
        <p:spPr>
          <a:xfrm flipH="false" flipV="false" rot="0">
            <a:off x="2650199" y="4928040"/>
            <a:ext cx="613528" cy="590102"/>
          </a:xfrm>
          <a:custGeom>
            <a:avLst/>
            <a:gdLst/>
            <a:ahLst/>
            <a:cxnLst/>
            <a:rect r="r" b="b" t="t" l="l"/>
            <a:pathLst>
              <a:path h="590102" w="613528">
                <a:moveTo>
                  <a:pt x="0" y="0"/>
                </a:moveTo>
                <a:lnTo>
                  <a:pt x="613527" y="0"/>
                </a:lnTo>
                <a:lnTo>
                  <a:pt x="613527" y="590102"/>
                </a:lnTo>
                <a:lnTo>
                  <a:pt x="0" y="5901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8" id="38"/>
          <p:cNvSpPr/>
          <p:nvPr/>
        </p:nvSpPr>
        <p:spPr>
          <a:xfrm flipH="false" flipV="false" rot="0">
            <a:off x="5777920" y="4928040"/>
            <a:ext cx="512852" cy="590102"/>
          </a:xfrm>
          <a:custGeom>
            <a:avLst/>
            <a:gdLst/>
            <a:ahLst/>
            <a:cxnLst/>
            <a:rect r="r" b="b" t="t" l="l"/>
            <a:pathLst>
              <a:path h="590102" w="512852">
                <a:moveTo>
                  <a:pt x="0" y="0"/>
                </a:moveTo>
                <a:lnTo>
                  <a:pt x="512853" y="0"/>
                </a:lnTo>
                <a:lnTo>
                  <a:pt x="512853" y="590102"/>
                </a:lnTo>
                <a:lnTo>
                  <a:pt x="0" y="59010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9" id="39"/>
          <p:cNvSpPr/>
          <p:nvPr/>
        </p:nvSpPr>
        <p:spPr>
          <a:xfrm flipH="false" flipV="false" rot="0">
            <a:off x="8782566" y="4928040"/>
            <a:ext cx="658329" cy="590102"/>
          </a:xfrm>
          <a:custGeom>
            <a:avLst/>
            <a:gdLst/>
            <a:ahLst/>
            <a:cxnLst/>
            <a:rect r="r" b="b" t="t" l="l"/>
            <a:pathLst>
              <a:path h="590102" w="658329">
                <a:moveTo>
                  <a:pt x="0" y="0"/>
                </a:moveTo>
                <a:lnTo>
                  <a:pt x="658329" y="0"/>
                </a:lnTo>
                <a:lnTo>
                  <a:pt x="658329" y="590102"/>
                </a:lnTo>
                <a:lnTo>
                  <a:pt x="0" y="59010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0" id="40"/>
          <p:cNvSpPr/>
          <p:nvPr/>
        </p:nvSpPr>
        <p:spPr>
          <a:xfrm flipH="false" flipV="false" rot="0">
            <a:off x="11920779" y="4954756"/>
            <a:ext cx="536670" cy="536670"/>
          </a:xfrm>
          <a:custGeom>
            <a:avLst/>
            <a:gdLst/>
            <a:ahLst/>
            <a:cxnLst/>
            <a:rect r="r" b="b" t="t" l="l"/>
            <a:pathLst>
              <a:path h="536670" w="536670">
                <a:moveTo>
                  <a:pt x="0" y="0"/>
                </a:moveTo>
                <a:lnTo>
                  <a:pt x="536670" y="0"/>
                </a:lnTo>
                <a:lnTo>
                  <a:pt x="536670" y="536670"/>
                </a:lnTo>
                <a:lnTo>
                  <a:pt x="0" y="53667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41" id="41"/>
          <p:cNvSpPr txBox="true"/>
          <p:nvPr/>
        </p:nvSpPr>
        <p:spPr>
          <a:xfrm rot="0">
            <a:off x="3324443" y="885825"/>
            <a:ext cx="11639114" cy="613429"/>
          </a:xfrm>
          <a:prstGeom prst="rect">
            <a:avLst/>
          </a:prstGeom>
        </p:spPr>
        <p:txBody>
          <a:bodyPr anchor="t" rtlCol="false" tIns="0" lIns="0" bIns="0" rIns="0">
            <a:spAutoFit/>
          </a:bodyPr>
          <a:lstStyle/>
          <a:p>
            <a:pPr algn="ctr">
              <a:lnSpc>
                <a:spcPts val="5040"/>
              </a:lnSpc>
            </a:pPr>
            <a:r>
              <a:rPr lang="en-US" b="true" sz="3600">
                <a:solidFill>
                  <a:srgbClr val="000000"/>
                </a:solidFill>
                <a:latin typeface="TT Hoves Bold"/>
                <a:ea typeface="TT Hoves Bold"/>
                <a:cs typeface="TT Hoves Bold"/>
                <a:sym typeface="TT Hoves Bold"/>
              </a:rPr>
              <a:t>Workflow Steps Guide</a:t>
            </a:r>
          </a:p>
        </p:txBody>
      </p:sp>
      <p:sp>
        <p:nvSpPr>
          <p:cNvPr name="TextBox 42" id="42"/>
          <p:cNvSpPr txBox="true"/>
          <p:nvPr/>
        </p:nvSpPr>
        <p:spPr>
          <a:xfrm rot="0">
            <a:off x="3324443" y="1706418"/>
            <a:ext cx="11639114" cy="323215"/>
          </a:xfrm>
          <a:prstGeom prst="rect">
            <a:avLst/>
          </a:prstGeom>
        </p:spPr>
        <p:txBody>
          <a:bodyPr anchor="t" rtlCol="false" tIns="0" lIns="0" bIns="0" rIns="0">
            <a:spAutoFit/>
          </a:bodyPr>
          <a:lstStyle/>
          <a:p>
            <a:pPr algn="ctr">
              <a:lnSpc>
                <a:spcPts val="2660"/>
              </a:lnSpc>
            </a:pPr>
            <a:r>
              <a:rPr lang="en-US" sz="1900">
                <a:solidFill>
                  <a:srgbClr val="000000"/>
                </a:solidFill>
                <a:latin typeface="TT Hoves"/>
                <a:ea typeface="TT Hoves"/>
                <a:cs typeface="TT Hoves"/>
                <a:sym typeface="TT Hoves"/>
              </a:rPr>
              <a:t>Five steps ensure structured yet flexible project flow</a:t>
            </a:r>
          </a:p>
        </p:txBody>
      </p:sp>
      <p:sp>
        <p:nvSpPr>
          <p:cNvPr name="TextBox 43" id="43"/>
          <p:cNvSpPr txBox="true"/>
          <p:nvPr/>
        </p:nvSpPr>
        <p:spPr>
          <a:xfrm rot="0">
            <a:off x="1909334" y="5867400"/>
            <a:ext cx="2095258" cy="1083459"/>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Clarify the project's overall purpose and establish specific, measurable targets.</a:t>
            </a:r>
          </a:p>
        </p:txBody>
      </p:sp>
      <p:sp>
        <p:nvSpPr>
          <p:cNvPr name="TextBox 44" id="44"/>
          <p:cNvSpPr txBox="true"/>
          <p:nvPr/>
        </p:nvSpPr>
        <p:spPr>
          <a:xfrm rot="0">
            <a:off x="4986717" y="5867400"/>
            <a:ext cx="2095258" cy="1083459"/>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Organize short phases with clearly defined, achievable, and realistic objectives.</a:t>
            </a:r>
          </a:p>
        </p:txBody>
      </p:sp>
      <p:sp>
        <p:nvSpPr>
          <p:cNvPr name="TextBox 45" id="45"/>
          <p:cNvSpPr txBox="true"/>
          <p:nvPr/>
        </p:nvSpPr>
        <p:spPr>
          <a:xfrm rot="0">
            <a:off x="1721613" y="3701464"/>
            <a:ext cx="2106962" cy="254672"/>
          </a:xfrm>
          <a:prstGeom prst="rect">
            <a:avLst/>
          </a:prstGeom>
        </p:spPr>
        <p:txBody>
          <a:bodyPr anchor="t" rtlCol="false" tIns="0" lIns="0" bIns="0" rIns="0">
            <a:spAutoFit/>
          </a:bodyPr>
          <a:lstStyle/>
          <a:p>
            <a:pPr algn="ctr">
              <a:lnSpc>
                <a:spcPts val="2240"/>
              </a:lnSpc>
            </a:pPr>
            <a:r>
              <a:rPr lang="en-US" b="true" sz="1600">
                <a:solidFill>
                  <a:srgbClr val="000000"/>
                </a:solidFill>
                <a:latin typeface="TT Hoves Bold"/>
                <a:ea typeface="TT Hoves Bold"/>
                <a:cs typeface="TT Hoves Bold"/>
                <a:sym typeface="TT Hoves Bold"/>
              </a:rPr>
              <a:t>Set Goals</a:t>
            </a:r>
          </a:p>
        </p:txBody>
      </p:sp>
      <p:sp>
        <p:nvSpPr>
          <p:cNvPr name="TextBox 46" id="46"/>
          <p:cNvSpPr txBox="true"/>
          <p:nvPr/>
        </p:nvSpPr>
        <p:spPr>
          <a:xfrm rot="0">
            <a:off x="4772453" y="3701464"/>
            <a:ext cx="2106962" cy="254672"/>
          </a:xfrm>
          <a:prstGeom prst="rect">
            <a:avLst/>
          </a:prstGeom>
        </p:spPr>
        <p:txBody>
          <a:bodyPr anchor="t" rtlCol="false" tIns="0" lIns="0" bIns="0" rIns="0">
            <a:spAutoFit/>
          </a:bodyPr>
          <a:lstStyle/>
          <a:p>
            <a:pPr algn="ctr">
              <a:lnSpc>
                <a:spcPts val="2240"/>
              </a:lnSpc>
            </a:pPr>
            <a:r>
              <a:rPr lang="en-US" b="true" sz="1600">
                <a:solidFill>
                  <a:srgbClr val="000000"/>
                </a:solidFill>
                <a:latin typeface="TT Hoves Bold"/>
                <a:ea typeface="TT Hoves Bold"/>
                <a:cs typeface="TT Hoves Bold"/>
                <a:sym typeface="TT Hoves Bold"/>
              </a:rPr>
              <a:t>Plan Iteration</a:t>
            </a:r>
          </a:p>
        </p:txBody>
      </p:sp>
      <p:sp>
        <p:nvSpPr>
          <p:cNvPr name="TextBox 47" id="47"/>
          <p:cNvSpPr txBox="true"/>
          <p:nvPr/>
        </p:nvSpPr>
        <p:spPr>
          <a:xfrm rot="0">
            <a:off x="7823293" y="3701464"/>
            <a:ext cx="2106962" cy="254672"/>
          </a:xfrm>
          <a:prstGeom prst="rect">
            <a:avLst/>
          </a:prstGeom>
        </p:spPr>
        <p:txBody>
          <a:bodyPr anchor="t" rtlCol="false" tIns="0" lIns="0" bIns="0" rIns="0">
            <a:spAutoFit/>
          </a:bodyPr>
          <a:lstStyle/>
          <a:p>
            <a:pPr algn="ctr">
              <a:lnSpc>
                <a:spcPts val="2240"/>
              </a:lnSpc>
            </a:pPr>
            <a:r>
              <a:rPr lang="en-US" b="true" sz="1600">
                <a:solidFill>
                  <a:srgbClr val="000000"/>
                </a:solidFill>
                <a:latin typeface="TT Hoves Bold"/>
                <a:ea typeface="TT Hoves Bold"/>
                <a:cs typeface="TT Hoves Bold"/>
                <a:sym typeface="TT Hoves Bold"/>
              </a:rPr>
              <a:t>Assign Tasks</a:t>
            </a:r>
          </a:p>
        </p:txBody>
      </p:sp>
      <p:sp>
        <p:nvSpPr>
          <p:cNvPr name="TextBox 48" id="48"/>
          <p:cNvSpPr txBox="true"/>
          <p:nvPr/>
        </p:nvSpPr>
        <p:spPr>
          <a:xfrm rot="0">
            <a:off x="10874133" y="3701464"/>
            <a:ext cx="2106962" cy="254672"/>
          </a:xfrm>
          <a:prstGeom prst="rect">
            <a:avLst/>
          </a:prstGeom>
        </p:spPr>
        <p:txBody>
          <a:bodyPr anchor="t" rtlCol="false" tIns="0" lIns="0" bIns="0" rIns="0">
            <a:spAutoFit/>
          </a:bodyPr>
          <a:lstStyle/>
          <a:p>
            <a:pPr algn="ctr">
              <a:lnSpc>
                <a:spcPts val="2240"/>
              </a:lnSpc>
            </a:pPr>
            <a:r>
              <a:rPr lang="en-US" b="true" sz="1600">
                <a:solidFill>
                  <a:srgbClr val="000000"/>
                </a:solidFill>
                <a:latin typeface="TT Hoves Bold"/>
                <a:ea typeface="TT Hoves Bold"/>
                <a:cs typeface="TT Hoves Bold"/>
                <a:sym typeface="TT Hoves Bold"/>
              </a:rPr>
              <a:t>Track Progress</a:t>
            </a:r>
          </a:p>
        </p:txBody>
      </p:sp>
      <p:sp>
        <p:nvSpPr>
          <p:cNvPr name="TextBox 49" id="49"/>
          <p:cNvSpPr txBox="true"/>
          <p:nvPr/>
        </p:nvSpPr>
        <p:spPr>
          <a:xfrm rot="0">
            <a:off x="13924972" y="3701464"/>
            <a:ext cx="2106962" cy="254672"/>
          </a:xfrm>
          <a:prstGeom prst="rect">
            <a:avLst/>
          </a:prstGeom>
        </p:spPr>
        <p:txBody>
          <a:bodyPr anchor="t" rtlCol="false" tIns="0" lIns="0" bIns="0" rIns="0">
            <a:spAutoFit/>
          </a:bodyPr>
          <a:lstStyle/>
          <a:p>
            <a:pPr algn="ctr">
              <a:lnSpc>
                <a:spcPts val="2240"/>
              </a:lnSpc>
            </a:pPr>
            <a:r>
              <a:rPr lang="en-US" b="true" sz="1600">
                <a:solidFill>
                  <a:srgbClr val="000000"/>
                </a:solidFill>
                <a:latin typeface="TT Hoves Bold"/>
                <a:ea typeface="TT Hoves Bold"/>
                <a:cs typeface="TT Hoves Bold"/>
                <a:sym typeface="TT Hoves Bold"/>
              </a:rPr>
              <a:t>Evaluate Results</a:t>
            </a:r>
          </a:p>
        </p:txBody>
      </p:sp>
      <p:sp>
        <p:nvSpPr>
          <p:cNvPr name="TextBox 50" id="50"/>
          <p:cNvSpPr txBox="true"/>
          <p:nvPr/>
        </p:nvSpPr>
        <p:spPr>
          <a:xfrm rot="0">
            <a:off x="8063100" y="5867400"/>
            <a:ext cx="2095258" cy="1083459"/>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Dist</a:t>
            </a:r>
            <a:r>
              <a:rPr lang="en-US" sz="1600">
                <a:solidFill>
                  <a:srgbClr val="000000"/>
                </a:solidFill>
                <a:latin typeface="TT Hoves"/>
                <a:ea typeface="TT Hoves"/>
                <a:cs typeface="TT Hoves"/>
                <a:sym typeface="TT Hoves"/>
              </a:rPr>
              <a:t>ribute responsibilities based on individual expertise and specific roles.</a:t>
            </a:r>
          </a:p>
        </p:txBody>
      </p:sp>
      <p:sp>
        <p:nvSpPr>
          <p:cNvPr name="TextBox 51" id="51"/>
          <p:cNvSpPr txBox="true"/>
          <p:nvPr/>
        </p:nvSpPr>
        <p:spPr>
          <a:xfrm rot="0">
            <a:off x="11139984" y="5867400"/>
            <a:ext cx="2095258" cy="1083459"/>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Mon</a:t>
            </a:r>
            <a:r>
              <a:rPr lang="en-US" sz="1600">
                <a:solidFill>
                  <a:srgbClr val="000000"/>
                </a:solidFill>
                <a:latin typeface="TT Hoves"/>
                <a:ea typeface="TT Hoves"/>
                <a:cs typeface="TT Hoves"/>
                <a:sym typeface="TT Hoves"/>
              </a:rPr>
              <a:t>itor ongoing activities and swiftly resolve any emerging blockers.</a:t>
            </a:r>
          </a:p>
        </p:txBody>
      </p:sp>
      <p:sp>
        <p:nvSpPr>
          <p:cNvPr name="TextBox 52" id="52"/>
          <p:cNvSpPr txBox="true"/>
          <p:nvPr/>
        </p:nvSpPr>
        <p:spPr>
          <a:xfrm rot="0">
            <a:off x="14216867" y="5867400"/>
            <a:ext cx="2095258" cy="1083459"/>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Rev</a:t>
            </a:r>
            <a:r>
              <a:rPr lang="en-US" sz="1600">
                <a:solidFill>
                  <a:srgbClr val="000000"/>
                </a:solidFill>
                <a:latin typeface="TT Hoves"/>
                <a:ea typeface="TT Hoves"/>
                <a:cs typeface="TT Hoves"/>
                <a:sym typeface="TT Hoves"/>
              </a:rPr>
              <a:t>iew the outcomes regularly to accurately measure progress and ensure alignment.</a:t>
            </a:r>
          </a:p>
        </p:txBody>
      </p:sp>
      <p:sp>
        <p:nvSpPr>
          <p:cNvPr name="TextBox 53" id="53"/>
          <p:cNvSpPr txBox="true"/>
          <p:nvPr/>
        </p:nvSpPr>
        <p:spPr>
          <a:xfrm rot="0">
            <a:off x="2389675" y="7168121"/>
            <a:ext cx="1134575" cy="518554"/>
          </a:xfrm>
          <a:prstGeom prst="rect">
            <a:avLst/>
          </a:prstGeom>
        </p:spPr>
        <p:txBody>
          <a:bodyPr anchor="t" rtlCol="false" tIns="0" lIns="0" bIns="0" rIns="0">
            <a:spAutoFit/>
          </a:bodyPr>
          <a:lstStyle/>
          <a:p>
            <a:pPr algn="ctr">
              <a:lnSpc>
                <a:spcPts val="4263"/>
              </a:lnSpc>
            </a:pPr>
            <a:r>
              <a:rPr lang="en-US" b="true" sz="3045">
                <a:solidFill>
                  <a:srgbClr val="56E11B"/>
                </a:solidFill>
                <a:latin typeface="TT Hoves Bold"/>
                <a:ea typeface="TT Hoves Bold"/>
                <a:cs typeface="TT Hoves Bold"/>
                <a:sym typeface="TT Hoves Bold"/>
              </a:rPr>
              <a:t>01</a:t>
            </a:r>
          </a:p>
        </p:txBody>
      </p:sp>
      <p:sp>
        <p:nvSpPr>
          <p:cNvPr name="TextBox 54" id="54"/>
          <p:cNvSpPr txBox="true"/>
          <p:nvPr/>
        </p:nvSpPr>
        <p:spPr>
          <a:xfrm rot="0">
            <a:off x="5467059" y="7168121"/>
            <a:ext cx="1134575" cy="518554"/>
          </a:xfrm>
          <a:prstGeom prst="rect">
            <a:avLst/>
          </a:prstGeom>
        </p:spPr>
        <p:txBody>
          <a:bodyPr anchor="t" rtlCol="false" tIns="0" lIns="0" bIns="0" rIns="0">
            <a:spAutoFit/>
          </a:bodyPr>
          <a:lstStyle/>
          <a:p>
            <a:pPr algn="ctr">
              <a:lnSpc>
                <a:spcPts val="4263"/>
              </a:lnSpc>
            </a:pPr>
            <a:r>
              <a:rPr lang="en-US" b="true" sz="3045">
                <a:solidFill>
                  <a:srgbClr val="3BA80D"/>
                </a:solidFill>
                <a:latin typeface="TT Hoves Bold"/>
                <a:ea typeface="TT Hoves Bold"/>
                <a:cs typeface="TT Hoves Bold"/>
                <a:sym typeface="TT Hoves Bold"/>
              </a:rPr>
              <a:t>02</a:t>
            </a:r>
          </a:p>
        </p:txBody>
      </p:sp>
      <p:sp>
        <p:nvSpPr>
          <p:cNvPr name="TextBox 55" id="55"/>
          <p:cNvSpPr txBox="true"/>
          <p:nvPr/>
        </p:nvSpPr>
        <p:spPr>
          <a:xfrm rot="0">
            <a:off x="11621827" y="7168121"/>
            <a:ext cx="1134575" cy="518554"/>
          </a:xfrm>
          <a:prstGeom prst="rect">
            <a:avLst/>
          </a:prstGeom>
        </p:spPr>
        <p:txBody>
          <a:bodyPr anchor="t" rtlCol="false" tIns="0" lIns="0" bIns="0" rIns="0">
            <a:spAutoFit/>
          </a:bodyPr>
          <a:lstStyle/>
          <a:p>
            <a:pPr algn="ctr">
              <a:lnSpc>
                <a:spcPts val="4263"/>
              </a:lnSpc>
            </a:pPr>
            <a:r>
              <a:rPr lang="en-US" b="true" sz="3045">
                <a:solidFill>
                  <a:srgbClr val="354465"/>
                </a:solidFill>
                <a:latin typeface="TT Hoves Bold"/>
                <a:ea typeface="TT Hoves Bold"/>
                <a:cs typeface="TT Hoves Bold"/>
                <a:sym typeface="TT Hoves Bold"/>
              </a:rPr>
              <a:t>04</a:t>
            </a:r>
          </a:p>
        </p:txBody>
      </p:sp>
      <p:sp>
        <p:nvSpPr>
          <p:cNvPr name="TextBox 56" id="56"/>
          <p:cNvSpPr txBox="true"/>
          <p:nvPr/>
        </p:nvSpPr>
        <p:spPr>
          <a:xfrm rot="0">
            <a:off x="8544443" y="7168121"/>
            <a:ext cx="1134575" cy="518554"/>
          </a:xfrm>
          <a:prstGeom prst="rect">
            <a:avLst/>
          </a:prstGeom>
        </p:spPr>
        <p:txBody>
          <a:bodyPr anchor="t" rtlCol="false" tIns="0" lIns="0" bIns="0" rIns="0">
            <a:spAutoFit/>
          </a:bodyPr>
          <a:lstStyle/>
          <a:p>
            <a:pPr algn="ctr">
              <a:lnSpc>
                <a:spcPts val="4263"/>
              </a:lnSpc>
            </a:pPr>
            <a:r>
              <a:rPr lang="en-US" b="true" sz="3045">
                <a:solidFill>
                  <a:srgbClr val="007B80"/>
                </a:solidFill>
                <a:latin typeface="TT Hoves Bold"/>
                <a:ea typeface="TT Hoves Bold"/>
                <a:cs typeface="TT Hoves Bold"/>
                <a:sym typeface="TT Hoves Bold"/>
              </a:rPr>
              <a:t>03</a:t>
            </a:r>
          </a:p>
        </p:txBody>
      </p:sp>
      <p:sp>
        <p:nvSpPr>
          <p:cNvPr name="TextBox 57" id="57"/>
          <p:cNvSpPr txBox="true"/>
          <p:nvPr/>
        </p:nvSpPr>
        <p:spPr>
          <a:xfrm rot="0">
            <a:off x="14699211" y="7168121"/>
            <a:ext cx="1134575" cy="518554"/>
          </a:xfrm>
          <a:prstGeom prst="rect">
            <a:avLst/>
          </a:prstGeom>
        </p:spPr>
        <p:txBody>
          <a:bodyPr anchor="t" rtlCol="false" tIns="0" lIns="0" bIns="0" rIns="0">
            <a:spAutoFit/>
          </a:bodyPr>
          <a:lstStyle/>
          <a:p>
            <a:pPr algn="ctr">
              <a:lnSpc>
                <a:spcPts val="4263"/>
              </a:lnSpc>
            </a:pPr>
            <a:r>
              <a:rPr lang="en-US" b="true" sz="3045">
                <a:solidFill>
                  <a:srgbClr val="000038"/>
                </a:solidFill>
                <a:latin typeface="TT Hoves Bold"/>
                <a:ea typeface="TT Hoves Bold"/>
                <a:cs typeface="TT Hoves Bold"/>
                <a:sym typeface="TT Hoves Bold"/>
              </a:rPr>
              <a:t>05</a:t>
            </a:r>
          </a:p>
        </p:txBody>
      </p:sp>
      <p:sp>
        <p:nvSpPr>
          <p:cNvPr name="Freeform 58" id="58"/>
          <p:cNvSpPr/>
          <p:nvPr/>
        </p:nvSpPr>
        <p:spPr>
          <a:xfrm flipH="false" flipV="false" rot="0">
            <a:off x="14997733" y="4928040"/>
            <a:ext cx="537529" cy="590102"/>
          </a:xfrm>
          <a:custGeom>
            <a:avLst/>
            <a:gdLst/>
            <a:ahLst/>
            <a:cxnLst/>
            <a:rect r="r" b="b" t="t" l="l"/>
            <a:pathLst>
              <a:path h="590102" w="537529">
                <a:moveTo>
                  <a:pt x="0" y="0"/>
                </a:moveTo>
                <a:lnTo>
                  <a:pt x="537530" y="0"/>
                </a:lnTo>
                <a:lnTo>
                  <a:pt x="537530" y="590102"/>
                </a:lnTo>
                <a:lnTo>
                  <a:pt x="0" y="59010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sp>
        <p:nvSpPr>
          <p:cNvPr name="Freeform 2" id="2"/>
          <p:cNvSpPr/>
          <p:nvPr/>
        </p:nvSpPr>
        <p:spPr>
          <a:xfrm flipH="false" flipV="false" rot="0">
            <a:off x="1365969" y="3450709"/>
            <a:ext cx="12486777" cy="2359541"/>
          </a:xfrm>
          <a:custGeom>
            <a:avLst/>
            <a:gdLst/>
            <a:ahLst/>
            <a:cxnLst/>
            <a:rect r="r" b="b" t="t" l="l"/>
            <a:pathLst>
              <a:path h="2359541" w="12486777">
                <a:moveTo>
                  <a:pt x="0" y="0"/>
                </a:moveTo>
                <a:lnTo>
                  <a:pt x="12486777" y="0"/>
                </a:lnTo>
                <a:lnTo>
                  <a:pt x="12486777" y="2359541"/>
                </a:lnTo>
                <a:lnTo>
                  <a:pt x="0" y="23595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43246" y="3450709"/>
            <a:ext cx="3069285" cy="2359541"/>
          </a:xfrm>
          <a:custGeom>
            <a:avLst/>
            <a:gdLst/>
            <a:ahLst/>
            <a:cxnLst/>
            <a:rect r="r" b="b" t="t" l="l"/>
            <a:pathLst>
              <a:path h="2359541" w="3069285">
                <a:moveTo>
                  <a:pt x="0" y="0"/>
                </a:moveTo>
                <a:lnTo>
                  <a:pt x="3069285" y="0"/>
                </a:lnTo>
                <a:lnTo>
                  <a:pt x="3069285" y="2359541"/>
                </a:lnTo>
                <a:lnTo>
                  <a:pt x="0" y="2359541"/>
                </a:lnTo>
                <a:lnTo>
                  <a:pt x="0" y="0"/>
                </a:lnTo>
                <a:close/>
              </a:path>
            </a:pathLst>
          </a:custGeom>
          <a:blipFill>
            <a:blip r:embed="rId4">
              <a:extLst>
                <a:ext uri="{96DAC541-7B7A-43D3-8B79-37D633B846F1}">
                  <asvg:svgBlip xmlns:asvg="http://schemas.microsoft.com/office/drawing/2016/SVG/main" r:embed="rId5"/>
                </a:ext>
              </a:extLst>
            </a:blip>
            <a:stretch>
              <a:fillRect l="0" t="0" r="-306830" b="0"/>
            </a:stretch>
          </a:blipFill>
        </p:spPr>
      </p:sp>
      <p:sp>
        <p:nvSpPr>
          <p:cNvPr name="AutoShape 4" id="4"/>
          <p:cNvSpPr/>
          <p:nvPr/>
        </p:nvSpPr>
        <p:spPr>
          <a:xfrm>
            <a:off x="-433771" y="6420478"/>
            <a:ext cx="19155541" cy="0"/>
          </a:xfrm>
          <a:prstGeom prst="line">
            <a:avLst/>
          </a:prstGeom>
          <a:ln cap="flat" w="95250">
            <a:solidFill>
              <a:srgbClr val="DBE0E3"/>
            </a:solidFill>
            <a:prstDash val="solid"/>
            <a:headEnd type="none" len="sm" w="sm"/>
            <a:tailEnd type="none" len="sm" w="sm"/>
          </a:ln>
        </p:spPr>
      </p:sp>
      <p:grpSp>
        <p:nvGrpSpPr>
          <p:cNvPr name="Group 5" id="5"/>
          <p:cNvGrpSpPr/>
          <p:nvPr/>
        </p:nvGrpSpPr>
        <p:grpSpPr>
          <a:xfrm rot="0">
            <a:off x="2416972" y="6286500"/>
            <a:ext cx="267956" cy="2679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E11B"/>
            </a:solidFill>
          </p:spPr>
        </p:sp>
        <p:sp>
          <p:nvSpPr>
            <p:cNvPr name="TextBox 7" id="7"/>
            <p:cNvSpPr txBox="true"/>
            <p:nvPr/>
          </p:nvSpPr>
          <p:spPr>
            <a:xfrm>
              <a:off x="76200" y="57150"/>
              <a:ext cx="660400" cy="679450"/>
            </a:xfrm>
            <a:prstGeom prst="rect">
              <a:avLst/>
            </a:prstGeom>
          </p:spPr>
          <p:txBody>
            <a:bodyPr anchor="ctr" rtlCol="false" tIns="50800" lIns="50800" bIns="50800" rIns="50800"/>
            <a:lstStyle/>
            <a:p>
              <a:pPr algn="ctr">
                <a:lnSpc>
                  <a:spcPts val="2240"/>
                </a:lnSpc>
              </a:pPr>
            </a:p>
          </p:txBody>
        </p:sp>
      </p:grpSp>
      <p:grpSp>
        <p:nvGrpSpPr>
          <p:cNvPr name="Group 8" id="8"/>
          <p:cNvGrpSpPr/>
          <p:nvPr/>
        </p:nvGrpSpPr>
        <p:grpSpPr>
          <a:xfrm rot="0">
            <a:off x="5561961" y="6286500"/>
            <a:ext cx="267956" cy="2679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267"/>
            </a:solidFill>
          </p:spPr>
        </p:sp>
        <p:sp>
          <p:nvSpPr>
            <p:cNvPr name="TextBox 10" id="10"/>
            <p:cNvSpPr txBox="true"/>
            <p:nvPr/>
          </p:nvSpPr>
          <p:spPr>
            <a:xfrm>
              <a:off x="76200" y="57150"/>
              <a:ext cx="660400" cy="679450"/>
            </a:xfrm>
            <a:prstGeom prst="rect">
              <a:avLst/>
            </a:prstGeom>
          </p:spPr>
          <p:txBody>
            <a:bodyPr anchor="ctr" rtlCol="false" tIns="50800" lIns="50800" bIns="50800" rIns="50800"/>
            <a:lstStyle/>
            <a:p>
              <a:pPr algn="ctr">
                <a:lnSpc>
                  <a:spcPts val="2240"/>
                </a:lnSpc>
              </a:pPr>
            </a:p>
          </p:txBody>
        </p:sp>
      </p:grpSp>
      <p:grpSp>
        <p:nvGrpSpPr>
          <p:cNvPr name="Group 11" id="11"/>
          <p:cNvGrpSpPr/>
          <p:nvPr/>
        </p:nvGrpSpPr>
        <p:grpSpPr>
          <a:xfrm rot="0">
            <a:off x="8706950" y="6286500"/>
            <a:ext cx="267956" cy="26795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B80"/>
            </a:solidFill>
          </p:spPr>
        </p:sp>
        <p:sp>
          <p:nvSpPr>
            <p:cNvPr name="TextBox 13" id="13"/>
            <p:cNvSpPr txBox="true"/>
            <p:nvPr/>
          </p:nvSpPr>
          <p:spPr>
            <a:xfrm>
              <a:off x="76200" y="57150"/>
              <a:ext cx="660400" cy="679450"/>
            </a:xfrm>
            <a:prstGeom prst="rect">
              <a:avLst/>
            </a:prstGeom>
          </p:spPr>
          <p:txBody>
            <a:bodyPr anchor="ctr" rtlCol="false" tIns="50800" lIns="50800" bIns="50800" rIns="50800"/>
            <a:lstStyle/>
            <a:p>
              <a:pPr algn="ctr">
                <a:lnSpc>
                  <a:spcPts val="2240"/>
                </a:lnSpc>
              </a:pPr>
            </a:p>
          </p:txBody>
        </p:sp>
      </p:grpSp>
      <p:grpSp>
        <p:nvGrpSpPr>
          <p:cNvPr name="Group 14" id="14"/>
          <p:cNvGrpSpPr/>
          <p:nvPr/>
        </p:nvGrpSpPr>
        <p:grpSpPr>
          <a:xfrm rot="0">
            <a:off x="11851939" y="6286500"/>
            <a:ext cx="267956" cy="26795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D6F"/>
            </a:solidFill>
          </p:spPr>
        </p:sp>
        <p:sp>
          <p:nvSpPr>
            <p:cNvPr name="TextBox 16" id="16"/>
            <p:cNvSpPr txBox="true"/>
            <p:nvPr/>
          </p:nvSpPr>
          <p:spPr>
            <a:xfrm>
              <a:off x="76200" y="57150"/>
              <a:ext cx="660400" cy="679450"/>
            </a:xfrm>
            <a:prstGeom prst="rect">
              <a:avLst/>
            </a:prstGeom>
          </p:spPr>
          <p:txBody>
            <a:bodyPr anchor="ctr" rtlCol="false" tIns="50800" lIns="50800" bIns="50800" rIns="50800"/>
            <a:lstStyle/>
            <a:p>
              <a:pPr algn="ctr">
                <a:lnSpc>
                  <a:spcPts val="2240"/>
                </a:lnSpc>
              </a:pPr>
            </a:p>
          </p:txBody>
        </p:sp>
      </p:grpSp>
      <p:grpSp>
        <p:nvGrpSpPr>
          <p:cNvPr name="Group 17" id="17"/>
          <p:cNvGrpSpPr/>
          <p:nvPr/>
        </p:nvGrpSpPr>
        <p:grpSpPr>
          <a:xfrm rot="0">
            <a:off x="15044810" y="6286500"/>
            <a:ext cx="267956" cy="26795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38"/>
            </a:solidFill>
          </p:spPr>
        </p:sp>
        <p:sp>
          <p:nvSpPr>
            <p:cNvPr name="TextBox 19" id="19"/>
            <p:cNvSpPr txBox="true"/>
            <p:nvPr/>
          </p:nvSpPr>
          <p:spPr>
            <a:xfrm>
              <a:off x="76200" y="57150"/>
              <a:ext cx="660400" cy="679450"/>
            </a:xfrm>
            <a:prstGeom prst="rect">
              <a:avLst/>
            </a:prstGeom>
          </p:spPr>
          <p:txBody>
            <a:bodyPr anchor="ctr" rtlCol="false" tIns="50800" lIns="50800" bIns="50800" rIns="50800"/>
            <a:lstStyle/>
            <a:p>
              <a:pPr algn="ctr">
                <a:lnSpc>
                  <a:spcPts val="2240"/>
                </a:lnSpc>
              </a:pPr>
            </a:p>
          </p:txBody>
        </p:sp>
      </p:grpSp>
      <p:sp>
        <p:nvSpPr>
          <p:cNvPr name="Freeform 20" id="20"/>
          <p:cNvSpPr/>
          <p:nvPr/>
        </p:nvSpPr>
        <p:spPr>
          <a:xfrm flipH="false" flipV="false" rot="0">
            <a:off x="2196914" y="4088232"/>
            <a:ext cx="708073" cy="681038"/>
          </a:xfrm>
          <a:custGeom>
            <a:avLst/>
            <a:gdLst/>
            <a:ahLst/>
            <a:cxnLst/>
            <a:rect r="r" b="b" t="t" l="l"/>
            <a:pathLst>
              <a:path h="681038" w="708073">
                <a:moveTo>
                  <a:pt x="0" y="0"/>
                </a:moveTo>
                <a:lnTo>
                  <a:pt x="708073" y="0"/>
                </a:lnTo>
                <a:lnTo>
                  <a:pt x="708073" y="681038"/>
                </a:lnTo>
                <a:lnTo>
                  <a:pt x="0" y="6810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5424951" y="4075568"/>
            <a:ext cx="541976" cy="706366"/>
          </a:xfrm>
          <a:custGeom>
            <a:avLst/>
            <a:gdLst/>
            <a:ahLst/>
            <a:cxnLst/>
            <a:rect r="r" b="b" t="t" l="l"/>
            <a:pathLst>
              <a:path h="706366" w="541976">
                <a:moveTo>
                  <a:pt x="0" y="0"/>
                </a:moveTo>
                <a:lnTo>
                  <a:pt x="541976" y="0"/>
                </a:lnTo>
                <a:lnTo>
                  <a:pt x="541976" y="706366"/>
                </a:lnTo>
                <a:lnTo>
                  <a:pt x="0" y="7063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8465838" y="4053661"/>
            <a:ext cx="750181" cy="750181"/>
          </a:xfrm>
          <a:custGeom>
            <a:avLst/>
            <a:gdLst/>
            <a:ahLst/>
            <a:cxnLst/>
            <a:rect r="r" b="b" t="t" l="l"/>
            <a:pathLst>
              <a:path h="750181" w="750181">
                <a:moveTo>
                  <a:pt x="0" y="0"/>
                </a:moveTo>
                <a:lnTo>
                  <a:pt x="750180" y="0"/>
                </a:lnTo>
                <a:lnTo>
                  <a:pt x="750180" y="750180"/>
                </a:lnTo>
                <a:lnTo>
                  <a:pt x="0" y="7501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11675735" y="4088232"/>
            <a:ext cx="620364" cy="681038"/>
          </a:xfrm>
          <a:custGeom>
            <a:avLst/>
            <a:gdLst/>
            <a:ahLst/>
            <a:cxnLst/>
            <a:rect r="r" b="b" t="t" l="l"/>
            <a:pathLst>
              <a:path h="681038" w="620364">
                <a:moveTo>
                  <a:pt x="0" y="0"/>
                </a:moveTo>
                <a:lnTo>
                  <a:pt x="620364" y="0"/>
                </a:lnTo>
                <a:lnTo>
                  <a:pt x="620364" y="681038"/>
                </a:lnTo>
                <a:lnTo>
                  <a:pt x="0" y="68103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4" id="24"/>
          <p:cNvSpPr txBox="true"/>
          <p:nvPr/>
        </p:nvSpPr>
        <p:spPr>
          <a:xfrm rot="0">
            <a:off x="3324443" y="885825"/>
            <a:ext cx="11639114" cy="613429"/>
          </a:xfrm>
          <a:prstGeom prst="rect">
            <a:avLst/>
          </a:prstGeom>
        </p:spPr>
        <p:txBody>
          <a:bodyPr anchor="t" rtlCol="false" tIns="0" lIns="0" bIns="0" rIns="0">
            <a:spAutoFit/>
          </a:bodyPr>
          <a:lstStyle/>
          <a:p>
            <a:pPr algn="ctr">
              <a:lnSpc>
                <a:spcPts val="5040"/>
              </a:lnSpc>
            </a:pPr>
            <a:r>
              <a:rPr lang="en-US" b="true" sz="3600">
                <a:solidFill>
                  <a:srgbClr val="000000"/>
                </a:solidFill>
                <a:latin typeface="TT Hoves Bold"/>
                <a:ea typeface="TT Hoves Bold"/>
                <a:cs typeface="TT Hoves Bold"/>
                <a:sym typeface="TT Hoves Bold"/>
              </a:rPr>
              <a:t>Project Timeline Path</a:t>
            </a:r>
          </a:p>
        </p:txBody>
      </p:sp>
      <p:sp>
        <p:nvSpPr>
          <p:cNvPr name="TextBox 25" id="25"/>
          <p:cNvSpPr txBox="true"/>
          <p:nvPr/>
        </p:nvSpPr>
        <p:spPr>
          <a:xfrm rot="0">
            <a:off x="3324443" y="1706418"/>
            <a:ext cx="11639114" cy="323215"/>
          </a:xfrm>
          <a:prstGeom prst="rect">
            <a:avLst/>
          </a:prstGeom>
        </p:spPr>
        <p:txBody>
          <a:bodyPr anchor="t" rtlCol="false" tIns="0" lIns="0" bIns="0" rIns="0">
            <a:spAutoFit/>
          </a:bodyPr>
          <a:lstStyle/>
          <a:p>
            <a:pPr algn="ctr">
              <a:lnSpc>
                <a:spcPts val="2660"/>
              </a:lnSpc>
            </a:pPr>
            <a:r>
              <a:rPr lang="en-US" sz="1900">
                <a:solidFill>
                  <a:srgbClr val="000000"/>
                </a:solidFill>
                <a:latin typeface="TT Hoves"/>
                <a:ea typeface="TT Hoves"/>
                <a:cs typeface="TT Hoves"/>
                <a:sym typeface="TT Hoves"/>
              </a:rPr>
              <a:t>Five sequential phases mark project progress milestones</a:t>
            </a:r>
          </a:p>
        </p:txBody>
      </p:sp>
      <p:sp>
        <p:nvSpPr>
          <p:cNvPr name="TextBox 26" id="26"/>
          <p:cNvSpPr txBox="true"/>
          <p:nvPr/>
        </p:nvSpPr>
        <p:spPr>
          <a:xfrm rot="0">
            <a:off x="1365969" y="6840622"/>
            <a:ext cx="2369964" cy="339744"/>
          </a:xfrm>
          <a:prstGeom prst="rect">
            <a:avLst/>
          </a:prstGeom>
        </p:spPr>
        <p:txBody>
          <a:bodyPr anchor="t" rtlCol="false" tIns="0" lIns="0" bIns="0" rIns="0">
            <a:spAutoFit/>
          </a:bodyPr>
          <a:lstStyle/>
          <a:p>
            <a:pPr algn="ctr">
              <a:lnSpc>
                <a:spcPts val="2799"/>
              </a:lnSpc>
              <a:spcBef>
                <a:spcPct val="0"/>
              </a:spcBef>
            </a:pPr>
            <a:r>
              <a:rPr lang="en-US" b="true" sz="1999">
                <a:solidFill>
                  <a:srgbClr val="000000"/>
                </a:solidFill>
                <a:latin typeface="TT Hoves Bold"/>
                <a:ea typeface="TT Hoves Bold"/>
                <a:cs typeface="TT Hoves Bold"/>
                <a:sym typeface="TT Hoves Bold"/>
              </a:rPr>
              <a:t>Define Vision</a:t>
            </a:r>
          </a:p>
        </p:txBody>
      </p:sp>
      <p:sp>
        <p:nvSpPr>
          <p:cNvPr name="TextBox 27" id="27"/>
          <p:cNvSpPr txBox="true"/>
          <p:nvPr/>
        </p:nvSpPr>
        <p:spPr>
          <a:xfrm rot="0">
            <a:off x="1365969" y="5174578"/>
            <a:ext cx="2369964" cy="254672"/>
          </a:xfrm>
          <a:prstGeom prst="rect">
            <a:avLst/>
          </a:prstGeom>
        </p:spPr>
        <p:txBody>
          <a:bodyPr anchor="t" rtlCol="false" tIns="0" lIns="0" bIns="0" rIns="0">
            <a:spAutoFit/>
          </a:bodyPr>
          <a:lstStyle/>
          <a:p>
            <a:pPr algn="ctr">
              <a:lnSpc>
                <a:spcPts val="2240"/>
              </a:lnSpc>
              <a:spcBef>
                <a:spcPct val="0"/>
              </a:spcBef>
            </a:pPr>
            <a:r>
              <a:rPr lang="en-US" b="true" sz="1600">
                <a:solidFill>
                  <a:srgbClr val="FFFFFF"/>
                </a:solidFill>
                <a:latin typeface="TT Hoves Bold"/>
                <a:ea typeface="TT Hoves Bold"/>
                <a:cs typeface="TT Hoves Bold"/>
                <a:sym typeface="TT Hoves Bold"/>
              </a:rPr>
              <a:t>Phase 1</a:t>
            </a:r>
          </a:p>
        </p:txBody>
      </p:sp>
      <p:sp>
        <p:nvSpPr>
          <p:cNvPr name="TextBox 28" id="28"/>
          <p:cNvSpPr txBox="true"/>
          <p:nvPr/>
        </p:nvSpPr>
        <p:spPr>
          <a:xfrm rot="0">
            <a:off x="4510958" y="6840622"/>
            <a:ext cx="2369964" cy="339744"/>
          </a:xfrm>
          <a:prstGeom prst="rect">
            <a:avLst/>
          </a:prstGeom>
        </p:spPr>
        <p:txBody>
          <a:bodyPr anchor="t" rtlCol="false" tIns="0" lIns="0" bIns="0" rIns="0">
            <a:spAutoFit/>
          </a:bodyPr>
          <a:lstStyle/>
          <a:p>
            <a:pPr algn="ctr">
              <a:lnSpc>
                <a:spcPts val="2799"/>
              </a:lnSpc>
              <a:spcBef>
                <a:spcPct val="0"/>
              </a:spcBef>
            </a:pPr>
            <a:r>
              <a:rPr lang="en-US" b="true" sz="1999">
                <a:solidFill>
                  <a:srgbClr val="000000"/>
                </a:solidFill>
                <a:latin typeface="TT Hoves Bold"/>
                <a:ea typeface="TT Hoves Bold"/>
                <a:cs typeface="TT Hoves Bold"/>
                <a:sym typeface="TT Hoves Bold"/>
              </a:rPr>
              <a:t>Outline Scope</a:t>
            </a:r>
          </a:p>
        </p:txBody>
      </p:sp>
      <p:sp>
        <p:nvSpPr>
          <p:cNvPr name="TextBox 29" id="29"/>
          <p:cNvSpPr txBox="true"/>
          <p:nvPr/>
        </p:nvSpPr>
        <p:spPr>
          <a:xfrm rot="0">
            <a:off x="4510958" y="5174578"/>
            <a:ext cx="2369964" cy="254672"/>
          </a:xfrm>
          <a:prstGeom prst="rect">
            <a:avLst/>
          </a:prstGeom>
        </p:spPr>
        <p:txBody>
          <a:bodyPr anchor="t" rtlCol="false" tIns="0" lIns="0" bIns="0" rIns="0">
            <a:spAutoFit/>
          </a:bodyPr>
          <a:lstStyle/>
          <a:p>
            <a:pPr algn="ctr">
              <a:lnSpc>
                <a:spcPts val="2240"/>
              </a:lnSpc>
              <a:spcBef>
                <a:spcPct val="0"/>
              </a:spcBef>
            </a:pPr>
            <a:r>
              <a:rPr lang="en-US" b="true" sz="1600">
                <a:solidFill>
                  <a:srgbClr val="FFFFFF"/>
                </a:solidFill>
                <a:latin typeface="TT Hoves Bold"/>
                <a:ea typeface="TT Hoves Bold"/>
                <a:cs typeface="TT Hoves Bold"/>
                <a:sym typeface="TT Hoves Bold"/>
              </a:rPr>
              <a:t>Phase 2</a:t>
            </a:r>
          </a:p>
        </p:txBody>
      </p:sp>
      <p:sp>
        <p:nvSpPr>
          <p:cNvPr name="TextBox 30" id="30"/>
          <p:cNvSpPr txBox="true"/>
          <p:nvPr/>
        </p:nvSpPr>
        <p:spPr>
          <a:xfrm rot="0">
            <a:off x="7655946" y="6840622"/>
            <a:ext cx="2369964" cy="339744"/>
          </a:xfrm>
          <a:prstGeom prst="rect">
            <a:avLst/>
          </a:prstGeom>
        </p:spPr>
        <p:txBody>
          <a:bodyPr anchor="t" rtlCol="false" tIns="0" lIns="0" bIns="0" rIns="0">
            <a:spAutoFit/>
          </a:bodyPr>
          <a:lstStyle/>
          <a:p>
            <a:pPr algn="ctr">
              <a:lnSpc>
                <a:spcPts val="2799"/>
              </a:lnSpc>
              <a:spcBef>
                <a:spcPct val="0"/>
              </a:spcBef>
            </a:pPr>
            <a:r>
              <a:rPr lang="en-US" b="true" sz="1999">
                <a:solidFill>
                  <a:srgbClr val="000000"/>
                </a:solidFill>
                <a:latin typeface="TT Hoves Bold"/>
                <a:ea typeface="TT Hoves Bold"/>
                <a:cs typeface="TT Hoves Bold"/>
                <a:sym typeface="TT Hoves Bold"/>
              </a:rPr>
              <a:t>Build Increment</a:t>
            </a:r>
          </a:p>
        </p:txBody>
      </p:sp>
      <p:sp>
        <p:nvSpPr>
          <p:cNvPr name="TextBox 31" id="31"/>
          <p:cNvSpPr txBox="true"/>
          <p:nvPr/>
        </p:nvSpPr>
        <p:spPr>
          <a:xfrm rot="0">
            <a:off x="7655946" y="5174578"/>
            <a:ext cx="2369964" cy="254672"/>
          </a:xfrm>
          <a:prstGeom prst="rect">
            <a:avLst/>
          </a:prstGeom>
        </p:spPr>
        <p:txBody>
          <a:bodyPr anchor="t" rtlCol="false" tIns="0" lIns="0" bIns="0" rIns="0">
            <a:spAutoFit/>
          </a:bodyPr>
          <a:lstStyle/>
          <a:p>
            <a:pPr algn="ctr">
              <a:lnSpc>
                <a:spcPts val="2240"/>
              </a:lnSpc>
              <a:spcBef>
                <a:spcPct val="0"/>
              </a:spcBef>
            </a:pPr>
            <a:r>
              <a:rPr lang="en-US" b="true" sz="1600">
                <a:solidFill>
                  <a:srgbClr val="FFFFFF"/>
                </a:solidFill>
                <a:latin typeface="TT Hoves Bold"/>
                <a:ea typeface="TT Hoves Bold"/>
                <a:cs typeface="TT Hoves Bold"/>
                <a:sym typeface="TT Hoves Bold"/>
              </a:rPr>
              <a:t>Phase 3</a:t>
            </a:r>
          </a:p>
        </p:txBody>
      </p:sp>
      <p:sp>
        <p:nvSpPr>
          <p:cNvPr name="TextBox 32" id="32"/>
          <p:cNvSpPr txBox="true"/>
          <p:nvPr/>
        </p:nvSpPr>
        <p:spPr>
          <a:xfrm rot="0">
            <a:off x="10800935" y="6840622"/>
            <a:ext cx="2369964" cy="339744"/>
          </a:xfrm>
          <a:prstGeom prst="rect">
            <a:avLst/>
          </a:prstGeom>
        </p:spPr>
        <p:txBody>
          <a:bodyPr anchor="t" rtlCol="false" tIns="0" lIns="0" bIns="0" rIns="0">
            <a:spAutoFit/>
          </a:bodyPr>
          <a:lstStyle/>
          <a:p>
            <a:pPr algn="ctr">
              <a:lnSpc>
                <a:spcPts val="2799"/>
              </a:lnSpc>
              <a:spcBef>
                <a:spcPct val="0"/>
              </a:spcBef>
            </a:pPr>
            <a:r>
              <a:rPr lang="en-US" b="true" sz="1999">
                <a:solidFill>
                  <a:srgbClr val="000000"/>
                </a:solidFill>
                <a:latin typeface="TT Hoves Bold"/>
                <a:ea typeface="TT Hoves Bold"/>
                <a:cs typeface="TT Hoves Bold"/>
                <a:sym typeface="TT Hoves Bold"/>
              </a:rPr>
              <a:t>Test Results</a:t>
            </a:r>
          </a:p>
        </p:txBody>
      </p:sp>
      <p:sp>
        <p:nvSpPr>
          <p:cNvPr name="TextBox 33" id="33"/>
          <p:cNvSpPr txBox="true"/>
          <p:nvPr/>
        </p:nvSpPr>
        <p:spPr>
          <a:xfrm rot="0">
            <a:off x="10800935" y="5174578"/>
            <a:ext cx="2369964" cy="254672"/>
          </a:xfrm>
          <a:prstGeom prst="rect">
            <a:avLst/>
          </a:prstGeom>
        </p:spPr>
        <p:txBody>
          <a:bodyPr anchor="t" rtlCol="false" tIns="0" lIns="0" bIns="0" rIns="0">
            <a:spAutoFit/>
          </a:bodyPr>
          <a:lstStyle/>
          <a:p>
            <a:pPr algn="ctr">
              <a:lnSpc>
                <a:spcPts val="2240"/>
              </a:lnSpc>
              <a:spcBef>
                <a:spcPct val="0"/>
              </a:spcBef>
            </a:pPr>
            <a:r>
              <a:rPr lang="en-US" b="true" sz="1600">
                <a:solidFill>
                  <a:srgbClr val="FFFFFF"/>
                </a:solidFill>
                <a:latin typeface="TT Hoves Bold"/>
                <a:ea typeface="TT Hoves Bold"/>
                <a:cs typeface="TT Hoves Bold"/>
                <a:sym typeface="TT Hoves Bold"/>
              </a:rPr>
              <a:t>Phase 4</a:t>
            </a:r>
          </a:p>
        </p:txBody>
      </p:sp>
      <p:sp>
        <p:nvSpPr>
          <p:cNvPr name="TextBox 34" id="34"/>
          <p:cNvSpPr txBox="true"/>
          <p:nvPr/>
        </p:nvSpPr>
        <p:spPr>
          <a:xfrm rot="0">
            <a:off x="13993807" y="6840622"/>
            <a:ext cx="2369964" cy="339744"/>
          </a:xfrm>
          <a:prstGeom prst="rect">
            <a:avLst/>
          </a:prstGeom>
        </p:spPr>
        <p:txBody>
          <a:bodyPr anchor="t" rtlCol="false" tIns="0" lIns="0" bIns="0" rIns="0">
            <a:spAutoFit/>
          </a:bodyPr>
          <a:lstStyle/>
          <a:p>
            <a:pPr algn="ctr">
              <a:lnSpc>
                <a:spcPts val="2799"/>
              </a:lnSpc>
              <a:spcBef>
                <a:spcPct val="0"/>
              </a:spcBef>
            </a:pPr>
            <a:r>
              <a:rPr lang="en-US" b="true" sz="1999">
                <a:solidFill>
                  <a:srgbClr val="000000"/>
                </a:solidFill>
                <a:latin typeface="TT Hoves Bold"/>
                <a:ea typeface="TT Hoves Bold"/>
                <a:cs typeface="TT Hoves Bold"/>
                <a:sym typeface="TT Hoves Bold"/>
              </a:rPr>
              <a:t>Release Product</a:t>
            </a:r>
          </a:p>
        </p:txBody>
      </p:sp>
      <p:sp>
        <p:nvSpPr>
          <p:cNvPr name="TextBox 35" id="35"/>
          <p:cNvSpPr txBox="true"/>
          <p:nvPr/>
        </p:nvSpPr>
        <p:spPr>
          <a:xfrm rot="0">
            <a:off x="13993807" y="5174578"/>
            <a:ext cx="2369964" cy="254672"/>
          </a:xfrm>
          <a:prstGeom prst="rect">
            <a:avLst/>
          </a:prstGeom>
        </p:spPr>
        <p:txBody>
          <a:bodyPr anchor="t" rtlCol="false" tIns="0" lIns="0" bIns="0" rIns="0">
            <a:spAutoFit/>
          </a:bodyPr>
          <a:lstStyle/>
          <a:p>
            <a:pPr algn="ctr">
              <a:lnSpc>
                <a:spcPts val="2240"/>
              </a:lnSpc>
              <a:spcBef>
                <a:spcPct val="0"/>
              </a:spcBef>
            </a:pPr>
            <a:r>
              <a:rPr lang="en-US" b="true" sz="1600">
                <a:solidFill>
                  <a:srgbClr val="FFFFFF"/>
                </a:solidFill>
                <a:latin typeface="TT Hoves Bold"/>
                <a:ea typeface="TT Hoves Bold"/>
                <a:cs typeface="TT Hoves Bold"/>
                <a:sym typeface="TT Hoves Bold"/>
              </a:rPr>
              <a:t>Phase 5</a:t>
            </a:r>
          </a:p>
        </p:txBody>
      </p:sp>
      <p:sp>
        <p:nvSpPr>
          <p:cNvPr name="TextBox 36" id="36"/>
          <p:cNvSpPr txBox="true"/>
          <p:nvPr/>
        </p:nvSpPr>
        <p:spPr>
          <a:xfrm rot="0">
            <a:off x="1365969" y="7328118"/>
            <a:ext cx="2369964" cy="807196"/>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Se</a:t>
            </a:r>
            <a:r>
              <a:rPr lang="en-US" sz="1600">
                <a:solidFill>
                  <a:srgbClr val="000000"/>
                </a:solidFill>
                <a:latin typeface="TT Hoves"/>
                <a:ea typeface="TT Hoves"/>
                <a:cs typeface="TT Hoves"/>
                <a:sym typeface="TT Hoves"/>
              </a:rPr>
              <a:t>t clear project objectives and long-term outcomes</a:t>
            </a:r>
          </a:p>
        </p:txBody>
      </p:sp>
      <p:sp>
        <p:nvSpPr>
          <p:cNvPr name="TextBox 37" id="37"/>
          <p:cNvSpPr txBox="true"/>
          <p:nvPr/>
        </p:nvSpPr>
        <p:spPr>
          <a:xfrm rot="0">
            <a:off x="4510958" y="7328118"/>
            <a:ext cx="2369964" cy="807196"/>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D</a:t>
            </a:r>
            <a:r>
              <a:rPr lang="en-US" sz="1600">
                <a:solidFill>
                  <a:srgbClr val="000000"/>
                </a:solidFill>
                <a:latin typeface="TT Hoves"/>
                <a:ea typeface="TT Hoves"/>
                <a:cs typeface="TT Hoves"/>
                <a:sym typeface="TT Hoves"/>
              </a:rPr>
              <a:t>etermine</a:t>
            </a:r>
          </a:p>
          <a:p>
            <a:pPr algn="ctr">
              <a:lnSpc>
                <a:spcPts val="2240"/>
              </a:lnSpc>
              <a:spcBef>
                <a:spcPct val="0"/>
              </a:spcBef>
            </a:pPr>
            <a:r>
              <a:rPr lang="en-US" sz="1600">
                <a:solidFill>
                  <a:srgbClr val="000000"/>
                </a:solidFill>
                <a:latin typeface="TT Hoves"/>
                <a:ea typeface="TT Hoves"/>
                <a:cs typeface="TT Hoves"/>
                <a:sym typeface="TT Hoves"/>
              </a:rPr>
              <a:t>deliverables, tasks, and resource allocation</a:t>
            </a:r>
          </a:p>
        </p:txBody>
      </p:sp>
      <p:sp>
        <p:nvSpPr>
          <p:cNvPr name="TextBox 38" id="38"/>
          <p:cNvSpPr txBox="true"/>
          <p:nvPr/>
        </p:nvSpPr>
        <p:spPr>
          <a:xfrm rot="0">
            <a:off x="7655946" y="7328118"/>
            <a:ext cx="2369964" cy="807196"/>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Develop new features in small, manageable and efficient stages.</a:t>
            </a:r>
          </a:p>
        </p:txBody>
      </p:sp>
      <p:sp>
        <p:nvSpPr>
          <p:cNvPr name="TextBox 39" id="39"/>
          <p:cNvSpPr txBox="true"/>
          <p:nvPr/>
        </p:nvSpPr>
        <p:spPr>
          <a:xfrm rot="0">
            <a:off x="10706894" y="7328118"/>
            <a:ext cx="2558045" cy="807196"/>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Val</a:t>
            </a:r>
            <a:r>
              <a:rPr lang="en-US" sz="1600">
                <a:solidFill>
                  <a:srgbClr val="000000"/>
                </a:solidFill>
                <a:latin typeface="TT Hoves"/>
                <a:ea typeface="TT Hoves"/>
                <a:cs typeface="TT Hoves"/>
                <a:sym typeface="TT Hoves"/>
              </a:rPr>
              <a:t>idate deliverables</a:t>
            </a:r>
          </a:p>
          <a:p>
            <a:pPr algn="ctr">
              <a:lnSpc>
                <a:spcPts val="2240"/>
              </a:lnSpc>
              <a:spcBef>
                <a:spcPct val="0"/>
              </a:spcBef>
            </a:pPr>
            <a:r>
              <a:rPr lang="en-US" sz="1600">
                <a:solidFill>
                  <a:srgbClr val="000000"/>
                </a:solidFill>
                <a:latin typeface="TT Hoves"/>
                <a:ea typeface="TT Hoves"/>
                <a:cs typeface="TT Hoves"/>
                <a:sym typeface="TT Hoves"/>
              </a:rPr>
              <a:t>against quality benchmarks and requirements</a:t>
            </a:r>
          </a:p>
        </p:txBody>
      </p:sp>
      <p:sp>
        <p:nvSpPr>
          <p:cNvPr name="TextBox 40" id="40"/>
          <p:cNvSpPr txBox="true"/>
          <p:nvPr/>
        </p:nvSpPr>
        <p:spPr>
          <a:xfrm rot="0">
            <a:off x="13852746" y="7328118"/>
            <a:ext cx="2652086" cy="807196"/>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Hoves"/>
                <a:ea typeface="TT Hoves"/>
                <a:cs typeface="TT Hoves"/>
                <a:sym typeface="TT Hoves"/>
              </a:rPr>
              <a:t>Deliver the final version for immediate use or for valuable customer feedback.</a:t>
            </a:r>
          </a:p>
        </p:txBody>
      </p:sp>
      <p:sp>
        <p:nvSpPr>
          <p:cNvPr name="Freeform 41" id="41"/>
          <p:cNvSpPr/>
          <p:nvPr/>
        </p:nvSpPr>
        <p:spPr>
          <a:xfrm flipH="false" flipV="false" rot="0">
            <a:off x="14952545" y="4098455"/>
            <a:ext cx="452487" cy="711446"/>
          </a:xfrm>
          <a:custGeom>
            <a:avLst/>
            <a:gdLst/>
            <a:ahLst/>
            <a:cxnLst/>
            <a:rect r="r" b="b" t="t" l="l"/>
            <a:pathLst>
              <a:path h="711446" w="452487">
                <a:moveTo>
                  <a:pt x="0" y="0"/>
                </a:moveTo>
                <a:lnTo>
                  <a:pt x="452487" y="0"/>
                </a:lnTo>
                <a:lnTo>
                  <a:pt x="452487" y="711445"/>
                </a:lnTo>
                <a:lnTo>
                  <a:pt x="0" y="71144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sp>
        <p:nvSpPr>
          <p:cNvPr name="Freeform 2" id="2"/>
          <p:cNvSpPr/>
          <p:nvPr/>
        </p:nvSpPr>
        <p:spPr>
          <a:xfrm flipH="false" flipV="false" rot="0">
            <a:off x="5979122" y="1239326"/>
            <a:ext cx="6650805" cy="5840616"/>
          </a:xfrm>
          <a:custGeom>
            <a:avLst/>
            <a:gdLst/>
            <a:ahLst/>
            <a:cxnLst/>
            <a:rect r="r" b="b" t="t" l="l"/>
            <a:pathLst>
              <a:path h="5840616" w="6650805">
                <a:moveTo>
                  <a:pt x="0" y="0"/>
                </a:moveTo>
                <a:lnTo>
                  <a:pt x="6650805" y="0"/>
                </a:lnTo>
                <a:lnTo>
                  <a:pt x="6650805" y="5840617"/>
                </a:lnTo>
                <a:lnTo>
                  <a:pt x="0" y="58406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0940469" y="490693"/>
            <a:ext cx="6650805" cy="5840616"/>
          </a:xfrm>
          <a:custGeom>
            <a:avLst/>
            <a:gdLst/>
            <a:ahLst/>
            <a:cxnLst/>
            <a:rect r="r" b="b" t="t" l="l"/>
            <a:pathLst>
              <a:path h="5840616" w="6650805">
                <a:moveTo>
                  <a:pt x="0" y="5840617"/>
                </a:moveTo>
                <a:lnTo>
                  <a:pt x="6650805" y="5840617"/>
                </a:lnTo>
                <a:lnTo>
                  <a:pt x="6650805" y="0"/>
                </a:lnTo>
                <a:lnTo>
                  <a:pt x="0" y="0"/>
                </a:lnTo>
                <a:lnTo>
                  <a:pt x="0" y="584061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885825"/>
            <a:ext cx="5914807" cy="613429"/>
          </a:xfrm>
          <a:prstGeom prst="rect">
            <a:avLst/>
          </a:prstGeom>
        </p:spPr>
        <p:txBody>
          <a:bodyPr anchor="t" rtlCol="false" tIns="0" lIns="0" bIns="0" rIns="0">
            <a:spAutoFit/>
          </a:bodyPr>
          <a:lstStyle/>
          <a:p>
            <a:pPr algn="l">
              <a:lnSpc>
                <a:spcPts val="5040"/>
              </a:lnSpc>
            </a:pPr>
            <a:r>
              <a:rPr lang="en-US" b="true" sz="3600">
                <a:solidFill>
                  <a:srgbClr val="000000"/>
                </a:solidFill>
                <a:latin typeface="TT Hoves Bold"/>
                <a:ea typeface="TT Hoves Bold"/>
                <a:cs typeface="TT Hoves Bold"/>
                <a:sym typeface="TT Hoves Bold"/>
              </a:rPr>
              <a:t>Workflow Gears Motion</a:t>
            </a:r>
          </a:p>
        </p:txBody>
      </p:sp>
      <p:sp>
        <p:nvSpPr>
          <p:cNvPr name="TextBox 5" id="5"/>
          <p:cNvSpPr txBox="true"/>
          <p:nvPr/>
        </p:nvSpPr>
        <p:spPr>
          <a:xfrm rot="0">
            <a:off x="1028700" y="1706418"/>
            <a:ext cx="4460735" cy="656590"/>
          </a:xfrm>
          <a:prstGeom prst="rect">
            <a:avLst/>
          </a:prstGeom>
        </p:spPr>
        <p:txBody>
          <a:bodyPr anchor="t" rtlCol="false" tIns="0" lIns="0" bIns="0" rIns="0">
            <a:spAutoFit/>
          </a:bodyPr>
          <a:lstStyle/>
          <a:p>
            <a:pPr algn="l">
              <a:lnSpc>
                <a:spcPts val="2660"/>
              </a:lnSpc>
            </a:pPr>
            <a:r>
              <a:rPr lang="en-US" sz="1900">
                <a:solidFill>
                  <a:srgbClr val="000000"/>
                </a:solidFill>
                <a:latin typeface="TT Hoves"/>
                <a:ea typeface="TT Hoves"/>
                <a:cs typeface="TT Hoves"/>
                <a:sym typeface="TT Hoves"/>
              </a:rPr>
              <a:t>Six gears represent connected activities in action</a:t>
            </a:r>
          </a:p>
        </p:txBody>
      </p:sp>
      <p:grpSp>
        <p:nvGrpSpPr>
          <p:cNvPr name="Group 6" id="6"/>
          <p:cNvGrpSpPr/>
          <p:nvPr/>
        </p:nvGrpSpPr>
        <p:grpSpPr>
          <a:xfrm rot="0">
            <a:off x="1028700" y="3585550"/>
            <a:ext cx="419100" cy="419100"/>
            <a:chOff x="0" y="0"/>
            <a:chExt cx="110380" cy="110380"/>
          </a:xfrm>
        </p:grpSpPr>
        <p:sp>
          <p:nvSpPr>
            <p:cNvPr name="Freeform 7" id="7"/>
            <p:cNvSpPr/>
            <p:nvPr/>
          </p:nvSpPr>
          <p:spPr>
            <a:xfrm flipH="false" flipV="false" rot="0">
              <a:off x="0" y="0"/>
              <a:ext cx="110380" cy="110380"/>
            </a:xfrm>
            <a:custGeom>
              <a:avLst/>
              <a:gdLst/>
              <a:ahLst/>
              <a:cxnLst/>
              <a:rect r="r" b="b" t="t" l="l"/>
              <a:pathLst>
                <a:path h="110380" w="110380">
                  <a:moveTo>
                    <a:pt x="0" y="0"/>
                  </a:moveTo>
                  <a:lnTo>
                    <a:pt x="110380" y="0"/>
                  </a:lnTo>
                  <a:lnTo>
                    <a:pt x="110380" y="110380"/>
                  </a:lnTo>
                  <a:lnTo>
                    <a:pt x="0" y="110380"/>
                  </a:lnTo>
                  <a:close/>
                </a:path>
              </a:pathLst>
            </a:custGeom>
            <a:solidFill>
              <a:srgbClr val="56E11B"/>
            </a:solidFill>
          </p:spPr>
        </p:sp>
        <p:sp>
          <p:nvSpPr>
            <p:cNvPr name="TextBox 8" id="8"/>
            <p:cNvSpPr txBox="true"/>
            <p:nvPr/>
          </p:nvSpPr>
          <p:spPr>
            <a:xfrm>
              <a:off x="0" y="-19050"/>
              <a:ext cx="110380" cy="129430"/>
            </a:xfrm>
            <a:prstGeom prst="rect">
              <a:avLst/>
            </a:prstGeom>
          </p:spPr>
          <p:txBody>
            <a:bodyPr anchor="ctr" rtlCol="false" tIns="50800" lIns="50800" bIns="50800" rIns="50800"/>
            <a:lstStyle/>
            <a:p>
              <a:pPr algn="ctr" marL="0" indent="0" lvl="0">
                <a:lnSpc>
                  <a:spcPts val="2240"/>
                </a:lnSpc>
                <a:spcBef>
                  <a:spcPct val="0"/>
                </a:spcBef>
              </a:pPr>
              <a:r>
                <a:rPr lang="en-US" b="true" sz="1600" strike="noStrike" u="none">
                  <a:solidFill>
                    <a:srgbClr val="FFFFFF"/>
                  </a:solidFill>
                  <a:latin typeface="TT Hoves Bold"/>
                  <a:ea typeface="TT Hoves Bold"/>
                  <a:cs typeface="TT Hoves Bold"/>
                  <a:sym typeface="TT Hoves Bold"/>
                </a:rPr>
                <a:t>1</a:t>
              </a:r>
            </a:p>
          </p:txBody>
        </p:sp>
      </p:grpSp>
      <p:sp>
        <p:nvSpPr>
          <p:cNvPr name="TextBox 9" id="9"/>
          <p:cNvSpPr txBox="true"/>
          <p:nvPr/>
        </p:nvSpPr>
        <p:spPr>
          <a:xfrm rot="0">
            <a:off x="1669512" y="4018189"/>
            <a:ext cx="2813778"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Prepare deliverables</a:t>
            </a:r>
            <a:r>
              <a:rPr lang="en-US" sz="1600">
                <a:solidFill>
                  <a:srgbClr val="000000"/>
                </a:solidFill>
                <a:latin typeface="TT Hoves"/>
                <a:ea typeface="TT Hoves"/>
                <a:cs typeface="TT Hoves"/>
                <a:sym typeface="TT Hoves"/>
              </a:rPr>
              <a:t> with clear timelines, goals, and defined priorities</a:t>
            </a:r>
          </a:p>
        </p:txBody>
      </p:sp>
      <p:sp>
        <p:nvSpPr>
          <p:cNvPr name="TextBox 10" id="10"/>
          <p:cNvSpPr txBox="true"/>
          <p:nvPr/>
        </p:nvSpPr>
        <p:spPr>
          <a:xfrm rot="0">
            <a:off x="1669512" y="3568628"/>
            <a:ext cx="2813778" cy="316211"/>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Plan Work</a:t>
            </a:r>
          </a:p>
        </p:txBody>
      </p:sp>
      <p:grpSp>
        <p:nvGrpSpPr>
          <p:cNvPr name="Group 11" id="11"/>
          <p:cNvGrpSpPr/>
          <p:nvPr/>
        </p:nvGrpSpPr>
        <p:grpSpPr>
          <a:xfrm rot="0">
            <a:off x="1028700" y="5840108"/>
            <a:ext cx="419100" cy="419100"/>
            <a:chOff x="0" y="0"/>
            <a:chExt cx="110380" cy="110380"/>
          </a:xfrm>
        </p:grpSpPr>
        <p:sp>
          <p:nvSpPr>
            <p:cNvPr name="Freeform 12" id="12"/>
            <p:cNvSpPr/>
            <p:nvPr/>
          </p:nvSpPr>
          <p:spPr>
            <a:xfrm flipH="false" flipV="false" rot="0">
              <a:off x="0" y="0"/>
              <a:ext cx="110380" cy="110380"/>
            </a:xfrm>
            <a:custGeom>
              <a:avLst/>
              <a:gdLst/>
              <a:ahLst/>
              <a:cxnLst/>
              <a:rect r="r" b="b" t="t" l="l"/>
              <a:pathLst>
                <a:path h="110380" w="110380">
                  <a:moveTo>
                    <a:pt x="0" y="0"/>
                  </a:moveTo>
                  <a:lnTo>
                    <a:pt x="110380" y="0"/>
                  </a:lnTo>
                  <a:lnTo>
                    <a:pt x="110380" y="110380"/>
                  </a:lnTo>
                  <a:lnTo>
                    <a:pt x="0" y="110380"/>
                  </a:lnTo>
                  <a:close/>
                </a:path>
              </a:pathLst>
            </a:custGeom>
            <a:solidFill>
              <a:srgbClr val="00C267"/>
            </a:solidFill>
          </p:spPr>
        </p:sp>
        <p:sp>
          <p:nvSpPr>
            <p:cNvPr name="TextBox 13" id="13"/>
            <p:cNvSpPr txBox="true"/>
            <p:nvPr/>
          </p:nvSpPr>
          <p:spPr>
            <a:xfrm>
              <a:off x="0" y="-19050"/>
              <a:ext cx="110380" cy="129430"/>
            </a:xfrm>
            <a:prstGeom prst="rect">
              <a:avLst/>
            </a:prstGeom>
          </p:spPr>
          <p:txBody>
            <a:bodyPr anchor="ctr" rtlCol="false" tIns="50800" lIns="50800" bIns="50800" rIns="50800"/>
            <a:lstStyle/>
            <a:p>
              <a:pPr algn="ctr" marL="0" indent="0" lvl="0">
                <a:lnSpc>
                  <a:spcPts val="2240"/>
                </a:lnSpc>
                <a:spcBef>
                  <a:spcPct val="0"/>
                </a:spcBef>
              </a:pPr>
              <a:r>
                <a:rPr lang="en-US" b="true" sz="1600">
                  <a:solidFill>
                    <a:srgbClr val="FFFFFF"/>
                  </a:solidFill>
                  <a:latin typeface="TT Hoves Bold"/>
                  <a:ea typeface="TT Hoves Bold"/>
                  <a:cs typeface="TT Hoves Bold"/>
                  <a:sym typeface="TT Hoves Bold"/>
                </a:rPr>
                <a:t>2</a:t>
              </a:r>
            </a:p>
          </p:txBody>
        </p:sp>
      </p:grpSp>
      <p:sp>
        <p:nvSpPr>
          <p:cNvPr name="TextBox 14" id="14"/>
          <p:cNvSpPr txBox="true"/>
          <p:nvPr/>
        </p:nvSpPr>
        <p:spPr>
          <a:xfrm rot="0">
            <a:off x="1669512" y="6272746"/>
            <a:ext cx="2813778"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Detail</a:t>
            </a:r>
            <a:r>
              <a:rPr lang="en-US" sz="1600">
                <a:solidFill>
                  <a:srgbClr val="000000"/>
                </a:solidFill>
                <a:latin typeface="TT Hoves"/>
                <a:ea typeface="TT Hoves"/>
                <a:cs typeface="TT Hoves"/>
                <a:sym typeface="TT Hoves"/>
              </a:rPr>
              <a:t> task requirements and expected outcomes with greater precision</a:t>
            </a:r>
          </a:p>
        </p:txBody>
      </p:sp>
      <p:sp>
        <p:nvSpPr>
          <p:cNvPr name="TextBox 15" id="15"/>
          <p:cNvSpPr txBox="true"/>
          <p:nvPr/>
        </p:nvSpPr>
        <p:spPr>
          <a:xfrm rot="0">
            <a:off x="1669512" y="5823185"/>
            <a:ext cx="2813778" cy="316211"/>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Design Features</a:t>
            </a:r>
          </a:p>
        </p:txBody>
      </p:sp>
      <p:grpSp>
        <p:nvGrpSpPr>
          <p:cNvPr name="Group 16" id="16"/>
          <p:cNvGrpSpPr/>
          <p:nvPr/>
        </p:nvGrpSpPr>
        <p:grpSpPr>
          <a:xfrm rot="0">
            <a:off x="1028700" y="8094665"/>
            <a:ext cx="419100" cy="419100"/>
            <a:chOff x="0" y="0"/>
            <a:chExt cx="110380" cy="110380"/>
          </a:xfrm>
        </p:grpSpPr>
        <p:sp>
          <p:nvSpPr>
            <p:cNvPr name="Freeform 17" id="17"/>
            <p:cNvSpPr/>
            <p:nvPr/>
          </p:nvSpPr>
          <p:spPr>
            <a:xfrm flipH="false" flipV="false" rot="0">
              <a:off x="0" y="0"/>
              <a:ext cx="110380" cy="110380"/>
            </a:xfrm>
            <a:custGeom>
              <a:avLst/>
              <a:gdLst/>
              <a:ahLst/>
              <a:cxnLst/>
              <a:rect r="r" b="b" t="t" l="l"/>
              <a:pathLst>
                <a:path h="110380" w="110380">
                  <a:moveTo>
                    <a:pt x="0" y="0"/>
                  </a:moveTo>
                  <a:lnTo>
                    <a:pt x="110380" y="0"/>
                  </a:lnTo>
                  <a:lnTo>
                    <a:pt x="110380" y="110380"/>
                  </a:lnTo>
                  <a:lnTo>
                    <a:pt x="0" y="110380"/>
                  </a:lnTo>
                  <a:close/>
                </a:path>
              </a:pathLst>
            </a:custGeom>
            <a:solidFill>
              <a:srgbClr val="009D81"/>
            </a:solidFill>
          </p:spPr>
        </p:sp>
        <p:sp>
          <p:nvSpPr>
            <p:cNvPr name="TextBox 18" id="18"/>
            <p:cNvSpPr txBox="true"/>
            <p:nvPr/>
          </p:nvSpPr>
          <p:spPr>
            <a:xfrm>
              <a:off x="0" y="-19050"/>
              <a:ext cx="110380" cy="129430"/>
            </a:xfrm>
            <a:prstGeom prst="rect">
              <a:avLst/>
            </a:prstGeom>
          </p:spPr>
          <p:txBody>
            <a:bodyPr anchor="ctr" rtlCol="false" tIns="50800" lIns="50800" bIns="50800" rIns="50800"/>
            <a:lstStyle/>
            <a:p>
              <a:pPr algn="ctr" marL="0" indent="0" lvl="0">
                <a:lnSpc>
                  <a:spcPts val="2240"/>
                </a:lnSpc>
                <a:spcBef>
                  <a:spcPct val="0"/>
                </a:spcBef>
              </a:pPr>
              <a:r>
                <a:rPr lang="en-US" b="true" sz="1600">
                  <a:solidFill>
                    <a:srgbClr val="FFFFFF"/>
                  </a:solidFill>
                  <a:latin typeface="TT Hoves Bold"/>
                  <a:ea typeface="TT Hoves Bold"/>
                  <a:cs typeface="TT Hoves Bold"/>
                  <a:sym typeface="TT Hoves Bold"/>
                </a:rPr>
                <a:t>3</a:t>
              </a:r>
            </a:p>
          </p:txBody>
        </p:sp>
      </p:grpSp>
      <p:sp>
        <p:nvSpPr>
          <p:cNvPr name="TextBox 19" id="19"/>
          <p:cNvSpPr txBox="true"/>
          <p:nvPr/>
        </p:nvSpPr>
        <p:spPr>
          <a:xfrm rot="0">
            <a:off x="1669512" y="8527304"/>
            <a:ext cx="2813778"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Imple</a:t>
            </a:r>
            <a:r>
              <a:rPr lang="en-US" sz="1600">
                <a:solidFill>
                  <a:srgbClr val="000000"/>
                </a:solidFill>
                <a:latin typeface="TT Hoves"/>
                <a:ea typeface="TT Hoves"/>
                <a:cs typeface="TT Hoves"/>
                <a:sym typeface="TT Hoves"/>
              </a:rPr>
              <a:t>ment assigned activities to build and deliver core features</a:t>
            </a:r>
          </a:p>
        </p:txBody>
      </p:sp>
      <p:sp>
        <p:nvSpPr>
          <p:cNvPr name="TextBox 20" id="20"/>
          <p:cNvSpPr txBox="true"/>
          <p:nvPr/>
        </p:nvSpPr>
        <p:spPr>
          <a:xfrm rot="0">
            <a:off x="1669512" y="8077742"/>
            <a:ext cx="2813778" cy="316211"/>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Develop Tasks</a:t>
            </a:r>
          </a:p>
        </p:txBody>
      </p:sp>
      <p:grpSp>
        <p:nvGrpSpPr>
          <p:cNvPr name="Group 21" id="21"/>
          <p:cNvGrpSpPr/>
          <p:nvPr/>
        </p:nvGrpSpPr>
        <p:grpSpPr>
          <a:xfrm rot="0">
            <a:off x="5398028" y="8094665"/>
            <a:ext cx="419100" cy="419100"/>
            <a:chOff x="0" y="0"/>
            <a:chExt cx="110380" cy="110380"/>
          </a:xfrm>
        </p:grpSpPr>
        <p:sp>
          <p:nvSpPr>
            <p:cNvPr name="Freeform 22" id="22"/>
            <p:cNvSpPr/>
            <p:nvPr/>
          </p:nvSpPr>
          <p:spPr>
            <a:xfrm flipH="false" flipV="false" rot="0">
              <a:off x="0" y="0"/>
              <a:ext cx="110380" cy="110380"/>
            </a:xfrm>
            <a:custGeom>
              <a:avLst/>
              <a:gdLst/>
              <a:ahLst/>
              <a:cxnLst/>
              <a:rect r="r" b="b" t="t" l="l"/>
              <a:pathLst>
                <a:path h="110380" w="110380">
                  <a:moveTo>
                    <a:pt x="0" y="0"/>
                  </a:moveTo>
                  <a:lnTo>
                    <a:pt x="110380" y="0"/>
                  </a:lnTo>
                  <a:lnTo>
                    <a:pt x="110380" y="110380"/>
                  </a:lnTo>
                  <a:lnTo>
                    <a:pt x="0" y="110380"/>
                  </a:lnTo>
                  <a:close/>
                </a:path>
              </a:pathLst>
            </a:custGeom>
            <a:solidFill>
              <a:srgbClr val="007B80"/>
            </a:solidFill>
          </p:spPr>
        </p:sp>
        <p:sp>
          <p:nvSpPr>
            <p:cNvPr name="TextBox 23" id="23"/>
            <p:cNvSpPr txBox="true"/>
            <p:nvPr/>
          </p:nvSpPr>
          <p:spPr>
            <a:xfrm>
              <a:off x="0" y="-19050"/>
              <a:ext cx="110380" cy="129430"/>
            </a:xfrm>
            <a:prstGeom prst="rect">
              <a:avLst/>
            </a:prstGeom>
          </p:spPr>
          <p:txBody>
            <a:bodyPr anchor="ctr" rtlCol="false" tIns="50800" lIns="50800" bIns="50800" rIns="50800"/>
            <a:lstStyle/>
            <a:p>
              <a:pPr algn="ctr" marL="0" indent="0" lvl="0">
                <a:lnSpc>
                  <a:spcPts val="2240"/>
                </a:lnSpc>
                <a:spcBef>
                  <a:spcPct val="0"/>
                </a:spcBef>
              </a:pPr>
              <a:r>
                <a:rPr lang="en-US" b="true" sz="1600">
                  <a:solidFill>
                    <a:srgbClr val="FFFFFF"/>
                  </a:solidFill>
                  <a:latin typeface="TT Hoves Bold"/>
                  <a:ea typeface="TT Hoves Bold"/>
                  <a:cs typeface="TT Hoves Bold"/>
                  <a:sym typeface="TT Hoves Bold"/>
                </a:rPr>
                <a:t>4</a:t>
              </a:r>
            </a:p>
          </p:txBody>
        </p:sp>
      </p:grpSp>
      <p:sp>
        <p:nvSpPr>
          <p:cNvPr name="TextBox 24" id="24"/>
          <p:cNvSpPr txBox="true"/>
          <p:nvPr/>
        </p:nvSpPr>
        <p:spPr>
          <a:xfrm rot="0">
            <a:off x="6038840" y="8527304"/>
            <a:ext cx="2813778"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Review product elements for</a:t>
            </a:r>
            <a:r>
              <a:rPr lang="en-US" sz="1600">
                <a:solidFill>
                  <a:srgbClr val="000000"/>
                </a:solidFill>
                <a:latin typeface="TT Hoves"/>
                <a:ea typeface="TT Hoves"/>
                <a:cs typeface="TT Hoves"/>
                <a:sym typeface="TT Hoves"/>
              </a:rPr>
              <a:t> accuracy, usability, and overall quality</a:t>
            </a:r>
          </a:p>
        </p:txBody>
      </p:sp>
      <p:sp>
        <p:nvSpPr>
          <p:cNvPr name="TextBox 25" id="25"/>
          <p:cNvSpPr txBox="true"/>
          <p:nvPr/>
        </p:nvSpPr>
        <p:spPr>
          <a:xfrm rot="0">
            <a:off x="6038840" y="8077742"/>
            <a:ext cx="2813778" cy="316211"/>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Test Outputs</a:t>
            </a:r>
          </a:p>
        </p:txBody>
      </p:sp>
      <p:grpSp>
        <p:nvGrpSpPr>
          <p:cNvPr name="Group 26" id="26"/>
          <p:cNvGrpSpPr/>
          <p:nvPr/>
        </p:nvGrpSpPr>
        <p:grpSpPr>
          <a:xfrm rot="0">
            <a:off x="9767357" y="8094665"/>
            <a:ext cx="419100" cy="419100"/>
            <a:chOff x="0" y="0"/>
            <a:chExt cx="110380" cy="110380"/>
          </a:xfrm>
        </p:grpSpPr>
        <p:sp>
          <p:nvSpPr>
            <p:cNvPr name="Freeform 27" id="27"/>
            <p:cNvSpPr/>
            <p:nvPr/>
          </p:nvSpPr>
          <p:spPr>
            <a:xfrm flipH="false" flipV="false" rot="0">
              <a:off x="0" y="0"/>
              <a:ext cx="110380" cy="110380"/>
            </a:xfrm>
            <a:custGeom>
              <a:avLst/>
              <a:gdLst/>
              <a:ahLst/>
              <a:cxnLst/>
              <a:rect r="r" b="b" t="t" l="l"/>
              <a:pathLst>
                <a:path h="110380" w="110380">
                  <a:moveTo>
                    <a:pt x="0" y="0"/>
                  </a:moveTo>
                  <a:lnTo>
                    <a:pt x="110380" y="0"/>
                  </a:lnTo>
                  <a:lnTo>
                    <a:pt x="110380" y="110380"/>
                  </a:lnTo>
                  <a:lnTo>
                    <a:pt x="0" y="110380"/>
                  </a:lnTo>
                  <a:close/>
                </a:path>
              </a:pathLst>
            </a:custGeom>
            <a:solidFill>
              <a:srgbClr val="004259"/>
            </a:solidFill>
          </p:spPr>
        </p:sp>
        <p:sp>
          <p:nvSpPr>
            <p:cNvPr name="TextBox 28" id="28"/>
            <p:cNvSpPr txBox="true"/>
            <p:nvPr/>
          </p:nvSpPr>
          <p:spPr>
            <a:xfrm>
              <a:off x="0" y="-19050"/>
              <a:ext cx="110380" cy="129430"/>
            </a:xfrm>
            <a:prstGeom prst="rect">
              <a:avLst/>
            </a:prstGeom>
          </p:spPr>
          <p:txBody>
            <a:bodyPr anchor="ctr" rtlCol="false" tIns="50800" lIns="50800" bIns="50800" rIns="50800"/>
            <a:lstStyle/>
            <a:p>
              <a:pPr algn="ctr" marL="0" indent="0" lvl="0">
                <a:lnSpc>
                  <a:spcPts val="2240"/>
                </a:lnSpc>
                <a:spcBef>
                  <a:spcPct val="0"/>
                </a:spcBef>
              </a:pPr>
              <a:r>
                <a:rPr lang="en-US" b="true" sz="1600">
                  <a:solidFill>
                    <a:srgbClr val="FFFFFF"/>
                  </a:solidFill>
                  <a:latin typeface="TT Hoves Bold"/>
                  <a:ea typeface="TT Hoves Bold"/>
                  <a:cs typeface="TT Hoves Bold"/>
                  <a:sym typeface="TT Hoves Bold"/>
                </a:rPr>
                <a:t>5</a:t>
              </a:r>
            </a:p>
          </p:txBody>
        </p:sp>
      </p:grpSp>
      <p:sp>
        <p:nvSpPr>
          <p:cNvPr name="TextBox 29" id="29"/>
          <p:cNvSpPr txBox="true"/>
          <p:nvPr/>
        </p:nvSpPr>
        <p:spPr>
          <a:xfrm rot="0">
            <a:off x="10408168" y="8527304"/>
            <a:ext cx="2813778"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Engage users and</a:t>
            </a:r>
            <a:r>
              <a:rPr lang="en-US" sz="1600">
                <a:solidFill>
                  <a:srgbClr val="000000"/>
                </a:solidFill>
                <a:latin typeface="TT Hoves"/>
                <a:ea typeface="TT Hoves"/>
                <a:cs typeface="TT Hoves"/>
                <a:sym typeface="TT Hoves"/>
              </a:rPr>
              <a:t> stakeholders for insights, improvements, and validation</a:t>
            </a:r>
          </a:p>
        </p:txBody>
      </p:sp>
      <p:sp>
        <p:nvSpPr>
          <p:cNvPr name="TextBox 30" id="30"/>
          <p:cNvSpPr txBox="true"/>
          <p:nvPr/>
        </p:nvSpPr>
        <p:spPr>
          <a:xfrm rot="0">
            <a:off x="10408168" y="8077742"/>
            <a:ext cx="2813778" cy="316211"/>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Gather Feedback</a:t>
            </a:r>
          </a:p>
        </p:txBody>
      </p:sp>
      <p:grpSp>
        <p:nvGrpSpPr>
          <p:cNvPr name="Group 31" id="31"/>
          <p:cNvGrpSpPr/>
          <p:nvPr/>
        </p:nvGrpSpPr>
        <p:grpSpPr>
          <a:xfrm rot="0">
            <a:off x="14136685" y="8094665"/>
            <a:ext cx="419100" cy="419100"/>
            <a:chOff x="0" y="0"/>
            <a:chExt cx="110380" cy="110380"/>
          </a:xfrm>
        </p:grpSpPr>
        <p:sp>
          <p:nvSpPr>
            <p:cNvPr name="Freeform 32" id="32"/>
            <p:cNvSpPr/>
            <p:nvPr/>
          </p:nvSpPr>
          <p:spPr>
            <a:xfrm flipH="false" flipV="false" rot="0">
              <a:off x="0" y="0"/>
              <a:ext cx="110380" cy="110380"/>
            </a:xfrm>
            <a:custGeom>
              <a:avLst/>
              <a:gdLst/>
              <a:ahLst/>
              <a:cxnLst/>
              <a:rect r="r" b="b" t="t" l="l"/>
              <a:pathLst>
                <a:path h="110380" w="110380">
                  <a:moveTo>
                    <a:pt x="0" y="0"/>
                  </a:moveTo>
                  <a:lnTo>
                    <a:pt x="110380" y="0"/>
                  </a:lnTo>
                  <a:lnTo>
                    <a:pt x="110380" y="110380"/>
                  </a:lnTo>
                  <a:lnTo>
                    <a:pt x="0" y="110380"/>
                  </a:lnTo>
                  <a:close/>
                </a:path>
              </a:pathLst>
            </a:custGeom>
            <a:solidFill>
              <a:srgbClr val="000038"/>
            </a:solidFill>
          </p:spPr>
        </p:sp>
        <p:sp>
          <p:nvSpPr>
            <p:cNvPr name="TextBox 33" id="33"/>
            <p:cNvSpPr txBox="true"/>
            <p:nvPr/>
          </p:nvSpPr>
          <p:spPr>
            <a:xfrm>
              <a:off x="0" y="-19050"/>
              <a:ext cx="110380" cy="129430"/>
            </a:xfrm>
            <a:prstGeom prst="rect">
              <a:avLst/>
            </a:prstGeom>
          </p:spPr>
          <p:txBody>
            <a:bodyPr anchor="ctr" rtlCol="false" tIns="50800" lIns="50800" bIns="50800" rIns="50800"/>
            <a:lstStyle/>
            <a:p>
              <a:pPr algn="ctr" marL="0" indent="0" lvl="0">
                <a:lnSpc>
                  <a:spcPts val="2240"/>
                </a:lnSpc>
                <a:spcBef>
                  <a:spcPct val="0"/>
                </a:spcBef>
              </a:pPr>
              <a:r>
                <a:rPr lang="en-US" b="true" sz="1600">
                  <a:solidFill>
                    <a:srgbClr val="FFFFFF"/>
                  </a:solidFill>
                  <a:latin typeface="TT Hoves Bold"/>
                  <a:ea typeface="TT Hoves Bold"/>
                  <a:cs typeface="TT Hoves Bold"/>
                  <a:sym typeface="TT Hoves Bold"/>
                </a:rPr>
                <a:t>6</a:t>
              </a:r>
            </a:p>
          </p:txBody>
        </p:sp>
      </p:grpSp>
      <p:sp>
        <p:nvSpPr>
          <p:cNvPr name="TextBox 34" id="34"/>
          <p:cNvSpPr txBox="true"/>
          <p:nvPr/>
        </p:nvSpPr>
        <p:spPr>
          <a:xfrm rot="0">
            <a:off x="14777497" y="8527304"/>
            <a:ext cx="2813778" cy="807196"/>
          </a:xfrm>
          <a:prstGeom prst="rect">
            <a:avLst/>
          </a:prstGeom>
        </p:spPr>
        <p:txBody>
          <a:bodyPr anchor="t" rtlCol="false" tIns="0" lIns="0" bIns="0" rIns="0">
            <a:spAutoFit/>
          </a:bodyPr>
          <a:lstStyle/>
          <a:p>
            <a:pPr algn="l">
              <a:lnSpc>
                <a:spcPts val="2240"/>
              </a:lnSpc>
              <a:spcBef>
                <a:spcPct val="0"/>
              </a:spcBef>
            </a:pPr>
            <a:r>
              <a:rPr lang="en-US" sz="1600">
                <a:solidFill>
                  <a:srgbClr val="000000"/>
                </a:solidFill>
                <a:latin typeface="TT Hoves"/>
                <a:ea typeface="TT Hoves"/>
                <a:cs typeface="TT Hoves"/>
                <a:sym typeface="TT Hoves"/>
              </a:rPr>
              <a:t>Upd</a:t>
            </a:r>
            <a:r>
              <a:rPr lang="en-US" sz="1600">
                <a:solidFill>
                  <a:srgbClr val="000000"/>
                </a:solidFill>
                <a:latin typeface="TT Hoves"/>
                <a:ea typeface="TT Hoves"/>
                <a:cs typeface="TT Hoves"/>
                <a:sym typeface="TT Hoves"/>
              </a:rPr>
              <a:t>ate processes and product consistently for sustainable continuous growth</a:t>
            </a:r>
          </a:p>
        </p:txBody>
      </p:sp>
      <p:sp>
        <p:nvSpPr>
          <p:cNvPr name="TextBox 35" id="35"/>
          <p:cNvSpPr txBox="true"/>
          <p:nvPr/>
        </p:nvSpPr>
        <p:spPr>
          <a:xfrm rot="0">
            <a:off x="14777497" y="8077742"/>
            <a:ext cx="2813778" cy="316211"/>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TT Hoves Bold"/>
                <a:ea typeface="TT Hoves Bold"/>
                <a:cs typeface="TT Hoves Bold"/>
                <a:sym typeface="TT Hoves Bold"/>
              </a:rPr>
              <a:t>Refine Cycle</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933225" y="5199376"/>
            <a:ext cx="5167312" cy="1201049"/>
            <a:chOff x="0" y="0"/>
            <a:chExt cx="812800" cy="188921"/>
          </a:xfrm>
        </p:grpSpPr>
        <p:sp>
          <p:nvSpPr>
            <p:cNvPr name="Freeform 3" id="3"/>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4" id="4"/>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2796168" y="4796766"/>
            <a:ext cx="5700075" cy="2006269"/>
            <a:chOff x="0" y="0"/>
            <a:chExt cx="1731954" cy="609600"/>
          </a:xfrm>
        </p:grpSpPr>
        <p:sp>
          <p:nvSpPr>
            <p:cNvPr name="Freeform 6" id="6"/>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7" id="7"/>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2042244"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9" id="9"/>
          <p:cNvGrpSpPr/>
          <p:nvPr/>
        </p:nvGrpSpPr>
        <p:grpSpPr>
          <a:xfrm rot="0">
            <a:off x="9871371" y="5199376"/>
            <a:ext cx="5167312" cy="1201049"/>
            <a:chOff x="0" y="0"/>
            <a:chExt cx="812800" cy="188921"/>
          </a:xfrm>
        </p:grpSpPr>
        <p:sp>
          <p:nvSpPr>
            <p:cNvPr name="Freeform 10" id="10"/>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11" id="11"/>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2" id="12"/>
          <p:cNvGrpSpPr/>
          <p:nvPr/>
        </p:nvGrpSpPr>
        <p:grpSpPr>
          <a:xfrm rot="0">
            <a:off x="10654700" y="4796766"/>
            <a:ext cx="5700075" cy="2006269"/>
            <a:chOff x="0" y="0"/>
            <a:chExt cx="1731954" cy="609600"/>
          </a:xfrm>
        </p:grpSpPr>
        <p:sp>
          <p:nvSpPr>
            <p:cNvPr name="Freeform 13" id="13"/>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14" id="14"/>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15" id="15"/>
          <p:cNvSpPr txBox="true"/>
          <p:nvPr/>
        </p:nvSpPr>
        <p:spPr>
          <a:xfrm rot="0">
            <a:off x="9993568"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16" id="16"/>
          <p:cNvGrpSpPr/>
          <p:nvPr/>
        </p:nvGrpSpPr>
        <p:grpSpPr>
          <a:xfrm rot="0">
            <a:off x="9871371" y="7654641"/>
            <a:ext cx="5167312" cy="1201049"/>
            <a:chOff x="0" y="0"/>
            <a:chExt cx="812800" cy="188921"/>
          </a:xfrm>
        </p:grpSpPr>
        <p:sp>
          <p:nvSpPr>
            <p:cNvPr name="Freeform 17" id="17"/>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18" id="18"/>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9" id="19"/>
          <p:cNvGrpSpPr/>
          <p:nvPr/>
        </p:nvGrpSpPr>
        <p:grpSpPr>
          <a:xfrm rot="0">
            <a:off x="10654700" y="7252031"/>
            <a:ext cx="5700075" cy="2006269"/>
            <a:chOff x="0" y="0"/>
            <a:chExt cx="1731954" cy="609600"/>
          </a:xfrm>
        </p:grpSpPr>
        <p:sp>
          <p:nvSpPr>
            <p:cNvPr name="Freeform 20" id="20"/>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21" id="21"/>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9993568"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23" id="23"/>
          <p:cNvGrpSpPr/>
          <p:nvPr/>
        </p:nvGrpSpPr>
        <p:grpSpPr>
          <a:xfrm rot="0">
            <a:off x="1933225" y="7654641"/>
            <a:ext cx="5167312" cy="1201049"/>
            <a:chOff x="0" y="0"/>
            <a:chExt cx="812800" cy="188921"/>
          </a:xfrm>
        </p:grpSpPr>
        <p:sp>
          <p:nvSpPr>
            <p:cNvPr name="Freeform 24" id="24"/>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25" id="25"/>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26" id="26"/>
          <p:cNvGrpSpPr/>
          <p:nvPr/>
        </p:nvGrpSpPr>
        <p:grpSpPr>
          <a:xfrm rot="0">
            <a:off x="2875782" y="7252031"/>
            <a:ext cx="5700075" cy="2006269"/>
            <a:chOff x="0" y="0"/>
            <a:chExt cx="1731954" cy="609600"/>
          </a:xfrm>
        </p:grpSpPr>
        <p:sp>
          <p:nvSpPr>
            <p:cNvPr name="Freeform 27" id="27"/>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28" id="28"/>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2042244"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0" id="30"/>
          <p:cNvGrpSpPr/>
          <p:nvPr/>
        </p:nvGrpSpPr>
        <p:grpSpPr>
          <a:xfrm rot="0">
            <a:off x="9871371" y="2745432"/>
            <a:ext cx="5167312" cy="1201049"/>
            <a:chOff x="0" y="0"/>
            <a:chExt cx="812800" cy="188921"/>
          </a:xfrm>
        </p:grpSpPr>
        <p:sp>
          <p:nvSpPr>
            <p:cNvPr name="Freeform 31" id="31"/>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32" id="32"/>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33" id="33"/>
          <p:cNvGrpSpPr/>
          <p:nvPr/>
        </p:nvGrpSpPr>
        <p:grpSpPr>
          <a:xfrm rot="0">
            <a:off x="10654700" y="2342822"/>
            <a:ext cx="5700075" cy="2006269"/>
            <a:chOff x="0" y="0"/>
            <a:chExt cx="1731954" cy="609600"/>
          </a:xfrm>
        </p:grpSpPr>
        <p:sp>
          <p:nvSpPr>
            <p:cNvPr name="Freeform 34" id="34"/>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35" id="35"/>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36" id="36"/>
          <p:cNvSpPr txBox="true"/>
          <p:nvPr/>
        </p:nvSpPr>
        <p:spPr>
          <a:xfrm rot="0">
            <a:off x="9993568"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37" id="37"/>
          <p:cNvGrpSpPr/>
          <p:nvPr/>
        </p:nvGrpSpPr>
        <p:grpSpPr>
          <a:xfrm rot="0">
            <a:off x="1933225" y="2745432"/>
            <a:ext cx="5167312" cy="1201049"/>
            <a:chOff x="0" y="0"/>
            <a:chExt cx="812800" cy="188921"/>
          </a:xfrm>
        </p:grpSpPr>
        <p:sp>
          <p:nvSpPr>
            <p:cNvPr name="Freeform 38" id="38"/>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39" id="39"/>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40" id="40"/>
          <p:cNvGrpSpPr/>
          <p:nvPr/>
        </p:nvGrpSpPr>
        <p:grpSpPr>
          <a:xfrm rot="0">
            <a:off x="2716554" y="2342822"/>
            <a:ext cx="5700075" cy="2006269"/>
            <a:chOff x="0" y="0"/>
            <a:chExt cx="1731954" cy="609600"/>
          </a:xfrm>
        </p:grpSpPr>
        <p:sp>
          <p:nvSpPr>
            <p:cNvPr name="Freeform 41" id="41"/>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42" id="42"/>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43" id="43"/>
          <p:cNvSpPr txBox="true"/>
          <p:nvPr/>
        </p:nvSpPr>
        <p:spPr>
          <a:xfrm rot="0">
            <a:off x="2042244"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44" id="44"/>
          <p:cNvSpPr txBox="true"/>
          <p:nvPr/>
        </p:nvSpPr>
        <p:spPr>
          <a:xfrm rot="0">
            <a:off x="3665152"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5" id="45"/>
          <p:cNvSpPr txBox="true"/>
          <p:nvPr/>
        </p:nvSpPr>
        <p:spPr>
          <a:xfrm rot="0">
            <a:off x="11535889"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6" id="46"/>
          <p:cNvSpPr txBox="true"/>
          <p:nvPr/>
        </p:nvSpPr>
        <p:spPr>
          <a:xfrm rot="0">
            <a:off x="3665152"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7" id="47"/>
          <p:cNvSpPr txBox="true"/>
          <p:nvPr/>
        </p:nvSpPr>
        <p:spPr>
          <a:xfrm rot="0">
            <a:off x="11535889"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8" id="48"/>
          <p:cNvSpPr txBox="true"/>
          <p:nvPr/>
        </p:nvSpPr>
        <p:spPr>
          <a:xfrm rot="0">
            <a:off x="3692007"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49" id="49"/>
          <p:cNvSpPr txBox="true"/>
          <p:nvPr/>
        </p:nvSpPr>
        <p:spPr>
          <a:xfrm rot="0">
            <a:off x="11562744"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50" id="50"/>
          <p:cNvSpPr txBox="true"/>
          <p:nvPr/>
        </p:nvSpPr>
        <p:spPr>
          <a:xfrm rot="0">
            <a:off x="3692007"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G</a:t>
            </a:r>
            <a:r>
              <a:rPr lang="en-US" b="true" sz="1974">
                <a:solidFill>
                  <a:srgbClr val="1C1C1A"/>
                </a:solidFill>
                <a:latin typeface="Montserrat Ultra-Bold"/>
                <a:ea typeface="Montserrat Ultra-Bold"/>
                <a:cs typeface="Montserrat Ultra-Bold"/>
                <a:sym typeface="Montserrat Ultra-Bold"/>
              </a:rPr>
              <a:t>reat idea</a:t>
            </a:r>
          </a:p>
        </p:txBody>
      </p:sp>
      <p:sp>
        <p:nvSpPr>
          <p:cNvPr name="TextBox 51" id="51"/>
          <p:cNvSpPr txBox="true"/>
          <p:nvPr/>
        </p:nvSpPr>
        <p:spPr>
          <a:xfrm rot="0">
            <a:off x="11562744"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52" id="52"/>
          <p:cNvSpPr txBox="true"/>
          <p:nvPr/>
        </p:nvSpPr>
        <p:spPr>
          <a:xfrm rot="0">
            <a:off x="3665152"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3" id="53"/>
          <p:cNvSpPr txBox="true"/>
          <p:nvPr/>
        </p:nvSpPr>
        <p:spPr>
          <a:xfrm rot="0">
            <a:off x="11535889"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4" id="54"/>
          <p:cNvSpPr txBox="true"/>
          <p:nvPr/>
        </p:nvSpPr>
        <p:spPr>
          <a:xfrm rot="0">
            <a:off x="3692007"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Creative</a:t>
            </a:r>
            <a:r>
              <a:rPr lang="en-US" b="true" sz="1974">
                <a:solidFill>
                  <a:srgbClr val="1C1C1A"/>
                </a:solidFill>
                <a:latin typeface="Montserrat Ultra-Bold"/>
                <a:ea typeface="Montserrat Ultra-Bold"/>
                <a:cs typeface="Montserrat Ultra-Bold"/>
                <a:sym typeface="Montserrat Ultra-Bold"/>
              </a:rPr>
              <a:t> idea</a:t>
            </a:r>
          </a:p>
        </p:txBody>
      </p:sp>
      <p:sp>
        <p:nvSpPr>
          <p:cNvPr name="TextBox 55" id="55"/>
          <p:cNvSpPr txBox="true"/>
          <p:nvPr/>
        </p:nvSpPr>
        <p:spPr>
          <a:xfrm rot="0">
            <a:off x="11562744"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Nice idea</a:t>
            </a:r>
          </a:p>
        </p:txBody>
      </p:sp>
      <p:sp>
        <p:nvSpPr>
          <p:cNvPr name="TextBox 56" id="56"/>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sp>
        <p:nvSpPr>
          <p:cNvPr name="AutoShape 2" id="2"/>
          <p:cNvSpPr/>
          <p:nvPr/>
        </p:nvSpPr>
        <p:spPr>
          <a:xfrm>
            <a:off x="551431" y="4495196"/>
            <a:ext cx="17112407" cy="0"/>
          </a:xfrm>
          <a:prstGeom prst="line">
            <a:avLst/>
          </a:prstGeom>
          <a:ln cap="flat" w="47625">
            <a:solidFill>
              <a:srgbClr val="8D9193"/>
            </a:solidFill>
            <a:prstDash val="sysDot"/>
            <a:headEnd type="none" len="sm" w="sm"/>
            <a:tailEnd type="none" len="sm" w="sm"/>
          </a:ln>
        </p:spPr>
      </p:sp>
      <p:sp>
        <p:nvSpPr>
          <p:cNvPr name="AutoShape 3" id="3"/>
          <p:cNvSpPr/>
          <p:nvPr/>
        </p:nvSpPr>
        <p:spPr>
          <a:xfrm flipV="true">
            <a:off x="11683472" y="3541406"/>
            <a:ext cx="0" cy="1774230"/>
          </a:xfrm>
          <a:prstGeom prst="line">
            <a:avLst/>
          </a:prstGeom>
          <a:ln cap="flat" w="47625">
            <a:solidFill>
              <a:srgbClr val="8D9193"/>
            </a:solidFill>
            <a:prstDash val="sysDot"/>
            <a:headEnd type="none" len="sm" w="sm"/>
            <a:tailEnd type="none" len="sm" w="sm"/>
          </a:ln>
        </p:spPr>
      </p:sp>
      <p:grpSp>
        <p:nvGrpSpPr>
          <p:cNvPr name="Group 4" id="4"/>
          <p:cNvGrpSpPr/>
          <p:nvPr/>
        </p:nvGrpSpPr>
        <p:grpSpPr>
          <a:xfrm rot="0">
            <a:off x="334958" y="5315636"/>
            <a:ext cx="2381250" cy="4362025"/>
            <a:chOff x="0" y="0"/>
            <a:chExt cx="702036" cy="1286005"/>
          </a:xfrm>
        </p:grpSpPr>
        <p:sp>
          <p:nvSpPr>
            <p:cNvPr name="Freeform 5" id="5"/>
            <p:cNvSpPr/>
            <p:nvPr/>
          </p:nvSpPr>
          <p:spPr>
            <a:xfrm flipH="false" flipV="false" rot="0">
              <a:off x="0" y="0"/>
              <a:ext cx="702036" cy="1286005"/>
            </a:xfrm>
            <a:custGeom>
              <a:avLst/>
              <a:gdLst/>
              <a:ahLst/>
              <a:cxnLst/>
              <a:rect r="r" b="b" t="t" l="l"/>
              <a:pathLst>
                <a:path h="1286005" w="702036">
                  <a:moveTo>
                    <a:pt x="146304" y="0"/>
                  </a:moveTo>
                  <a:lnTo>
                    <a:pt x="555732" y="0"/>
                  </a:lnTo>
                  <a:cubicBezTo>
                    <a:pt x="594535" y="0"/>
                    <a:pt x="631748" y="15414"/>
                    <a:pt x="659185" y="42851"/>
                  </a:cubicBezTo>
                  <a:cubicBezTo>
                    <a:pt x="686622" y="70289"/>
                    <a:pt x="702036" y="107502"/>
                    <a:pt x="702036" y="146304"/>
                  </a:cubicBezTo>
                  <a:lnTo>
                    <a:pt x="702036" y="1139701"/>
                  </a:lnTo>
                  <a:cubicBezTo>
                    <a:pt x="702036" y="1178504"/>
                    <a:pt x="686622" y="1215717"/>
                    <a:pt x="659185" y="1243154"/>
                  </a:cubicBezTo>
                  <a:cubicBezTo>
                    <a:pt x="631748" y="1270591"/>
                    <a:pt x="594535" y="1286005"/>
                    <a:pt x="555732" y="1286005"/>
                  </a:cubicBezTo>
                  <a:lnTo>
                    <a:pt x="146304" y="1286005"/>
                  </a:lnTo>
                  <a:cubicBezTo>
                    <a:pt x="65503" y="1286005"/>
                    <a:pt x="0" y="1220503"/>
                    <a:pt x="0" y="1139701"/>
                  </a:cubicBezTo>
                  <a:lnTo>
                    <a:pt x="0" y="146304"/>
                  </a:lnTo>
                  <a:cubicBezTo>
                    <a:pt x="0" y="65503"/>
                    <a:pt x="65503" y="0"/>
                    <a:pt x="146304" y="0"/>
                  </a:cubicBezTo>
                  <a:close/>
                </a:path>
              </a:pathLst>
            </a:custGeom>
            <a:solidFill>
              <a:srgbClr val="EAE0FF"/>
            </a:solidFill>
            <a:ln cap="rnd">
              <a:noFill/>
              <a:prstDash val="solid"/>
              <a:round/>
            </a:ln>
          </p:spPr>
        </p:sp>
        <p:sp>
          <p:nvSpPr>
            <p:cNvPr name="TextBox 6" id="6"/>
            <p:cNvSpPr txBox="true"/>
            <p:nvPr/>
          </p:nvSpPr>
          <p:spPr>
            <a:xfrm>
              <a:off x="0" y="-38100"/>
              <a:ext cx="702036" cy="1324105"/>
            </a:xfrm>
            <a:prstGeom prst="rect">
              <a:avLst/>
            </a:prstGeom>
          </p:spPr>
          <p:txBody>
            <a:bodyPr anchor="ctr" rtlCol="false" tIns="71438" lIns="71438" bIns="71438" rIns="71438"/>
            <a:lstStyle/>
            <a:p>
              <a:pPr algn="ctr">
                <a:lnSpc>
                  <a:spcPts val="2756"/>
                </a:lnSpc>
              </a:pPr>
            </a:p>
          </p:txBody>
        </p:sp>
      </p:grpSp>
      <p:sp>
        <p:nvSpPr>
          <p:cNvPr name="AutoShape 7" id="7"/>
          <p:cNvSpPr/>
          <p:nvPr/>
        </p:nvSpPr>
        <p:spPr>
          <a:xfrm flipV="true">
            <a:off x="1525583" y="3541406"/>
            <a:ext cx="0" cy="1774230"/>
          </a:xfrm>
          <a:prstGeom prst="line">
            <a:avLst/>
          </a:prstGeom>
          <a:ln cap="flat" w="47625">
            <a:solidFill>
              <a:srgbClr val="8D9193"/>
            </a:solidFill>
            <a:prstDash val="sysDot"/>
            <a:headEnd type="none" len="sm" w="sm"/>
            <a:tailEnd type="none" len="sm" w="sm"/>
          </a:ln>
        </p:spPr>
      </p:sp>
      <p:grpSp>
        <p:nvGrpSpPr>
          <p:cNvPr name="Group 8" id="8"/>
          <p:cNvGrpSpPr/>
          <p:nvPr/>
        </p:nvGrpSpPr>
        <p:grpSpPr>
          <a:xfrm rot="0">
            <a:off x="864761" y="2219761"/>
            <a:ext cx="1321645" cy="13216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1" id="11"/>
          <p:cNvSpPr txBox="true"/>
          <p:nvPr/>
        </p:nvSpPr>
        <p:spPr>
          <a:xfrm rot="0">
            <a:off x="496883"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12" id="12"/>
          <p:cNvSpPr txBox="true"/>
          <p:nvPr/>
        </p:nvSpPr>
        <p:spPr>
          <a:xfrm rot="0">
            <a:off x="1163306" y="2500368"/>
            <a:ext cx="72455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grpSp>
        <p:nvGrpSpPr>
          <p:cNvPr name="Group 13" id="13"/>
          <p:cNvGrpSpPr/>
          <p:nvPr/>
        </p:nvGrpSpPr>
        <p:grpSpPr>
          <a:xfrm rot="0">
            <a:off x="1212142" y="4059831"/>
            <a:ext cx="626884" cy="483459"/>
            <a:chOff x="0" y="0"/>
            <a:chExt cx="922188" cy="711200"/>
          </a:xfrm>
        </p:grpSpPr>
        <p:sp>
          <p:nvSpPr>
            <p:cNvPr name="Freeform 14" id="14"/>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15" id="15"/>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16" id="16"/>
          <p:cNvSpPr txBox="true"/>
          <p:nvPr/>
        </p:nvSpPr>
        <p:spPr>
          <a:xfrm rot="0">
            <a:off x="784181"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Creative idea</a:t>
            </a:r>
          </a:p>
        </p:txBody>
      </p:sp>
      <p:grpSp>
        <p:nvGrpSpPr>
          <p:cNvPr name="Group 17" id="17"/>
          <p:cNvGrpSpPr/>
          <p:nvPr/>
        </p:nvGrpSpPr>
        <p:grpSpPr>
          <a:xfrm rot="0">
            <a:off x="2874431" y="5315636"/>
            <a:ext cx="2381250" cy="4362025"/>
            <a:chOff x="0" y="0"/>
            <a:chExt cx="686632" cy="1257787"/>
          </a:xfrm>
        </p:grpSpPr>
        <p:sp>
          <p:nvSpPr>
            <p:cNvPr name="Freeform 18" id="18"/>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19" id="19"/>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20" id="20"/>
          <p:cNvSpPr/>
          <p:nvPr/>
        </p:nvSpPr>
        <p:spPr>
          <a:xfrm flipV="true">
            <a:off x="4065056" y="3541406"/>
            <a:ext cx="0" cy="1774230"/>
          </a:xfrm>
          <a:prstGeom prst="line">
            <a:avLst/>
          </a:prstGeom>
          <a:ln cap="flat" w="47625">
            <a:solidFill>
              <a:srgbClr val="8D9193"/>
            </a:solidFill>
            <a:prstDash val="sysDot"/>
            <a:headEnd type="none" len="sm" w="sm"/>
            <a:tailEnd type="none" len="sm" w="sm"/>
          </a:ln>
        </p:spPr>
      </p:sp>
      <p:grpSp>
        <p:nvGrpSpPr>
          <p:cNvPr name="Group 21" id="21"/>
          <p:cNvGrpSpPr/>
          <p:nvPr/>
        </p:nvGrpSpPr>
        <p:grpSpPr>
          <a:xfrm rot="0">
            <a:off x="3404233" y="2219761"/>
            <a:ext cx="1321645" cy="132164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23" id="2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4" id="24"/>
          <p:cNvSpPr txBox="true"/>
          <p:nvPr/>
        </p:nvSpPr>
        <p:spPr>
          <a:xfrm rot="0">
            <a:off x="3036356"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5" id="25"/>
          <p:cNvSpPr txBox="true"/>
          <p:nvPr/>
        </p:nvSpPr>
        <p:spPr>
          <a:xfrm rot="0">
            <a:off x="3548434"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26" id="26"/>
          <p:cNvGrpSpPr/>
          <p:nvPr/>
        </p:nvGrpSpPr>
        <p:grpSpPr>
          <a:xfrm rot="0">
            <a:off x="3751614" y="4059831"/>
            <a:ext cx="626884" cy="483459"/>
            <a:chOff x="0" y="0"/>
            <a:chExt cx="922188" cy="711200"/>
          </a:xfrm>
        </p:grpSpPr>
        <p:sp>
          <p:nvSpPr>
            <p:cNvPr name="Freeform 27" id="27"/>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28" id="28"/>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3323654"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Original idea</a:t>
            </a:r>
          </a:p>
        </p:txBody>
      </p:sp>
      <p:sp>
        <p:nvSpPr>
          <p:cNvPr name="AutoShape 30" id="30"/>
          <p:cNvSpPr/>
          <p:nvPr/>
        </p:nvSpPr>
        <p:spPr>
          <a:xfrm flipV="true">
            <a:off x="6604528" y="3541406"/>
            <a:ext cx="0" cy="1774230"/>
          </a:xfrm>
          <a:prstGeom prst="line">
            <a:avLst/>
          </a:prstGeom>
          <a:ln cap="flat" w="47625">
            <a:solidFill>
              <a:srgbClr val="8D9193"/>
            </a:solidFill>
            <a:prstDash val="sysDot"/>
            <a:headEnd type="none" len="sm" w="sm"/>
            <a:tailEnd type="none" len="sm" w="sm"/>
          </a:ln>
        </p:spPr>
      </p:sp>
      <p:grpSp>
        <p:nvGrpSpPr>
          <p:cNvPr name="Group 31" id="31"/>
          <p:cNvGrpSpPr/>
          <p:nvPr/>
        </p:nvGrpSpPr>
        <p:grpSpPr>
          <a:xfrm rot="0">
            <a:off x="5413903" y="5315636"/>
            <a:ext cx="2381250" cy="4362025"/>
            <a:chOff x="0" y="0"/>
            <a:chExt cx="686632" cy="1257787"/>
          </a:xfrm>
        </p:grpSpPr>
        <p:sp>
          <p:nvSpPr>
            <p:cNvPr name="Freeform 32" id="32"/>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B5EBEF"/>
            </a:solidFill>
            <a:ln cap="rnd">
              <a:noFill/>
              <a:prstDash val="solid"/>
              <a:round/>
            </a:ln>
          </p:spPr>
        </p:sp>
        <p:sp>
          <p:nvSpPr>
            <p:cNvPr name="TextBox 33" id="33"/>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34" id="34"/>
          <p:cNvGrpSpPr/>
          <p:nvPr/>
        </p:nvGrpSpPr>
        <p:grpSpPr>
          <a:xfrm rot="0">
            <a:off x="5943705" y="2219761"/>
            <a:ext cx="1321645" cy="132164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36" id="3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7" id="37"/>
          <p:cNvSpPr txBox="true"/>
          <p:nvPr/>
        </p:nvSpPr>
        <p:spPr>
          <a:xfrm rot="0">
            <a:off x="5575828"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8" id="38"/>
          <p:cNvSpPr txBox="true"/>
          <p:nvPr/>
        </p:nvSpPr>
        <p:spPr>
          <a:xfrm rot="0">
            <a:off x="6087906"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9" id="39"/>
          <p:cNvGrpSpPr/>
          <p:nvPr/>
        </p:nvGrpSpPr>
        <p:grpSpPr>
          <a:xfrm rot="0">
            <a:off x="6291086" y="4059831"/>
            <a:ext cx="626884" cy="483459"/>
            <a:chOff x="0" y="0"/>
            <a:chExt cx="922188" cy="711200"/>
          </a:xfrm>
        </p:grpSpPr>
        <p:sp>
          <p:nvSpPr>
            <p:cNvPr name="Freeform 40" id="40"/>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42" id="42"/>
          <p:cNvSpPr txBox="true"/>
          <p:nvPr/>
        </p:nvSpPr>
        <p:spPr>
          <a:xfrm rot="0">
            <a:off x="6087906" y="5829986"/>
            <a:ext cx="1028935"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Great idea</a:t>
            </a:r>
          </a:p>
        </p:txBody>
      </p:sp>
      <p:grpSp>
        <p:nvGrpSpPr>
          <p:cNvPr name="Group 43" id="43"/>
          <p:cNvGrpSpPr/>
          <p:nvPr/>
        </p:nvGrpSpPr>
        <p:grpSpPr>
          <a:xfrm rot="0">
            <a:off x="7953375" y="5315636"/>
            <a:ext cx="2381250" cy="4362025"/>
            <a:chOff x="0" y="0"/>
            <a:chExt cx="686632" cy="1257787"/>
          </a:xfrm>
        </p:grpSpPr>
        <p:sp>
          <p:nvSpPr>
            <p:cNvPr name="Freeform 44" id="44"/>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E8A3"/>
            </a:solidFill>
            <a:ln cap="rnd">
              <a:noFill/>
              <a:prstDash val="solid"/>
              <a:round/>
            </a:ln>
          </p:spPr>
        </p:sp>
        <p:sp>
          <p:nvSpPr>
            <p:cNvPr name="TextBox 45" id="45"/>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46" id="46"/>
          <p:cNvSpPr/>
          <p:nvPr/>
        </p:nvSpPr>
        <p:spPr>
          <a:xfrm flipV="true">
            <a:off x="9144000" y="3541406"/>
            <a:ext cx="0" cy="1774230"/>
          </a:xfrm>
          <a:prstGeom prst="line">
            <a:avLst/>
          </a:prstGeom>
          <a:ln cap="flat" w="47625">
            <a:solidFill>
              <a:srgbClr val="8D9193"/>
            </a:solidFill>
            <a:prstDash val="sysDot"/>
            <a:headEnd type="none" len="sm" w="sm"/>
            <a:tailEnd type="none" len="sm" w="sm"/>
          </a:ln>
        </p:spPr>
      </p:sp>
      <p:grpSp>
        <p:nvGrpSpPr>
          <p:cNvPr name="Group 47" id="47"/>
          <p:cNvGrpSpPr/>
          <p:nvPr/>
        </p:nvGrpSpPr>
        <p:grpSpPr>
          <a:xfrm rot="0">
            <a:off x="8483177" y="2219761"/>
            <a:ext cx="1321645" cy="1321645"/>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49" id="49"/>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0" id="50"/>
          <p:cNvSpPr txBox="true"/>
          <p:nvPr/>
        </p:nvSpPr>
        <p:spPr>
          <a:xfrm rot="0">
            <a:off x="8115300"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51" id="51"/>
          <p:cNvSpPr txBox="true"/>
          <p:nvPr/>
        </p:nvSpPr>
        <p:spPr>
          <a:xfrm rot="0">
            <a:off x="8627378"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52" id="52"/>
          <p:cNvGrpSpPr/>
          <p:nvPr/>
        </p:nvGrpSpPr>
        <p:grpSpPr>
          <a:xfrm rot="0">
            <a:off x="8830558" y="4059831"/>
            <a:ext cx="626884" cy="483459"/>
            <a:chOff x="0" y="0"/>
            <a:chExt cx="922188" cy="711200"/>
          </a:xfrm>
        </p:grpSpPr>
        <p:sp>
          <p:nvSpPr>
            <p:cNvPr name="Freeform 53" id="53"/>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DDA707"/>
            </a:solidFill>
            <a:ln cap="sq">
              <a:noFill/>
              <a:prstDash val="solid"/>
              <a:miter/>
            </a:ln>
          </p:spPr>
        </p:sp>
        <p:sp>
          <p:nvSpPr>
            <p:cNvPr name="TextBox 54" id="5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55" id="55"/>
          <p:cNvSpPr txBox="true"/>
          <p:nvPr/>
        </p:nvSpPr>
        <p:spPr>
          <a:xfrm rot="0">
            <a:off x="8402598"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modern</a:t>
            </a:r>
          </a:p>
        </p:txBody>
      </p:sp>
      <p:grpSp>
        <p:nvGrpSpPr>
          <p:cNvPr name="Group 56" id="56"/>
          <p:cNvGrpSpPr/>
          <p:nvPr/>
        </p:nvGrpSpPr>
        <p:grpSpPr>
          <a:xfrm rot="0">
            <a:off x="10492847" y="5315636"/>
            <a:ext cx="2381250" cy="4362025"/>
            <a:chOff x="0" y="0"/>
            <a:chExt cx="686632" cy="1257787"/>
          </a:xfrm>
        </p:grpSpPr>
        <p:sp>
          <p:nvSpPr>
            <p:cNvPr name="Freeform 57" id="57"/>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EAE0FF"/>
            </a:solidFill>
            <a:ln cap="rnd">
              <a:noFill/>
              <a:prstDash val="solid"/>
              <a:round/>
            </a:ln>
          </p:spPr>
        </p:sp>
        <p:sp>
          <p:nvSpPr>
            <p:cNvPr name="TextBox 58" id="58"/>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59" id="59"/>
          <p:cNvGrpSpPr/>
          <p:nvPr/>
        </p:nvGrpSpPr>
        <p:grpSpPr>
          <a:xfrm rot="0">
            <a:off x="11022649" y="2219761"/>
            <a:ext cx="1321645" cy="1321645"/>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61" id="61"/>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62" id="62"/>
          <p:cNvSpPr txBox="true"/>
          <p:nvPr/>
        </p:nvSpPr>
        <p:spPr>
          <a:xfrm rot="0">
            <a:off x="10654772"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3" id="63"/>
          <p:cNvSpPr txBox="true"/>
          <p:nvPr/>
        </p:nvSpPr>
        <p:spPr>
          <a:xfrm rot="0">
            <a:off x="11166850"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64" id="64"/>
          <p:cNvGrpSpPr/>
          <p:nvPr/>
        </p:nvGrpSpPr>
        <p:grpSpPr>
          <a:xfrm rot="0">
            <a:off x="11370030" y="4059831"/>
            <a:ext cx="626884" cy="483459"/>
            <a:chOff x="0" y="0"/>
            <a:chExt cx="922188" cy="711200"/>
          </a:xfrm>
        </p:grpSpPr>
        <p:sp>
          <p:nvSpPr>
            <p:cNvPr name="Freeform 65" id="65"/>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66" id="6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67" id="67"/>
          <p:cNvSpPr txBox="true"/>
          <p:nvPr/>
        </p:nvSpPr>
        <p:spPr>
          <a:xfrm rot="0">
            <a:off x="10777190" y="5839457"/>
            <a:ext cx="1812564" cy="628015"/>
          </a:xfrm>
          <a:prstGeom prst="rect">
            <a:avLst/>
          </a:prstGeom>
        </p:spPr>
        <p:txBody>
          <a:bodyPr anchor="t" rtlCol="false" tIns="0" lIns="0" bIns="0" rIns="0">
            <a:spAutoFit/>
          </a:bodyPr>
          <a:lstStyle/>
          <a:p>
            <a:pPr algn="ctr" marL="0" indent="0" lvl="0">
              <a:lnSpc>
                <a:spcPts val="2501"/>
              </a:lnSpc>
            </a:pPr>
            <a:r>
              <a:rPr lang="en-US" b="true" sz="2016">
                <a:solidFill>
                  <a:srgbClr val="1C1C1A"/>
                </a:solidFill>
                <a:latin typeface="Montserrat Ultra-Bold"/>
                <a:ea typeface="Montserrat Ultra-Bold"/>
                <a:cs typeface="Montserrat Ultra-Bold"/>
                <a:sym typeface="Montserrat Ultra-Bold"/>
              </a:rPr>
              <a:t>Phenomenal idea</a:t>
            </a:r>
          </a:p>
        </p:txBody>
      </p:sp>
      <p:grpSp>
        <p:nvGrpSpPr>
          <p:cNvPr name="Group 68" id="68"/>
          <p:cNvGrpSpPr/>
          <p:nvPr/>
        </p:nvGrpSpPr>
        <p:grpSpPr>
          <a:xfrm rot="0">
            <a:off x="13032319" y="5315636"/>
            <a:ext cx="2381250" cy="4362025"/>
            <a:chOff x="0" y="0"/>
            <a:chExt cx="686632" cy="1257787"/>
          </a:xfrm>
        </p:grpSpPr>
        <p:sp>
          <p:nvSpPr>
            <p:cNvPr name="Freeform 69" id="69"/>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70" id="70"/>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71" id="71"/>
          <p:cNvSpPr/>
          <p:nvPr/>
        </p:nvSpPr>
        <p:spPr>
          <a:xfrm flipV="true">
            <a:off x="14222944" y="3541406"/>
            <a:ext cx="0" cy="1774230"/>
          </a:xfrm>
          <a:prstGeom prst="line">
            <a:avLst/>
          </a:prstGeom>
          <a:ln cap="flat" w="47625">
            <a:solidFill>
              <a:srgbClr val="8D9193"/>
            </a:solidFill>
            <a:prstDash val="sysDot"/>
            <a:headEnd type="none" len="sm" w="sm"/>
            <a:tailEnd type="none" len="sm" w="sm"/>
          </a:ln>
        </p:spPr>
      </p:sp>
      <p:grpSp>
        <p:nvGrpSpPr>
          <p:cNvPr name="Group 72" id="72"/>
          <p:cNvGrpSpPr/>
          <p:nvPr/>
        </p:nvGrpSpPr>
        <p:grpSpPr>
          <a:xfrm rot="0">
            <a:off x="13562122" y="2219761"/>
            <a:ext cx="1321645" cy="1321645"/>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74" id="7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75" id="75"/>
          <p:cNvSpPr txBox="true"/>
          <p:nvPr/>
        </p:nvSpPr>
        <p:spPr>
          <a:xfrm rot="0">
            <a:off x="13194244"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76" id="76"/>
          <p:cNvSpPr txBox="true"/>
          <p:nvPr/>
        </p:nvSpPr>
        <p:spPr>
          <a:xfrm rot="0">
            <a:off x="13706323"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77" id="77"/>
          <p:cNvGrpSpPr/>
          <p:nvPr/>
        </p:nvGrpSpPr>
        <p:grpSpPr>
          <a:xfrm rot="0">
            <a:off x="13909503" y="4059831"/>
            <a:ext cx="626884" cy="483459"/>
            <a:chOff x="0" y="0"/>
            <a:chExt cx="922188" cy="711200"/>
          </a:xfrm>
        </p:grpSpPr>
        <p:sp>
          <p:nvSpPr>
            <p:cNvPr name="Freeform 78" id="78"/>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79" id="79"/>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80" id="80"/>
          <p:cNvSpPr txBox="true"/>
          <p:nvPr/>
        </p:nvSpPr>
        <p:spPr>
          <a:xfrm rot="0">
            <a:off x="13481543"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Brilliant idea</a:t>
            </a:r>
          </a:p>
        </p:txBody>
      </p:sp>
      <p:grpSp>
        <p:nvGrpSpPr>
          <p:cNvPr name="Group 81" id="81"/>
          <p:cNvGrpSpPr/>
          <p:nvPr/>
        </p:nvGrpSpPr>
        <p:grpSpPr>
          <a:xfrm rot="0">
            <a:off x="15571792" y="5315636"/>
            <a:ext cx="2381250" cy="4362025"/>
            <a:chOff x="0" y="0"/>
            <a:chExt cx="710430" cy="1301380"/>
          </a:xfrm>
        </p:grpSpPr>
        <p:sp>
          <p:nvSpPr>
            <p:cNvPr name="Freeform 82" id="82"/>
            <p:cNvSpPr/>
            <p:nvPr/>
          </p:nvSpPr>
          <p:spPr>
            <a:xfrm flipH="false" flipV="false" rot="0">
              <a:off x="0" y="0"/>
              <a:ext cx="710430" cy="1301380"/>
            </a:xfrm>
            <a:custGeom>
              <a:avLst/>
              <a:gdLst/>
              <a:ahLst/>
              <a:cxnLst/>
              <a:rect r="r" b="b" t="t" l="l"/>
              <a:pathLst>
                <a:path h="1301380" w="710430">
                  <a:moveTo>
                    <a:pt x="130048" y="0"/>
                  </a:moveTo>
                  <a:lnTo>
                    <a:pt x="580382" y="0"/>
                  </a:lnTo>
                  <a:cubicBezTo>
                    <a:pt x="614873" y="0"/>
                    <a:pt x="647951" y="13701"/>
                    <a:pt x="672339" y="38090"/>
                  </a:cubicBezTo>
                  <a:cubicBezTo>
                    <a:pt x="696728" y="62479"/>
                    <a:pt x="710430" y="95557"/>
                    <a:pt x="710430" y="130048"/>
                  </a:cubicBezTo>
                  <a:lnTo>
                    <a:pt x="710430" y="1171332"/>
                  </a:lnTo>
                  <a:cubicBezTo>
                    <a:pt x="710430" y="1243156"/>
                    <a:pt x="652205" y="1301380"/>
                    <a:pt x="580382" y="1301380"/>
                  </a:cubicBezTo>
                  <a:lnTo>
                    <a:pt x="130048" y="1301380"/>
                  </a:lnTo>
                  <a:cubicBezTo>
                    <a:pt x="58224" y="1301380"/>
                    <a:pt x="0" y="1243156"/>
                    <a:pt x="0" y="1171332"/>
                  </a:cubicBezTo>
                  <a:lnTo>
                    <a:pt x="0" y="130048"/>
                  </a:lnTo>
                  <a:cubicBezTo>
                    <a:pt x="0" y="58224"/>
                    <a:pt x="58224" y="0"/>
                    <a:pt x="130048" y="0"/>
                  </a:cubicBezTo>
                  <a:close/>
                </a:path>
              </a:pathLst>
            </a:custGeom>
            <a:solidFill>
              <a:srgbClr val="B5EBEF"/>
            </a:solidFill>
            <a:ln cap="rnd">
              <a:noFill/>
              <a:prstDash val="solid"/>
              <a:round/>
            </a:ln>
          </p:spPr>
        </p:sp>
        <p:sp>
          <p:nvSpPr>
            <p:cNvPr name="TextBox 83" id="83"/>
            <p:cNvSpPr txBox="true"/>
            <p:nvPr/>
          </p:nvSpPr>
          <p:spPr>
            <a:xfrm>
              <a:off x="0" y="-38100"/>
              <a:ext cx="710430" cy="1339480"/>
            </a:xfrm>
            <a:prstGeom prst="rect">
              <a:avLst/>
            </a:prstGeom>
          </p:spPr>
          <p:txBody>
            <a:bodyPr anchor="ctr" rtlCol="false" tIns="71438" lIns="71438" bIns="71438" rIns="71438"/>
            <a:lstStyle/>
            <a:p>
              <a:pPr algn="ctr">
                <a:lnSpc>
                  <a:spcPts val="2756"/>
                </a:lnSpc>
              </a:pPr>
            </a:p>
          </p:txBody>
        </p:sp>
      </p:grpSp>
      <p:sp>
        <p:nvSpPr>
          <p:cNvPr name="AutoShape 84" id="84"/>
          <p:cNvSpPr/>
          <p:nvPr/>
        </p:nvSpPr>
        <p:spPr>
          <a:xfrm flipV="true">
            <a:off x="16762417" y="3541406"/>
            <a:ext cx="0" cy="1774230"/>
          </a:xfrm>
          <a:prstGeom prst="line">
            <a:avLst/>
          </a:prstGeom>
          <a:ln cap="flat" w="47625">
            <a:solidFill>
              <a:srgbClr val="8D9193"/>
            </a:solidFill>
            <a:prstDash val="sysDot"/>
            <a:headEnd type="none" len="sm" w="sm"/>
            <a:tailEnd type="none" len="sm" w="sm"/>
          </a:ln>
        </p:spPr>
      </p:sp>
      <p:grpSp>
        <p:nvGrpSpPr>
          <p:cNvPr name="Group 85" id="85"/>
          <p:cNvGrpSpPr/>
          <p:nvPr/>
        </p:nvGrpSpPr>
        <p:grpSpPr>
          <a:xfrm rot="0">
            <a:off x="16101594" y="2219761"/>
            <a:ext cx="1321645" cy="1321645"/>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87" id="8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88" id="88"/>
          <p:cNvSpPr txBox="true"/>
          <p:nvPr/>
        </p:nvSpPr>
        <p:spPr>
          <a:xfrm rot="0">
            <a:off x="15733717"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9" id="89"/>
          <p:cNvSpPr txBox="true"/>
          <p:nvPr/>
        </p:nvSpPr>
        <p:spPr>
          <a:xfrm rot="0">
            <a:off x="16245795"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grpSp>
        <p:nvGrpSpPr>
          <p:cNvPr name="Group 90" id="90"/>
          <p:cNvGrpSpPr/>
          <p:nvPr/>
        </p:nvGrpSpPr>
        <p:grpSpPr>
          <a:xfrm rot="0">
            <a:off x="16448975" y="4059831"/>
            <a:ext cx="626884" cy="483459"/>
            <a:chOff x="0" y="0"/>
            <a:chExt cx="922188" cy="711200"/>
          </a:xfrm>
        </p:grpSpPr>
        <p:sp>
          <p:nvSpPr>
            <p:cNvPr name="Freeform 91" id="91"/>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92" id="92"/>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93" id="93"/>
          <p:cNvSpPr txBox="true"/>
          <p:nvPr/>
        </p:nvSpPr>
        <p:spPr>
          <a:xfrm rot="0">
            <a:off x="16021015"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94" id="94"/>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Freeform 3" id="3"/>
            <p:cNvSpPr/>
            <p:nvPr/>
          </p:nvSpPr>
          <p:spPr>
            <a:xfrm>
              <a:off x="31479" y="436664"/>
              <a:ext cx="1851858" cy="2700091"/>
            </a:xfrm>
            <a:custGeom>
              <a:avLst/>
              <a:gdLst/>
              <a:ahLst/>
              <a:cxnLst/>
              <a:rect r="r" b="b" t="t" l="l"/>
              <a:pathLst>
                <a:path h="2700091" w="1851858">
                  <a:moveTo>
                    <a:pt x="0" y="0"/>
                  </a:moveTo>
                  <a:quadBezTo>
                    <a:pt x="2102159" y="547853"/>
                    <a:pt x="1818028" y="2700091"/>
                  </a:quadBezTo>
                </a:path>
              </a:pathLst>
            </a:cu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Freeform 8" id="8"/>
            <p:cNvSpPr/>
            <p:nvPr/>
          </p:nvSpPr>
          <p:spPr>
            <a:xfrm>
              <a:off x="606136" y="147948"/>
              <a:ext cx="2039335" cy="2729768"/>
            </a:xfrm>
            <a:custGeom>
              <a:avLst/>
              <a:gdLst/>
              <a:ahLst/>
              <a:cxnLst/>
              <a:rect r="r" b="b" t="t" l="l"/>
              <a:pathLst>
                <a:path h="2729768" w="2039335">
                  <a:moveTo>
                    <a:pt x="2039335" y="2729769"/>
                  </a:moveTo>
                  <a:quadBezTo>
                    <a:pt x="-130275" y="2222293"/>
                    <a:pt x="8322" y="0"/>
                  </a:quadBezTo>
                </a:path>
              </a:pathLst>
            </a:cu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5492349" y="5837484"/>
            <a:ext cx="2015499" cy="692586"/>
            <a:chOff x="0" y="0"/>
            <a:chExt cx="2687332" cy="923448"/>
          </a:xfrm>
        </p:grpSpPr>
        <p:sp>
          <p:nvSpPr>
            <p:cNvPr name="Freeform 13" id="13"/>
            <p:cNvSpPr/>
            <p:nvPr/>
          </p:nvSpPr>
          <p:spPr>
            <a:xfrm>
              <a:off x="18858" y="383698"/>
              <a:ext cx="2285160" cy="507999"/>
            </a:xfrm>
            <a:custGeom>
              <a:avLst/>
              <a:gdLst/>
              <a:ahLst/>
              <a:cxnLst/>
              <a:rect r="r" b="b" t="t" l="l"/>
              <a:pathLst>
                <a:path h="507999" w="2285160">
                  <a:moveTo>
                    <a:pt x="0" y="0"/>
                  </a:moveTo>
                  <a:quadBezTo>
                    <a:pt x="1376124" y="1015999"/>
                    <a:pt x="2285161" y="0"/>
                  </a:quadBezTo>
                </a:path>
              </a:pathLst>
            </a:custGeom>
            <a:ln cap="flat" w="63500">
              <a:solidFill>
                <a:srgbClr val="8D9193"/>
              </a:solidFill>
              <a:prstDash val="sysDot"/>
              <a:headEnd type="none" len="sm" w="sm"/>
              <a:tailEnd type="triangle" len="med" w="lg"/>
            </a:ln>
          </p:spPr>
        </p:sp>
        <p:grpSp>
          <p:nvGrpSpPr>
            <p:cNvPr name="Group 14" id="14"/>
            <p:cNvGrpSpPr/>
            <p:nvPr/>
          </p:nvGrpSpPr>
          <p:grpSpPr>
            <a:xfrm rot="3079347">
              <a:off x="1991484" y="153550"/>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10833195" y="3898671"/>
            <a:ext cx="1981411" cy="687726"/>
            <a:chOff x="0" y="0"/>
            <a:chExt cx="2641881" cy="916967"/>
          </a:xfrm>
        </p:grpSpPr>
        <p:sp>
          <p:nvSpPr>
            <p:cNvPr name="Freeform 18" id="18"/>
            <p:cNvSpPr/>
            <p:nvPr/>
          </p:nvSpPr>
          <p:spPr>
            <a:xfrm>
              <a:off x="337862" y="31750"/>
              <a:ext cx="2285160" cy="507999"/>
            </a:xfrm>
            <a:custGeom>
              <a:avLst/>
              <a:gdLst/>
              <a:ahLst/>
              <a:cxnLst/>
              <a:rect r="r" b="b" t="t" l="l"/>
              <a:pathLst>
                <a:path h="507999" w="2285160">
                  <a:moveTo>
                    <a:pt x="2285161" y="507999"/>
                  </a:moveTo>
                  <a:quadBezTo>
                    <a:pt x="909037" y="-507999"/>
                    <a:pt x="0" y="507999"/>
                  </a:quadBezTo>
                </a:path>
              </a:pathLst>
            </a:custGeom>
            <a:ln cap="flat" w="63500">
              <a:solidFill>
                <a:srgbClr val="8D9193"/>
              </a:solidFill>
              <a:prstDash val="sysDot"/>
              <a:headEnd type="none" len="sm" w="sm"/>
              <a:tailEnd type="triangle" len="med" w="lg"/>
            </a:ln>
          </p:spPr>
        </p:sp>
        <p:grpSp>
          <p:nvGrpSpPr>
            <p:cNvPr name="Group 19" id="19"/>
            <p:cNvGrpSpPr/>
            <p:nvPr/>
          </p:nvGrpSpPr>
          <p:grpSpPr>
            <a:xfrm rot="-7720652">
              <a:off x="70929" y="281474"/>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7050100" y="6553882"/>
            <a:ext cx="1856888" cy="2480980"/>
            <a:chOff x="0" y="0"/>
            <a:chExt cx="2475851" cy="3307973"/>
          </a:xfrm>
        </p:grpSpPr>
        <p:sp>
          <p:nvSpPr>
            <p:cNvPr name="Freeform 23" id="23"/>
            <p:cNvSpPr/>
            <p:nvPr/>
          </p:nvSpPr>
          <p:spPr>
            <a:xfrm>
              <a:off x="34751" y="147948"/>
              <a:ext cx="1815294" cy="2729768"/>
            </a:xfrm>
            <a:custGeom>
              <a:avLst/>
              <a:gdLst/>
              <a:ahLst/>
              <a:cxnLst/>
              <a:rect r="r" b="b" t="t" l="l"/>
              <a:pathLst>
                <a:path h="2729768" w="1815294">
                  <a:moveTo>
                    <a:pt x="0" y="2729769"/>
                  </a:moveTo>
                  <a:quadBezTo>
                    <a:pt x="1881231" y="2464640"/>
                    <a:pt x="1812900" y="0"/>
                  </a:quadBezTo>
                </a:path>
              </a:pathLst>
            </a:custGeom>
            <a:ln cap="flat" w="63500">
              <a:solidFill>
                <a:srgbClr val="8D9193"/>
              </a:solidFill>
              <a:prstDash val="sysDot"/>
              <a:headEnd type="none" len="sm" w="sm"/>
              <a:tailEnd type="triangle" len="med" w="lg"/>
            </a:ln>
          </p:spPr>
        </p:sp>
        <p:grpSp>
          <p:nvGrpSpPr>
            <p:cNvPr name="Group 24" id="24"/>
            <p:cNvGrpSpPr/>
            <p:nvPr/>
          </p:nvGrpSpPr>
          <p:grpSpPr>
            <a:xfrm rot="0">
              <a:off x="1535191" y="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10779680" y="5705383"/>
            <a:ext cx="2023228" cy="1060193"/>
            <a:chOff x="0" y="0"/>
            <a:chExt cx="2697637" cy="1413591"/>
          </a:xfrm>
        </p:grpSpPr>
        <p:sp>
          <p:nvSpPr>
            <p:cNvPr name="Freeform 28" id="28"/>
            <p:cNvSpPr/>
            <p:nvPr/>
          </p:nvSpPr>
          <p:spPr>
            <a:xfrm>
              <a:off x="351487" y="314065"/>
              <a:ext cx="2321887" cy="801820"/>
            </a:xfrm>
            <a:custGeom>
              <a:avLst/>
              <a:gdLst/>
              <a:ahLst/>
              <a:cxnLst/>
              <a:rect r="r" b="b" t="t" l="l"/>
              <a:pathLst>
                <a:path h="801820" w="2321887">
                  <a:moveTo>
                    <a:pt x="2321887" y="545058"/>
                  </a:moveTo>
                  <a:quadBezTo>
                    <a:pt x="681032" y="1255556"/>
                    <a:pt x="0" y="0"/>
                  </a:quadBezTo>
                </a:path>
              </a:pathLst>
            </a:custGeom>
            <a:ln cap="flat" w="63500">
              <a:solidFill>
                <a:srgbClr val="8D9193"/>
              </a:solidFill>
              <a:prstDash val="sysDot"/>
              <a:headEnd type="none" len="sm" w="sm"/>
              <a:tailEnd type="triangle" len="med" w="lg"/>
            </a:ln>
          </p:spPr>
        </p:sp>
        <p:grpSp>
          <p:nvGrpSpPr>
            <p:cNvPr name="Group 29" id="29"/>
            <p:cNvGrpSpPr/>
            <p:nvPr/>
          </p:nvGrpSpPr>
          <p:grpSpPr>
            <a:xfrm rot="-2700000">
              <a:off x="78876" y="150363"/>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466142" y="3058383"/>
            <a:ext cx="5185998" cy="1821289"/>
            <a:chOff x="0" y="0"/>
            <a:chExt cx="1365860" cy="479681"/>
          </a:xfrm>
        </p:grpSpPr>
        <p:sp>
          <p:nvSpPr>
            <p:cNvPr name="Freeform 33" id="33"/>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34" id="34"/>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5" id="35"/>
          <p:cNvGrpSpPr/>
          <p:nvPr/>
        </p:nvGrpSpPr>
        <p:grpSpPr>
          <a:xfrm rot="0">
            <a:off x="12635860" y="3058383"/>
            <a:ext cx="5185998" cy="1821289"/>
            <a:chOff x="0" y="0"/>
            <a:chExt cx="1365860" cy="479681"/>
          </a:xfrm>
        </p:grpSpPr>
        <p:sp>
          <p:nvSpPr>
            <p:cNvPr name="Freeform 36" id="36"/>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37" id="37"/>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8" id="38"/>
          <p:cNvGrpSpPr/>
          <p:nvPr/>
        </p:nvGrpSpPr>
        <p:grpSpPr>
          <a:xfrm rot="0">
            <a:off x="907692" y="3438247"/>
            <a:ext cx="1061561" cy="1061561"/>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1" id="41"/>
          <p:cNvGrpSpPr/>
          <p:nvPr/>
        </p:nvGrpSpPr>
        <p:grpSpPr>
          <a:xfrm rot="0">
            <a:off x="13077410" y="3438247"/>
            <a:ext cx="1061561" cy="1061561"/>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4" id="44"/>
          <p:cNvGrpSpPr/>
          <p:nvPr/>
        </p:nvGrpSpPr>
        <p:grpSpPr>
          <a:xfrm rot="0">
            <a:off x="466142" y="5407328"/>
            <a:ext cx="5185998" cy="1821289"/>
            <a:chOff x="0" y="0"/>
            <a:chExt cx="1365860" cy="479681"/>
          </a:xfrm>
        </p:grpSpPr>
        <p:sp>
          <p:nvSpPr>
            <p:cNvPr name="Freeform 45" id="4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46" id="4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47" id="47"/>
          <p:cNvGrpSpPr/>
          <p:nvPr/>
        </p:nvGrpSpPr>
        <p:grpSpPr>
          <a:xfrm rot="0">
            <a:off x="12635860" y="5407328"/>
            <a:ext cx="5185998" cy="1821289"/>
            <a:chOff x="0" y="0"/>
            <a:chExt cx="1365860" cy="479681"/>
          </a:xfrm>
        </p:grpSpPr>
        <p:sp>
          <p:nvSpPr>
            <p:cNvPr name="Freeform 48" id="4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49" id="4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0">
            <a:off x="907692" y="5787192"/>
            <a:ext cx="1061561" cy="1061561"/>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3077410" y="5787192"/>
            <a:ext cx="1061561" cy="106156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5" id="5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6" id="56"/>
          <p:cNvGrpSpPr/>
          <p:nvPr/>
        </p:nvGrpSpPr>
        <p:grpSpPr>
          <a:xfrm rot="0">
            <a:off x="1888242" y="709439"/>
            <a:ext cx="5185998" cy="1821289"/>
            <a:chOff x="0" y="0"/>
            <a:chExt cx="1365860" cy="479681"/>
          </a:xfrm>
        </p:grpSpPr>
        <p:sp>
          <p:nvSpPr>
            <p:cNvPr name="Freeform 57" id="57"/>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58" id="58"/>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9237587" y="1274385"/>
            <a:ext cx="2000503" cy="2543079"/>
            <a:chOff x="0" y="0"/>
            <a:chExt cx="2667337" cy="3390773"/>
          </a:xfrm>
        </p:grpSpPr>
        <p:sp>
          <p:nvSpPr>
            <p:cNvPr name="Freeform 60" id="60"/>
            <p:cNvSpPr/>
            <p:nvPr/>
          </p:nvSpPr>
          <p:spPr>
            <a:xfrm>
              <a:off x="606448" y="460931"/>
              <a:ext cx="2025885" cy="2729768"/>
            </a:xfrm>
            <a:custGeom>
              <a:avLst/>
              <a:gdLst/>
              <a:ahLst/>
              <a:cxnLst/>
              <a:rect r="r" b="b" t="t" l="l"/>
              <a:pathLst>
                <a:path h="2729768" w="2025885">
                  <a:moveTo>
                    <a:pt x="2025885" y="0"/>
                  </a:moveTo>
                  <a:quadBezTo>
                    <a:pt x="105282" y="204442"/>
                    <a:pt x="0" y="2729769"/>
                  </a:quadBezTo>
                </a:path>
              </a:pathLst>
            </a:custGeom>
            <a:ln cap="flat" w="63500">
              <a:solidFill>
                <a:srgbClr val="8D9193"/>
              </a:solidFill>
              <a:prstDash val="sysDot"/>
              <a:headEnd type="none" len="sm" w="sm"/>
              <a:tailEnd type="triangle" len="med" w="lg"/>
            </a:ln>
          </p:spPr>
        </p:sp>
        <p:grpSp>
          <p:nvGrpSpPr>
            <p:cNvPr name="Group 61" id="61"/>
            <p:cNvGrpSpPr/>
            <p:nvPr/>
          </p:nvGrpSpPr>
          <p:grpSpPr>
            <a:xfrm rot="-10800000">
              <a:off x="287331" y="2908829"/>
              <a:ext cx="624919" cy="481944"/>
              <a:chOff x="0" y="0"/>
              <a:chExt cx="922188" cy="711200"/>
            </a:xfrm>
          </p:grpSpPr>
          <p:sp>
            <p:nvSpPr>
              <p:cNvPr name="Freeform 62" id="62"/>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63" id="63"/>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64" id="64"/>
          <p:cNvGrpSpPr/>
          <p:nvPr/>
        </p:nvGrpSpPr>
        <p:grpSpPr>
          <a:xfrm rot="0">
            <a:off x="11213760" y="709439"/>
            <a:ext cx="5185998" cy="1821289"/>
            <a:chOff x="0" y="0"/>
            <a:chExt cx="1365860" cy="479681"/>
          </a:xfrm>
        </p:grpSpPr>
        <p:sp>
          <p:nvSpPr>
            <p:cNvPr name="Freeform 65" id="6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a:ln cap="rnd">
              <a:noFill/>
              <a:prstDash val="solid"/>
              <a:round/>
            </a:ln>
          </p:spPr>
        </p:sp>
        <p:sp>
          <p:nvSpPr>
            <p:cNvPr name="TextBox 66" id="66"/>
            <p:cNvSpPr txBox="true"/>
            <p:nvPr/>
          </p:nvSpPr>
          <p:spPr>
            <a:xfrm>
              <a:off x="0" y="-47625"/>
              <a:ext cx="1365860" cy="527306"/>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67" id="67"/>
          <p:cNvGrpSpPr/>
          <p:nvPr/>
        </p:nvGrpSpPr>
        <p:grpSpPr>
          <a:xfrm rot="0">
            <a:off x="2329792" y="1089303"/>
            <a:ext cx="1061561" cy="1061561"/>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9" id="6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70" id="70"/>
          <p:cNvGrpSpPr/>
          <p:nvPr/>
        </p:nvGrpSpPr>
        <p:grpSpPr>
          <a:xfrm rot="0">
            <a:off x="11655310" y="1089303"/>
            <a:ext cx="1061561" cy="1061561"/>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72" id="7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73" id="73"/>
          <p:cNvSpPr txBox="true"/>
          <p:nvPr/>
        </p:nvSpPr>
        <p:spPr>
          <a:xfrm rot="0">
            <a:off x="11793052"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74" id="74"/>
          <p:cNvGrpSpPr/>
          <p:nvPr/>
        </p:nvGrpSpPr>
        <p:grpSpPr>
          <a:xfrm rot="0">
            <a:off x="1888242" y="7756273"/>
            <a:ext cx="5185998" cy="1821289"/>
            <a:chOff x="0" y="0"/>
            <a:chExt cx="1365860" cy="479681"/>
          </a:xfrm>
        </p:grpSpPr>
        <p:sp>
          <p:nvSpPr>
            <p:cNvPr name="Freeform 75" id="7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p:spPr>
        </p:sp>
        <p:sp>
          <p:nvSpPr>
            <p:cNvPr name="TextBox 76" id="7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77" id="77"/>
          <p:cNvGrpSpPr/>
          <p:nvPr/>
        </p:nvGrpSpPr>
        <p:grpSpPr>
          <a:xfrm rot="0">
            <a:off x="11213760" y="7756273"/>
            <a:ext cx="5185998" cy="1821289"/>
            <a:chOff x="0" y="0"/>
            <a:chExt cx="1365860" cy="479681"/>
          </a:xfrm>
        </p:grpSpPr>
        <p:sp>
          <p:nvSpPr>
            <p:cNvPr name="Freeform 78" id="7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79" id="7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80" id="80"/>
          <p:cNvGrpSpPr/>
          <p:nvPr/>
        </p:nvGrpSpPr>
        <p:grpSpPr>
          <a:xfrm rot="0">
            <a:off x="2329792" y="8136137"/>
            <a:ext cx="1061561" cy="1061561"/>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11655310" y="8136137"/>
            <a:ext cx="1061561" cy="1061561"/>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86" id="86"/>
          <p:cNvSpPr txBox="true"/>
          <p:nvPr/>
        </p:nvSpPr>
        <p:spPr>
          <a:xfrm rot="0">
            <a:off x="104543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87" id="87"/>
          <p:cNvSpPr txBox="true"/>
          <p:nvPr/>
        </p:nvSpPr>
        <p:spPr>
          <a:xfrm rot="0">
            <a:off x="13215152"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88" id="88"/>
          <p:cNvSpPr txBox="true"/>
          <p:nvPr/>
        </p:nvSpPr>
        <p:spPr>
          <a:xfrm rot="0">
            <a:off x="2079964"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89" id="89"/>
          <p:cNvSpPr txBox="true"/>
          <p:nvPr/>
        </p:nvSpPr>
        <p:spPr>
          <a:xfrm rot="0">
            <a:off x="1424968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a:t>
            </a:r>
          </a:p>
        </p:txBody>
      </p:sp>
      <p:sp>
        <p:nvSpPr>
          <p:cNvPr name="TextBox 90" id="90"/>
          <p:cNvSpPr txBox="true"/>
          <p:nvPr/>
        </p:nvSpPr>
        <p:spPr>
          <a:xfrm rot="0">
            <a:off x="2079964"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1" id="91"/>
          <p:cNvSpPr txBox="true"/>
          <p:nvPr/>
        </p:nvSpPr>
        <p:spPr>
          <a:xfrm rot="0">
            <a:off x="14249682"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2" id="92"/>
          <p:cNvSpPr txBox="true"/>
          <p:nvPr/>
        </p:nvSpPr>
        <p:spPr>
          <a:xfrm rot="0">
            <a:off x="104543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93" id="93"/>
          <p:cNvSpPr txBox="true"/>
          <p:nvPr/>
        </p:nvSpPr>
        <p:spPr>
          <a:xfrm rot="0">
            <a:off x="13215152"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94" id="94"/>
          <p:cNvSpPr txBox="true"/>
          <p:nvPr/>
        </p:nvSpPr>
        <p:spPr>
          <a:xfrm rot="0">
            <a:off x="2079964"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95" id="95"/>
          <p:cNvSpPr txBox="true"/>
          <p:nvPr/>
        </p:nvSpPr>
        <p:spPr>
          <a:xfrm rot="0">
            <a:off x="1424968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96" id="96"/>
          <p:cNvSpPr txBox="true"/>
          <p:nvPr/>
        </p:nvSpPr>
        <p:spPr>
          <a:xfrm rot="0">
            <a:off x="2079964"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7" id="97"/>
          <p:cNvSpPr txBox="true"/>
          <p:nvPr/>
        </p:nvSpPr>
        <p:spPr>
          <a:xfrm rot="0">
            <a:off x="14249682"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8" id="98"/>
          <p:cNvSpPr txBox="true"/>
          <p:nvPr/>
        </p:nvSpPr>
        <p:spPr>
          <a:xfrm rot="0">
            <a:off x="2467534"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99" id="99"/>
          <p:cNvSpPr txBox="true"/>
          <p:nvPr/>
        </p:nvSpPr>
        <p:spPr>
          <a:xfrm rot="0">
            <a:off x="3502064"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a:t>
            </a:r>
            <a:r>
              <a:rPr lang="en-US" b="true" sz="1999">
                <a:solidFill>
                  <a:srgbClr val="1C1C1A"/>
                </a:solidFill>
                <a:latin typeface="Montserrat Ultra-Bold"/>
                <a:ea typeface="Montserrat Ultra-Bold"/>
                <a:cs typeface="Montserrat Ultra-Bold"/>
                <a:sym typeface="Montserrat Ultra-Bold"/>
              </a:rPr>
              <a:t>eat idea</a:t>
            </a:r>
          </a:p>
        </p:txBody>
      </p:sp>
      <p:sp>
        <p:nvSpPr>
          <p:cNvPr name="TextBox 100" id="100"/>
          <p:cNvSpPr txBox="true"/>
          <p:nvPr/>
        </p:nvSpPr>
        <p:spPr>
          <a:xfrm rot="0">
            <a:off x="1282758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
        <p:nvSpPr>
          <p:cNvPr name="TextBox 101" id="101"/>
          <p:cNvSpPr txBox="true"/>
          <p:nvPr/>
        </p:nvSpPr>
        <p:spPr>
          <a:xfrm rot="0">
            <a:off x="3502064"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2" id="102"/>
          <p:cNvSpPr txBox="true"/>
          <p:nvPr/>
        </p:nvSpPr>
        <p:spPr>
          <a:xfrm rot="0">
            <a:off x="12827583"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3" id="103"/>
          <p:cNvSpPr txBox="true"/>
          <p:nvPr/>
        </p:nvSpPr>
        <p:spPr>
          <a:xfrm rot="0">
            <a:off x="2467534"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104" id="104"/>
          <p:cNvSpPr txBox="true"/>
          <p:nvPr/>
        </p:nvSpPr>
        <p:spPr>
          <a:xfrm rot="0">
            <a:off x="11793052"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105" id="105"/>
          <p:cNvSpPr txBox="true"/>
          <p:nvPr/>
        </p:nvSpPr>
        <p:spPr>
          <a:xfrm rot="0">
            <a:off x="3502064"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Innovative idea</a:t>
            </a:r>
          </a:p>
        </p:txBody>
      </p:sp>
      <p:sp>
        <p:nvSpPr>
          <p:cNvPr name="TextBox 106" id="106"/>
          <p:cNvSpPr txBox="true"/>
          <p:nvPr/>
        </p:nvSpPr>
        <p:spPr>
          <a:xfrm rot="0">
            <a:off x="1282758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Brilliant idea</a:t>
            </a:r>
          </a:p>
        </p:txBody>
      </p:sp>
      <p:sp>
        <p:nvSpPr>
          <p:cNvPr name="TextBox 107" id="107"/>
          <p:cNvSpPr txBox="true"/>
          <p:nvPr/>
        </p:nvSpPr>
        <p:spPr>
          <a:xfrm rot="0">
            <a:off x="3502064"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8" id="108"/>
          <p:cNvSpPr txBox="true"/>
          <p:nvPr/>
        </p:nvSpPr>
        <p:spPr>
          <a:xfrm rot="0">
            <a:off x="12827583"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9" id="109"/>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grpSp>
        <p:nvGrpSpPr>
          <p:cNvPr name="Group 110" id="110"/>
          <p:cNvGrpSpPr/>
          <p:nvPr/>
        </p:nvGrpSpPr>
        <p:grpSpPr>
          <a:xfrm rot="0">
            <a:off x="5504047" y="3663164"/>
            <a:ext cx="2057316" cy="1055333"/>
            <a:chOff x="0" y="0"/>
            <a:chExt cx="2743089" cy="1407111"/>
          </a:xfrm>
        </p:grpSpPr>
        <p:sp>
          <p:nvSpPr>
            <p:cNvPr name="Freeform 111" id="111"/>
            <p:cNvSpPr/>
            <p:nvPr/>
          </p:nvSpPr>
          <p:spPr>
            <a:xfrm>
              <a:off x="24263" y="297706"/>
              <a:ext cx="2321887" cy="801820"/>
            </a:xfrm>
            <a:custGeom>
              <a:avLst/>
              <a:gdLst/>
              <a:ahLst/>
              <a:cxnLst/>
              <a:rect r="r" b="b" t="t" l="l"/>
              <a:pathLst>
                <a:path h="801820" w="2321887">
                  <a:moveTo>
                    <a:pt x="0" y="256762"/>
                  </a:moveTo>
                  <a:quadBezTo>
                    <a:pt x="1640855" y="-453736"/>
                    <a:pt x="2321887" y="801820"/>
                  </a:quadBezTo>
                </a:path>
              </a:pathLst>
            </a:custGeom>
            <a:ln cap="flat" w="63500">
              <a:solidFill>
                <a:srgbClr val="8D9193"/>
              </a:solidFill>
              <a:prstDash val="sysDot"/>
              <a:headEnd type="none" len="sm" w="sm"/>
              <a:tailEnd type="triangle" len="med" w="lg"/>
            </a:ln>
          </p:spPr>
        </p:sp>
        <p:grpSp>
          <p:nvGrpSpPr>
            <p:cNvPr name="Group 112" id="112"/>
            <p:cNvGrpSpPr/>
            <p:nvPr/>
          </p:nvGrpSpPr>
          <p:grpSpPr>
            <a:xfrm rot="8100000">
              <a:off x="2039294" y="774804"/>
              <a:ext cx="624919" cy="481944"/>
              <a:chOff x="0" y="0"/>
              <a:chExt cx="922188" cy="711200"/>
            </a:xfrm>
          </p:grpSpPr>
          <p:sp>
            <p:nvSpPr>
              <p:cNvPr name="Freeform 113" id="113"/>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114" id="11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194659"/>
            <a:ext cx="6487386" cy="1614426"/>
            <a:chOff x="0" y="0"/>
            <a:chExt cx="1708612" cy="425199"/>
          </a:xfrm>
        </p:grpSpPr>
        <p:sp>
          <p:nvSpPr>
            <p:cNvPr name="Freeform 3" id="3"/>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EAE0FF"/>
            </a:solidFill>
          </p:spPr>
        </p:sp>
        <p:sp>
          <p:nvSpPr>
            <p:cNvPr name="TextBox 4" id="4"/>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1028700" y="4105039"/>
            <a:ext cx="6487386" cy="1614426"/>
            <a:chOff x="0" y="0"/>
            <a:chExt cx="1708612" cy="425199"/>
          </a:xfrm>
        </p:grpSpPr>
        <p:sp>
          <p:nvSpPr>
            <p:cNvPr name="Freeform 6" id="6"/>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BEC4"/>
            </a:solidFill>
          </p:spPr>
        </p:sp>
        <p:sp>
          <p:nvSpPr>
            <p:cNvPr name="TextBox 7" id="7"/>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8" id="8"/>
          <p:cNvGrpSpPr/>
          <p:nvPr/>
        </p:nvGrpSpPr>
        <p:grpSpPr>
          <a:xfrm rot="0">
            <a:off x="6512647" y="2471978"/>
            <a:ext cx="1795570" cy="1059788"/>
            <a:chOff x="0" y="0"/>
            <a:chExt cx="921211" cy="543720"/>
          </a:xfrm>
        </p:grpSpPr>
        <p:sp>
          <p:nvSpPr>
            <p:cNvPr name="Freeform 9" id="9"/>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9366E4"/>
            </a:solidFill>
          </p:spPr>
        </p:sp>
        <p:sp>
          <p:nvSpPr>
            <p:cNvPr name="TextBox 10" id="10"/>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grpSp>
        <p:nvGrpSpPr>
          <p:cNvPr name="Group 11" id="11"/>
          <p:cNvGrpSpPr/>
          <p:nvPr/>
        </p:nvGrpSpPr>
        <p:grpSpPr>
          <a:xfrm rot="0">
            <a:off x="6512647" y="4382358"/>
            <a:ext cx="1795570" cy="1059788"/>
            <a:chOff x="0" y="0"/>
            <a:chExt cx="921211" cy="543720"/>
          </a:xfrm>
        </p:grpSpPr>
        <p:sp>
          <p:nvSpPr>
            <p:cNvPr name="Freeform 12" id="12"/>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E46671"/>
            </a:solidFill>
          </p:spPr>
        </p:sp>
        <p:sp>
          <p:nvSpPr>
            <p:cNvPr name="TextBox 13" id="13"/>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14" id="14"/>
          <p:cNvSpPr txBox="true"/>
          <p:nvPr/>
        </p:nvSpPr>
        <p:spPr>
          <a:xfrm rot="0">
            <a:off x="7153809" y="2585348"/>
            <a:ext cx="724554" cy="778822"/>
          </a:xfrm>
          <a:prstGeom prst="rect">
            <a:avLst/>
          </a:prstGeom>
        </p:spPr>
        <p:txBody>
          <a:bodyPr anchor="t" rtlCol="false" tIns="0" lIns="0" bIns="0" rIns="0">
            <a:spAutoFit/>
          </a:bodyPr>
          <a:lstStyle/>
          <a:p>
            <a:pPr algn="ctr" marL="0" indent="0" lvl="1">
              <a:lnSpc>
                <a:spcPts val="6422"/>
              </a:lnSpc>
            </a:pPr>
            <a:r>
              <a:rPr lang="en-US" b="true" sz="4587" spc="192">
                <a:solidFill>
                  <a:srgbClr val="FFFFFF"/>
                </a:solidFill>
                <a:latin typeface="Montserrat Ultra-Bold"/>
                <a:ea typeface="Montserrat Ultra-Bold"/>
                <a:cs typeface="Montserrat Ultra-Bold"/>
                <a:sym typeface="Montserrat Ultra-Bold"/>
              </a:rPr>
              <a:t>01</a:t>
            </a:r>
          </a:p>
        </p:txBody>
      </p:sp>
      <p:sp>
        <p:nvSpPr>
          <p:cNvPr name="TextBox 15" id="15"/>
          <p:cNvSpPr txBox="true"/>
          <p:nvPr/>
        </p:nvSpPr>
        <p:spPr>
          <a:xfrm rot="0">
            <a:off x="6953337" y="449572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02</a:t>
            </a:r>
          </a:p>
        </p:txBody>
      </p:sp>
      <p:grpSp>
        <p:nvGrpSpPr>
          <p:cNvPr name="Group 16" id="16"/>
          <p:cNvGrpSpPr/>
          <p:nvPr/>
        </p:nvGrpSpPr>
        <p:grpSpPr>
          <a:xfrm rot="0">
            <a:off x="1028700" y="6015419"/>
            <a:ext cx="6487386" cy="1614426"/>
            <a:chOff x="0" y="0"/>
            <a:chExt cx="1708612" cy="425199"/>
          </a:xfrm>
        </p:grpSpPr>
        <p:sp>
          <p:nvSpPr>
            <p:cNvPr name="Freeform 17" id="17"/>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B5EBEF"/>
            </a:solidFill>
          </p:spPr>
        </p:sp>
        <p:sp>
          <p:nvSpPr>
            <p:cNvPr name="TextBox 18" id="18"/>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19" id="19"/>
          <p:cNvGrpSpPr/>
          <p:nvPr/>
        </p:nvGrpSpPr>
        <p:grpSpPr>
          <a:xfrm rot="0">
            <a:off x="1028700" y="7925799"/>
            <a:ext cx="6487386" cy="1614426"/>
            <a:chOff x="0" y="0"/>
            <a:chExt cx="1708612" cy="425199"/>
          </a:xfrm>
        </p:grpSpPr>
        <p:sp>
          <p:nvSpPr>
            <p:cNvPr name="Freeform 20" id="20"/>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E8A3"/>
            </a:solidFill>
          </p:spPr>
        </p:sp>
        <p:sp>
          <p:nvSpPr>
            <p:cNvPr name="TextBox 21" id="21"/>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22" id="22"/>
          <p:cNvGrpSpPr/>
          <p:nvPr/>
        </p:nvGrpSpPr>
        <p:grpSpPr>
          <a:xfrm rot="0">
            <a:off x="6512647" y="6292738"/>
            <a:ext cx="1795570" cy="1059788"/>
            <a:chOff x="0" y="0"/>
            <a:chExt cx="921211" cy="543720"/>
          </a:xfrm>
        </p:grpSpPr>
        <p:sp>
          <p:nvSpPr>
            <p:cNvPr name="Freeform 23" id="23"/>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38AEB6"/>
            </a:solidFill>
          </p:spPr>
        </p:sp>
        <p:sp>
          <p:nvSpPr>
            <p:cNvPr name="TextBox 24" id="24"/>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5" id="25"/>
          <p:cNvSpPr txBox="true"/>
          <p:nvPr/>
        </p:nvSpPr>
        <p:spPr>
          <a:xfrm rot="0">
            <a:off x="6953337" y="640610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03</a:t>
            </a:r>
          </a:p>
        </p:txBody>
      </p:sp>
      <p:grpSp>
        <p:nvGrpSpPr>
          <p:cNvPr name="Group 26" id="26"/>
          <p:cNvGrpSpPr/>
          <p:nvPr/>
        </p:nvGrpSpPr>
        <p:grpSpPr>
          <a:xfrm rot="0">
            <a:off x="6512647" y="8203118"/>
            <a:ext cx="1795570" cy="1059788"/>
            <a:chOff x="0" y="0"/>
            <a:chExt cx="921211" cy="543720"/>
          </a:xfrm>
        </p:grpSpPr>
        <p:sp>
          <p:nvSpPr>
            <p:cNvPr name="Freeform 27" id="27"/>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DDA707"/>
            </a:solidFill>
          </p:spPr>
        </p:sp>
        <p:sp>
          <p:nvSpPr>
            <p:cNvPr name="TextBox 28" id="28"/>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6953337" y="8316488"/>
            <a:ext cx="904789"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04</a:t>
            </a:r>
          </a:p>
        </p:txBody>
      </p:sp>
      <p:grpSp>
        <p:nvGrpSpPr>
          <p:cNvPr name="Group 30" id="30"/>
          <p:cNvGrpSpPr/>
          <p:nvPr/>
        </p:nvGrpSpPr>
        <p:grpSpPr>
          <a:xfrm rot="0">
            <a:off x="9128157" y="2385687"/>
            <a:ext cx="7753260" cy="1230586"/>
            <a:chOff x="0" y="0"/>
            <a:chExt cx="10337680" cy="1640781"/>
          </a:xfrm>
        </p:grpSpPr>
        <p:sp>
          <p:nvSpPr>
            <p:cNvPr name="TextBox 31" id="31"/>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2" id="32"/>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Analysis</a:t>
              </a:r>
            </a:p>
          </p:txBody>
        </p:sp>
      </p:grpSp>
      <p:grpSp>
        <p:nvGrpSpPr>
          <p:cNvPr name="Group 33" id="33"/>
          <p:cNvGrpSpPr/>
          <p:nvPr/>
        </p:nvGrpSpPr>
        <p:grpSpPr>
          <a:xfrm rot="0">
            <a:off x="9128157" y="6235593"/>
            <a:ext cx="7753260" cy="1230586"/>
            <a:chOff x="0" y="0"/>
            <a:chExt cx="10337680" cy="1640781"/>
          </a:xfrm>
        </p:grpSpPr>
        <p:sp>
          <p:nvSpPr>
            <p:cNvPr name="TextBox 34" id="34"/>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5" id="35"/>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Solutions</a:t>
              </a:r>
            </a:p>
          </p:txBody>
        </p:sp>
      </p:grpSp>
      <p:grpSp>
        <p:nvGrpSpPr>
          <p:cNvPr name="Group 36" id="36"/>
          <p:cNvGrpSpPr/>
          <p:nvPr/>
        </p:nvGrpSpPr>
        <p:grpSpPr>
          <a:xfrm rot="0">
            <a:off x="9128157" y="4304462"/>
            <a:ext cx="7753260" cy="1242943"/>
            <a:chOff x="0" y="0"/>
            <a:chExt cx="10337680" cy="1657257"/>
          </a:xfrm>
        </p:grpSpPr>
        <p:sp>
          <p:nvSpPr>
            <p:cNvPr name="TextBox 37" id="37"/>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8" id="38"/>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Problem</a:t>
              </a:r>
            </a:p>
          </p:txBody>
        </p:sp>
      </p:grpSp>
      <p:grpSp>
        <p:nvGrpSpPr>
          <p:cNvPr name="Group 39" id="39"/>
          <p:cNvGrpSpPr/>
          <p:nvPr/>
        </p:nvGrpSpPr>
        <p:grpSpPr>
          <a:xfrm rot="0">
            <a:off x="9128157" y="8154367"/>
            <a:ext cx="7753260" cy="1242943"/>
            <a:chOff x="0" y="0"/>
            <a:chExt cx="10337680" cy="1657257"/>
          </a:xfrm>
        </p:grpSpPr>
        <p:sp>
          <p:nvSpPr>
            <p:cNvPr name="TextBox 40" id="40"/>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41" id="41"/>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Results</a:t>
              </a:r>
            </a:p>
          </p:txBody>
        </p:sp>
      </p:grpSp>
      <p:sp>
        <p:nvSpPr>
          <p:cNvPr name="TextBox 42" id="42"/>
          <p:cNvSpPr txBox="true"/>
          <p:nvPr/>
        </p:nvSpPr>
        <p:spPr>
          <a:xfrm rot="0">
            <a:off x="1667326" y="2624614"/>
            <a:ext cx="4673519" cy="571946"/>
          </a:xfrm>
          <a:prstGeom prst="rect">
            <a:avLst/>
          </a:prstGeom>
        </p:spPr>
        <p:txBody>
          <a:bodyPr anchor="t" rtlCol="false" tIns="0" lIns="0" bIns="0" rIns="0">
            <a:spAutoFit/>
          </a:bodyPr>
          <a:lstStyle/>
          <a:p>
            <a:pPr algn="l" marL="0" indent="0" lvl="0">
              <a:lnSpc>
                <a:spcPts val="4700"/>
              </a:lnSpc>
              <a:spcBef>
                <a:spcPct val="0"/>
              </a:spcBef>
            </a:pPr>
            <a:r>
              <a:rPr lang="en-US" b="true" sz="3357">
                <a:solidFill>
                  <a:srgbClr val="1C1C1A"/>
                </a:solidFill>
                <a:latin typeface="Montserrat Ultra-Bold"/>
                <a:ea typeface="Montserrat Ultra-Bold"/>
                <a:cs typeface="Montserrat Ultra-Bold"/>
                <a:sym typeface="Montserrat Ultra-Bold"/>
              </a:rPr>
              <a:t>Gr</a:t>
            </a:r>
            <a:r>
              <a:rPr lang="en-US" b="true" sz="3357">
                <a:solidFill>
                  <a:srgbClr val="1C1C1A"/>
                </a:solidFill>
                <a:latin typeface="Montserrat Ultra-Bold"/>
                <a:ea typeface="Montserrat Ultra-Bold"/>
                <a:cs typeface="Montserrat Ultra-Bold"/>
                <a:sym typeface="Montserrat Ultra-Bold"/>
              </a:rPr>
              <a:t>eat idea</a:t>
            </a:r>
          </a:p>
        </p:txBody>
      </p:sp>
      <p:sp>
        <p:nvSpPr>
          <p:cNvPr name="TextBox 43" id="43"/>
          <p:cNvSpPr txBox="true"/>
          <p:nvPr/>
        </p:nvSpPr>
        <p:spPr>
          <a:xfrm rot="0">
            <a:off x="1667326" y="4588706"/>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Creative idea</a:t>
            </a:r>
          </a:p>
        </p:txBody>
      </p:sp>
      <p:sp>
        <p:nvSpPr>
          <p:cNvPr name="TextBox 44" id="44"/>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5" id="45"/>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Four ideas</a:t>
            </a:r>
          </a:p>
        </p:txBody>
      </p:sp>
      <p:sp>
        <p:nvSpPr>
          <p:cNvPr name="TextBox 46" id="46"/>
          <p:cNvSpPr txBox="true"/>
          <p:nvPr/>
        </p:nvSpPr>
        <p:spPr>
          <a:xfrm rot="0">
            <a:off x="1667326" y="6561243"/>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Simple idea</a:t>
            </a:r>
          </a:p>
        </p:txBody>
      </p:sp>
      <p:sp>
        <p:nvSpPr>
          <p:cNvPr name="TextBox 47" id="47"/>
          <p:cNvSpPr txBox="true"/>
          <p:nvPr/>
        </p:nvSpPr>
        <p:spPr>
          <a:xfrm rot="0">
            <a:off x="1667326" y="8533780"/>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Original idea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DAHLmCBUMfo</dc:identifier>
  <dcterms:modified xsi:type="dcterms:W3CDTF">2011-08-01T06:04:30Z</dcterms:modified>
  <cp:revision>1</cp:revision>
</cp:coreProperties>
</file>